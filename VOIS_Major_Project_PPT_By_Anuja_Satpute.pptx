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8" d="100"/>
          <a:sy n="88" d="100"/>
        </p:scale>
        <p:origin x="370" y="3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1286464" y="3651585"/>
            <a:ext cx="9729468" cy="861497"/>
          </a:xfrm>
        </p:spPr>
        <p:txBody>
          <a:bodyPr vert="horz" lIns="91440" tIns="45720" rIns="91440" bIns="45720" rtlCol="0" anchor="t">
            <a:normAutofit fontScale="85000" lnSpcReduction="10000"/>
          </a:bodyPr>
          <a:lstStyle/>
          <a:p>
            <a:r>
              <a:rPr lang="en-US" dirty="0" smtClean="0">
                <a:solidFill>
                  <a:schemeClr val="tx1"/>
                </a:solidFill>
              </a:rPr>
              <a:t>Student Name – </a:t>
            </a:r>
            <a:r>
              <a:rPr lang="en-US" b="0" dirty="0" smtClean="0">
                <a:solidFill>
                  <a:schemeClr val="tx1"/>
                </a:solidFill>
              </a:rPr>
              <a:t>Anuja </a:t>
            </a:r>
            <a:r>
              <a:rPr lang="en-US" b="0" dirty="0" err="1" smtClean="0">
                <a:solidFill>
                  <a:schemeClr val="tx1"/>
                </a:solidFill>
              </a:rPr>
              <a:t>Deorao</a:t>
            </a:r>
            <a:r>
              <a:rPr lang="en-US" b="0" dirty="0" smtClean="0">
                <a:solidFill>
                  <a:schemeClr val="tx1"/>
                </a:solidFill>
              </a:rPr>
              <a:t> Satpute </a:t>
            </a:r>
            <a:endParaRPr lang="en-IN" b="0" dirty="0">
              <a:solidFill>
                <a:schemeClr val="tx1"/>
              </a:solidFill>
            </a:endParaRPr>
          </a:p>
          <a:p>
            <a:r>
              <a:rPr lang="en-US" dirty="0">
                <a:solidFill>
                  <a:schemeClr val="tx1"/>
                </a:solidFill>
              </a:rPr>
              <a:t>College Name- </a:t>
            </a:r>
            <a:r>
              <a:rPr lang="en-GB" b="0" dirty="0" err="1">
                <a:solidFill>
                  <a:schemeClr val="tx1"/>
                </a:solidFill>
              </a:rPr>
              <a:t>Audyogik</a:t>
            </a:r>
            <a:r>
              <a:rPr lang="en-GB" b="0" dirty="0">
                <a:solidFill>
                  <a:schemeClr val="tx1"/>
                </a:solidFill>
              </a:rPr>
              <a:t> </a:t>
            </a:r>
            <a:r>
              <a:rPr lang="en-GB" b="0" dirty="0" err="1">
                <a:solidFill>
                  <a:schemeClr val="tx1"/>
                </a:solidFill>
              </a:rPr>
              <a:t>Shikshan</a:t>
            </a:r>
            <a:r>
              <a:rPr lang="en-GB" b="0" dirty="0">
                <a:solidFill>
                  <a:schemeClr val="tx1"/>
                </a:solidFill>
              </a:rPr>
              <a:t> </a:t>
            </a:r>
            <a:r>
              <a:rPr lang="en-GB" b="0" dirty="0" err="1">
                <a:solidFill>
                  <a:schemeClr val="tx1"/>
                </a:solidFill>
              </a:rPr>
              <a:t>Mandal's</a:t>
            </a:r>
            <a:r>
              <a:rPr lang="en-GB" b="0" dirty="0">
                <a:solidFill>
                  <a:schemeClr val="tx1"/>
                </a:solidFill>
              </a:rPr>
              <a:t> Institute of Business Management and </a:t>
            </a:r>
            <a:r>
              <a:rPr lang="en-GB" b="0" dirty="0" smtClean="0">
                <a:solidFill>
                  <a:schemeClr val="tx1"/>
                </a:solidFill>
              </a:rPr>
              <a:t>Research, Pune</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8363" y="2844750"/>
            <a:ext cx="10337569" cy="743448"/>
          </a:xfrm>
        </p:spPr>
        <p:txBody>
          <a:bodyPr>
            <a:normAutofit fontScale="90000"/>
          </a:bodyPr>
          <a:lstStyle/>
          <a:p>
            <a:r>
              <a:rPr lang="en-GB" sz="3200" b="1" dirty="0"/>
              <a:t>Project Title </a:t>
            </a:r>
            <a:r>
              <a:rPr lang="en-GB" sz="3200" dirty="0" smtClean="0"/>
              <a:t>-</a:t>
            </a:r>
            <a:r>
              <a:rPr lang="en-GB" sz="3200" b="1" dirty="0">
                <a:solidFill>
                  <a:srgbClr val="FF0000"/>
                </a:solidFill>
              </a:rPr>
              <a:t>Seasonal</a:t>
            </a:r>
            <a:r>
              <a:rPr lang="en-GB" sz="3200" dirty="0">
                <a:solidFill>
                  <a:srgbClr val="FF0000"/>
                </a:solidFill>
              </a:rPr>
              <a:t> </a:t>
            </a:r>
            <a:r>
              <a:rPr lang="en-GB" sz="3200" b="1" dirty="0" smtClean="0">
                <a:solidFill>
                  <a:srgbClr val="FF0000"/>
                </a:solidFill>
              </a:rPr>
              <a:t>Agriculture</a:t>
            </a:r>
            <a:r>
              <a:rPr lang="en-GB" sz="3200" dirty="0">
                <a:solidFill>
                  <a:srgbClr val="FF0000"/>
                </a:solidFill>
              </a:rPr>
              <a:t> </a:t>
            </a:r>
            <a:r>
              <a:rPr lang="en-GB" sz="3200" b="1" dirty="0" smtClean="0">
                <a:solidFill>
                  <a:srgbClr val="FF0000"/>
                </a:solidFill>
              </a:rPr>
              <a:t>Performance</a:t>
            </a:r>
            <a:r>
              <a:rPr lang="en-GB" sz="3200" dirty="0" smtClean="0">
                <a:solidFill>
                  <a:srgbClr val="FF0000"/>
                </a:solidFill>
              </a:rPr>
              <a:t> </a:t>
            </a:r>
            <a:r>
              <a:rPr lang="en-GB" sz="3200" b="1" dirty="0">
                <a:solidFill>
                  <a:srgbClr val="FF0000"/>
                </a:solidFill>
              </a:rPr>
              <a:t>Analysis</a:t>
            </a:r>
            <a:endParaRPr lang="en-IN" sz="3200" dirty="0">
              <a:solidFill>
                <a:srgbClr val="FF0000"/>
              </a:solidFill>
            </a:endParaRPr>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1286464" y="4576469"/>
            <a:ext cx="5450766" cy="369332"/>
          </a:xfrm>
          <a:prstGeom prst="rect">
            <a:avLst/>
          </a:prstGeom>
          <a:noFill/>
        </p:spPr>
        <p:txBody>
          <a:bodyPr wrap="square" rtlCol="0">
            <a:spAutoFit/>
          </a:bodyPr>
          <a:lstStyle/>
          <a:p>
            <a:r>
              <a:rPr lang="en-US" b="1" dirty="0"/>
              <a:t>AICTE STU </a:t>
            </a:r>
            <a:r>
              <a:rPr lang="en-US" b="1" dirty="0" smtClean="0"/>
              <a:t>ID : </a:t>
            </a:r>
            <a:r>
              <a:rPr lang="en-GB" dirty="0" smtClean="0"/>
              <a:t>STU6a6c6687377ac1785489031</a:t>
            </a:r>
            <a:endParaRPr lang="en-US"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754602" y="2065337"/>
            <a:ext cx="7114109" cy="3809252"/>
          </a:xfrm>
        </p:spPr>
        <p:txBody>
          <a:bodyPr vert="horz" lIns="91440" tIns="45720" rIns="91440" bIns="45720" rtlCol="0" anchor="t">
            <a:normAutofit fontScale="70000" lnSpcReduction="20000"/>
          </a:bodyPr>
          <a:lstStyle/>
          <a:p>
            <a:pPr>
              <a:lnSpc>
                <a:spcPct val="100000"/>
              </a:lnSpc>
            </a:pPr>
            <a:r>
              <a:rPr lang="en-GB" sz="2800" dirty="0">
                <a:latin typeface="Arial" panose="020B0604020202020204" pitchFamily="34" charset="0"/>
                <a:cs typeface="Arial" panose="020B0604020202020204" pitchFamily="34" charset="0"/>
              </a:rPr>
              <a:t>Agricultural activities are influenced by seasonal variations in environmental conditions, farming practices, resource availability and market conditions</a:t>
            </a:r>
            <a:r>
              <a:rPr lang="en-GB" sz="2800" dirty="0" smtClean="0">
                <a:latin typeface="Arial" panose="020B0604020202020204" pitchFamily="34" charset="0"/>
                <a:cs typeface="Arial" panose="020B0604020202020204" pitchFamily="34" charset="0"/>
              </a:rPr>
              <a:t>.</a:t>
            </a:r>
          </a:p>
          <a:p>
            <a:pPr>
              <a:lnSpc>
                <a:spcPct val="100000"/>
              </a:lnSpc>
            </a:pPr>
            <a:r>
              <a:rPr lang="en-GB" sz="2800" dirty="0" smtClean="0">
                <a:latin typeface="Arial" panose="020B0604020202020204" pitchFamily="34" charset="0"/>
                <a:cs typeface="Arial" panose="020B0604020202020204" pitchFamily="34" charset="0"/>
              </a:rPr>
              <a:t>As </a:t>
            </a:r>
            <a:r>
              <a:rPr lang="en-GB" sz="2800" dirty="0">
                <a:latin typeface="Arial" panose="020B0604020202020204" pitchFamily="34" charset="0"/>
                <a:cs typeface="Arial" panose="020B0604020202020204" pitchFamily="34" charset="0"/>
              </a:rPr>
              <a:t>a result, agricultural performance may differ from one season to another. However, raw agricultural data does not clearly explain how agricultural performance changes across seasons or what patterns can be observed in different seasonal conditions. </a:t>
            </a:r>
            <a:endParaRPr lang="en-GB" sz="2800" dirty="0" smtClean="0">
              <a:latin typeface="Arial" panose="020B0604020202020204" pitchFamily="34" charset="0"/>
              <a:cs typeface="Arial" panose="020B0604020202020204" pitchFamily="34" charset="0"/>
            </a:endParaRPr>
          </a:p>
          <a:p>
            <a:pPr>
              <a:lnSpc>
                <a:spcPct val="100000"/>
              </a:lnSpc>
            </a:pPr>
            <a:r>
              <a:rPr lang="en-GB" sz="2800" dirty="0" smtClean="0">
                <a:latin typeface="Arial" panose="020B0604020202020204" pitchFamily="34" charset="0"/>
                <a:cs typeface="Arial" panose="020B0604020202020204" pitchFamily="34" charset="0"/>
              </a:rPr>
              <a:t>The </a:t>
            </a:r>
            <a:r>
              <a:rPr lang="en-GB" sz="2800" dirty="0">
                <a:latin typeface="Arial" panose="020B0604020202020204" pitchFamily="34" charset="0"/>
                <a:cs typeface="Arial" panose="020B0604020202020204" pitchFamily="34" charset="0"/>
              </a:rPr>
              <a:t>problem is to </a:t>
            </a:r>
            <a:r>
              <a:rPr lang="en-GB" sz="2800" dirty="0" err="1">
                <a:latin typeface="Arial" panose="020B0604020202020204" pitchFamily="34" charset="0"/>
                <a:cs typeface="Arial" panose="020B0604020202020204" pitchFamily="34" charset="0"/>
              </a:rPr>
              <a:t>analyze</a:t>
            </a:r>
            <a:r>
              <a:rPr lang="en-GB" sz="2800" dirty="0">
                <a:latin typeface="Arial" panose="020B0604020202020204" pitchFamily="34" charset="0"/>
                <a:cs typeface="Arial" panose="020B0604020202020204" pitchFamily="34" charset="0"/>
              </a:rPr>
              <a:t> the given agricultural dataset and investigate seasonal differences in agricultural performance by identifying meaningful patterns, trends, relationships and variations within the available data</a:t>
            </a:r>
            <a:r>
              <a:rPr lang="en-GB" sz="2800" dirty="0"/>
              <a:t>. </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813854" y="904100"/>
            <a:ext cx="6995604" cy="790111"/>
          </a:xfrm>
        </p:spPr>
        <p:txBody>
          <a:bodyPr>
            <a:normAutofit fontScale="90000"/>
          </a:bodyPr>
          <a:lstStyle/>
          <a:p>
            <a:r>
              <a:rPr lang="en-US" dirty="0">
                <a:latin typeface="Arial" panose="020B0604020202020204" pitchFamily="34" charset="0"/>
                <a:cs typeface="Arial" panose="020B0604020202020204" pitchFamily="34" charset="0"/>
              </a:rPr>
              <a:t>PROBLEM  STATEMENT</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p:cNvSpPr/>
          <p:nvPr/>
        </p:nvSpPr>
        <p:spPr>
          <a:xfrm>
            <a:off x="467358" y="1772122"/>
            <a:ext cx="7477570" cy="3139321"/>
          </a:xfrm>
          <a:prstGeom prst="rect">
            <a:avLst/>
          </a:prstGeom>
        </p:spPr>
        <p:txBody>
          <a:bodyPr wrap="square">
            <a:spAutoFit/>
          </a:bodyPr>
          <a:lstStyle/>
          <a:p>
            <a:r>
              <a:rPr lang="en-GB" dirty="0">
                <a:solidFill>
                  <a:srgbClr val="1E1E1E"/>
                </a:solidFill>
              </a:rPr>
              <a:t>The project </a:t>
            </a:r>
            <a:r>
              <a:rPr lang="en-GB" dirty="0" err="1">
                <a:solidFill>
                  <a:srgbClr val="1E1E1E"/>
                </a:solidFill>
              </a:rPr>
              <a:t>analyzes</a:t>
            </a:r>
            <a:r>
              <a:rPr lang="en-GB" dirty="0">
                <a:solidFill>
                  <a:srgbClr val="1E1E1E"/>
                </a:solidFill>
              </a:rPr>
              <a:t> seasonal agricultural performance using a dataset of 4,000 farm-level records and 28 attributes.</a:t>
            </a:r>
            <a:r>
              <a:rPr lang="en-GB" dirty="0"/>
              <a:t/>
            </a:r>
            <a:br>
              <a:rPr lang="en-GB" dirty="0"/>
            </a:br>
            <a:r>
              <a:rPr lang="en-GB" dirty="0"/>
              <a:t/>
            </a:r>
            <a:br>
              <a:rPr lang="en-GB" dirty="0"/>
            </a:br>
            <a:r>
              <a:rPr lang="en-GB" dirty="0">
                <a:solidFill>
                  <a:srgbClr val="1E1E1E"/>
                </a:solidFill>
              </a:rPr>
              <a:t>• Data preparation: missing-value treatment, duplicate checking and data-type review.</a:t>
            </a:r>
            <a:r>
              <a:rPr lang="en-GB" dirty="0"/>
              <a:t/>
            </a:r>
            <a:br>
              <a:rPr lang="en-GB" dirty="0"/>
            </a:br>
            <a:r>
              <a:rPr lang="en-GB" dirty="0">
                <a:solidFill>
                  <a:srgbClr val="1E1E1E"/>
                </a:solidFill>
              </a:rPr>
              <a:t>• Exploratory analysis: comparison of yield, profit, irrigation, crops and seasons.</a:t>
            </a:r>
            <a:r>
              <a:rPr lang="en-GB" dirty="0"/>
              <a:t/>
            </a:r>
            <a:br>
              <a:rPr lang="en-GB" dirty="0"/>
            </a:br>
            <a:r>
              <a:rPr lang="en-GB" dirty="0">
                <a:solidFill>
                  <a:srgbClr val="1E1E1E"/>
                </a:solidFill>
              </a:rPr>
              <a:t>• Visualization: bar charts, scatter plots and correlation </a:t>
            </a:r>
            <a:r>
              <a:rPr lang="en-GB" dirty="0" err="1">
                <a:solidFill>
                  <a:srgbClr val="1E1E1E"/>
                </a:solidFill>
              </a:rPr>
              <a:t>heatmap</a:t>
            </a:r>
            <a:r>
              <a:rPr lang="en-GB" dirty="0">
                <a:solidFill>
                  <a:srgbClr val="1E1E1E"/>
                </a:solidFill>
              </a:rPr>
              <a:t> to identify patterns and relationships.</a:t>
            </a:r>
            <a:r>
              <a:rPr lang="en-GB" dirty="0"/>
              <a:t/>
            </a:r>
            <a:br>
              <a:rPr lang="en-GB" dirty="0"/>
            </a:br>
            <a:r>
              <a:rPr lang="en-GB" dirty="0">
                <a:solidFill>
                  <a:srgbClr val="1E1E1E"/>
                </a:solidFill>
              </a:rPr>
              <a:t>• Goal: understand seasonal variation and the factors associated with agricultural productivity, profitability and resource efficiency.</a:t>
            </a:r>
            <a:endParaRPr lang="en-GB"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2"/>
          <p:cNvSpPr/>
          <p:nvPr/>
        </p:nvSpPr>
        <p:spPr>
          <a:xfrm>
            <a:off x="293298" y="1846054"/>
            <a:ext cx="8859328" cy="1938992"/>
          </a:xfrm>
          <a:prstGeom prst="rect">
            <a:avLst/>
          </a:prstGeom>
        </p:spPr>
        <p:txBody>
          <a:bodyPr wrap="square">
            <a:spAutoFit/>
          </a:bodyPr>
          <a:lstStyle/>
          <a:p>
            <a:pPr>
              <a:lnSpc>
                <a:spcPct val="150000"/>
              </a:lnSpc>
              <a:defRPr sz="1600" b="0">
                <a:latin typeface="Aptos"/>
              </a:defRPr>
            </a:pPr>
            <a:r>
              <a:rPr lang="en-GB" dirty="0">
                <a:solidFill>
                  <a:srgbClr val="1E1E1E"/>
                </a:solidFill>
              </a:rPr>
              <a:t>• Farmers and farm managers – compare seasonal yield, costs and profitability.</a:t>
            </a:r>
            <a:r>
              <a:rPr lang="en-GB" dirty="0"/>
              <a:t/>
            </a:r>
            <a:br>
              <a:rPr lang="en-GB" dirty="0"/>
            </a:br>
            <a:r>
              <a:rPr lang="en-GB" dirty="0">
                <a:solidFill>
                  <a:srgbClr val="1E1E1E"/>
                </a:solidFill>
              </a:rPr>
              <a:t>• Agricultural planners – identify patterns across crops, states and seasons.</a:t>
            </a:r>
            <a:r>
              <a:rPr lang="en-GB" dirty="0"/>
              <a:t/>
            </a:r>
            <a:br>
              <a:rPr lang="en-GB" dirty="0"/>
            </a:br>
            <a:r>
              <a:rPr lang="en-GB" dirty="0">
                <a:solidFill>
                  <a:srgbClr val="1E1E1E"/>
                </a:solidFill>
              </a:rPr>
              <a:t>• Agribusiness and market analysts – understand production, price, revenue and profit trends.</a:t>
            </a:r>
            <a:r>
              <a:rPr lang="en-GB" dirty="0"/>
              <a:t/>
            </a:r>
            <a:br>
              <a:rPr lang="en-GB" dirty="0"/>
            </a:br>
            <a:r>
              <a:rPr lang="en-GB" dirty="0">
                <a:solidFill>
                  <a:srgbClr val="1E1E1E"/>
                </a:solidFill>
              </a:rPr>
              <a:t>• Researchers and students – use the dataset for agricultural analytics and visualization.</a:t>
            </a:r>
            <a:r>
              <a:rPr lang="en-GB" dirty="0"/>
              <a:t/>
            </a:r>
            <a:br>
              <a:rPr lang="en-GB" dirty="0"/>
            </a:br>
            <a:r>
              <a:rPr lang="en-GB" dirty="0">
                <a:solidFill>
                  <a:srgbClr val="1E1E1E"/>
                </a:solidFill>
              </a:rPr>
              <a:t>• Resource managers – evaluate irrigation, water use and efficiency.</a:t>
            </a:r>
            <a:endParaRPr lang="en-GB" dirty="0">
              <a:solidFill>
                <a:srgbClr val="1E1E1E"/>
              </a:solidFill>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GB" dirty="0">
                <a:solidFill>
                  <a:srgbClr val="1E1E1E"/>
                </a:solidFill>
              </a:rPr>
              <a:t>Python – data analysis and visualization</a:t>
            </a:r>
            <a:r>
              <a:rPr lang="en-GB" dirty="0"/>
              <a:t/>
            </a:r>
            <a:br>
              <a:rPr lang="en-GB" dirty="0"/>
            </a:br>
            <a:r>
              <a:rPr lang="en-GB" dirty="0">
                <a:solidFill>
                  <a:srgbClr val="1E1E1E"/>
                </a:solidFill>
              </a:rPr>
              <a:t>Pandas – data reading, cleaning and aggregation</a:t>
            </a:r>
            <a:r>
              <a:rPr lang="en-GB" dirty="0"/>
              <a:t/>
            </a:r>
            <a:br>
              <a:rPr lang="en-GB" dirty="0"/>
            </a:br>
            <a:r>
              <a:rPr lang="en-GB" dirty="0" err="1">
                <a:solidFill>
                  <a:srgbClr val="1E1E1E"/>
                </a:solidFill>
              </a:rPr>
              <a:t>NumPy</a:t>
            </a:r>
            <a:r>
              <a:rPr lang="en-GB" dirty="0">
                <a:solidFill>
                  <a:srgbClr val="1E1E1E"/>
                </a:solidFill>
              </a:rPr>
              <a:t> – numerical operations</a:t>
            </a:r>
            <a:r>
              <a:rPr lang="en-GB" dirty="0"/>
              <a:t/>
            </a:r>
            <a:br>
              <a:rPr lang="en-GB" dirty="0"/>
            </a:br>
            <a:r>
              <a:rPr lang="en-GB" dirty="0" err="1">
                <a:solidFill>
                  <a:srgbClr val="1E1E1E"/>
                </a:solidFill>
              </a:rPr>
              <a:t>Matplotlib</a:t>
            </a:r>
            <a:r>
              <a:rPr lang="en-GB" dirty="0">
                <a:solidFill>
                  <a:srgbClr val="1E1E1E"/>
                </a:solidFill>
              </a:rPr>
              <a:t> &amp; </a:t>
            </a:r>
            <a:r>
              <a:rPr lang="en-GB" dirty="0" err="1">
                <a:solidFill>
                  <a:srgbClr val="1E1E1E"/>
                </a:solidFill>
              </a:rPr>
              <a:t>Seaborn</a:t>
            </a:r>
            <a:r>
              <a:rPr lang="en-GB" dirty="0">
                <a:solidFill>
                  <a:srgbClr val="1E1E1E"/>
                </a:solidFill>
              </a:rPr>
              <a:t> – charts and statistical visualization</a:t>
            </a:r>
            <a:r>
              <a:rPr lang="en-GB" dirty="0"/>
              <a:t/>
            </a:r>
            <a:br>
              <a:rPr lang="en-GB" dirty="0"/>
            </a:br>
            <a:r>
              <a:rPr lang="en-GB" dirty="0" err="1">
                <a:solidFill>
                  <a:srgbClr val="1E1E1E"/>
                </a:solidFill>
              </a:rPr>
              <a:t>Jupyter</a:t>
            </a:r>
            <a:r>
              <a:rPr lang="en-GB" dirty="0">
                <a:solidFill>
                  <a:srgbClr val="1E1E1E"/>
                </a:solidFill>
              </a:rPr>
              <a:t> Notebook – analysis workflow and presentation</a:t>
            </a:r>
            <a:r>
              <a:rPr lang="en-GB" dirty="0"/>
              <a:t/>
            </a:r>
            <a:br>
              <a:rPr lang="en-GB" dirty="0"/>
            </a:br>
            <a:r>
              <a:rPr lang="en-GB" dirty="0">
                <a:solidFill>
                  <a:srgbClr val="1E1E1E"/>
                </a:solidFill>
              </a:rPr>
              <a:t>CSV – primary dataset format</a:t>
            </a:r>
          </a:p>
          <a:p>
            <a:pPr lvl="1">
              <a:lnSpc>
                <a:spcPct val="150000"/>
              </a:lnSpc>
            </a:pP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AutoShape 2" descr="data:image/png;base64,iVBORw0KGgoAAAANSUhEUgAABW4AAAPdCAYAAAAauvH/AAAAOnRFWHRTb2Z0d2FyZQBNYXRwbG90bGliIHZlcnNpb24zLjEwLjAsIGh0dHBzOi8vbWF0cGxvdGxpYi5vcmcvlHJYcgAAAAlwSFlzAAAPYQAAD2EBqD+naQABAABJREFUeJzs3Xl4TOf///FXMkmIXSR2Ys1EiIgtlpBaqhS1FR9L1FZbVVtVlNZWtZQulpbatypqabVVPqVfWqWWorQi9pJqK7GTVJKZ8/vDL/PpiCWJiZnwfFxXrmvOfe458z7vmcOdd+65j5thGIYAAAAAAAAAAC7D3dkBAAAAAAAAAADsUbgFAAAAAAAAABdD4RYAAAAAAAAAXAyFWwAAAAAAAABwMRRuAQAAAAAAAMDFULgFAAAAAAAAABdD4RYAAAAAAAAAXAyFWwAAAAAAAABwMRRuAQAAAAAAAMDFULgFIEnatWuXzGazNm7c6OxQ0iQuLk6DBg1SWFiYzGazFi1a5OyQkAYNGzbU8OHDnR0GAACAQzGWxsPAWBp4/Hg4OwDgcbJ27Vq9/vrr8vLy0ubNm1WoUCG7/ZGRkbp06ZK++uorJ0WYdUycOFE//PCDBg4cKF9fX1WqVOmufc1m8x3bfX199eOPP2ZWiA8sMjJSu3fvtm1ny5ZN/v7+ateunbp16yZ3d/725mzR0dH68MMPdejQIcXFxSlfvnwqV66cGjZsqMjISGeHBwDAI4WxtOMwlmYs7SrOnDmjefPm6ccff9T58+fl6empgIAANWvWTB07dlT27NmdHSLgVBRuASdITEzUnDlz9Oabbzo7lCzrp59+UqNGjdSrV6809a9bt65atWpl15YVBgGFCxfW4MGDJcn2i8jEiRN16dIlvfLKK06O7vG2b98+devWTUWLFlX79u3l5+enP//8U7/88ouWLFlC4RYAgEzCWPrBMZZmLO0Ktm7dqpdeekleXl5q1aqVAgIClJSUpJ9//llTpkzR8ePH9dZbbzk7TMCpKNwCTlChQgWtWrVKffr0STVT4FEXHx+vHDlyPPBxLly4oDx58qS5f6lSpVINNh+U1WpVUlKSsmXL5tDj/lvu3Lnt4u7UqZOaNWumpUuXatCgQTKZTJn22hnhqPfXVdzrfGbPnq3cuXNr9erVqT6LFy5ceBjhAQDwWGIszVg6rRhLO9e9zufs2bN65ZVXVLRoUS1evFgFCxa07evSpYt+//13bd269a7HfhifH8AV8N0AwAn69u0rq9WquXPn3rNfTEyMzGaz1q5dm2qf2WzWjBkzbNszZsyQ2WzWqVOnNGTIEFWrVk21atXSBx98IMMw9Oeff6p///6qWrWq6tatqwULFtzxNa1Wq9577z3VrVtXVapUUb9+/fTnn3+m6vfLL7+oV69eqlatmkJCQtS1a1f9/PPPdn1SYjp+/LheffVV1ahRQ507d77nOZ89e1aDBg1SzZo1FRISog4dOtj9h7127VqZzWYZhqFPPvlEZrP5rl/fSqv58+frP//5j8LCwlS5cmW1bdv2juuTmc1mjRs3TuvXr1fz5s0VHBysH374wRbT3r17NX78eNWqVUvVq1fXqFGjlJiYqKtXr2ro0KGqUaOGatSooXfeeUeGYWQo1mzZsqlSpUq6ceNGquLgF198obZt26py5cqqWbOmXnnllbu+d88//7xq1KihKlWqqGXLllq8eLFdn507d6pz586qUqWKqlevrv79++vEiRN2fe71/hqGoY8++kj169dXSEiIIiMjdezYsVSxJCUlaebMmWrSpImCg4MVFhamTp063fdrdyk537Nnj0aNGqWwsDBVrVpVQ4cO1ZUrV1L137Ztm+18QkND1adPn1TxDB8+XKGhoTpz5oyef/55hYaGasiQIXeN4cyZMypXrtwdf+kpUKBAqra0vD979+7VoEGD9MQTT6hSpUqKiIjQhAkT9M8//9j1i42N1euvv6769eurUqVKCg8PV//+/RUTE2PX75NPPlHz5s1tfcaOHaurV6/a9YmMjFSLFi10/PhxRUZGKiQkRPXq1bvvv08AADgLY+m7Yyx9b4ylb3GFsfS8efMUHx+vt99+265om8Lf31/PPfecbftunx9JOnz4sHr37q2qVasqNDRUzz33nA4cOPBA5wy4CmbcAk5QvHhxtWrVSqtWrdLzzz/v0JkCr7zyisqWLatXX31V27Zt06xZs5QvXz6tWLFCtWrV0pAhQ/Tll19q8uTJCg4OVo0aNeyeP2vWLLm5uen555/XhQsXtHjxYnXv3l1ffPGF7etQO3fu1PPPP69KlSpp4MCBcnNz09q1a/Xcc89p+fLlqly5st0xX3rpJfn7++uVV1655yArLi5O//nPf5SQkKDIyEjlz59f69atU//+/TV9+nQ9+eSTtsHa0KFD7/iVrbu5efOmLl68aNeWK1cueXl5acmSJWrYsKFatmyppKQkff3113rppZf08ccf64knnrB7zk8//aRvvvlGXbp0Uf78+VWsWDFbIWz8+PHy9fXViy++qF9++UUrV65U7ty5tX//fhUpUkSvvPKKvv/+e82fP18BAQFq3bp1mmK/3R9//CE3Nze7guGsWbM0bdo0NWvWTM8++6wuXryoZcuWqUuXLvr8889tfX/88Uf17dtXBQsWVLdu3eTr66sTJ05o69attoHRjh079Pzzz6t48eIaOHCg/vnnHy1btkydOnXS2rVrVbx4cbt47vT+Tps2TbNmzVJERIQiIiL022+/qWfPnkpKSrJ77syZM/Xxxx+rffv2qly5sq5fv65ff/1Vv/32m+rWrXvfXIwbN0558uTRwIEDderUKX366ac6d+6cli5dKjc3N0nS559/ruHDhys8PFxDhgxRQkKCPv30U3Xu3Fnr1q2zO5/k5GTbL1HDhg2751cAixUrpv379+vo0aMKCAi4Z5xpfX82btyof/75R506dVK+fPl08OBBLVu2TH/99ZemT59uO96LL76o48ePq2vXripWrJguXryoH3/8UX/++aftfGbMmKGZM2eqTp066tSpky0/hw4d0qeffipPT0/b8a5cuaLevXvrySefVLNmzbRp0yZNnTpVAQEBioiIuO/7AADAw8RY+s4YS6cNY+n/ceZY+v/+7/9UokQJVa1a9b5xprjT5+fYsWPq0qWLcubMqd69e8vDw0MrV65UZGSkli1bppCQkHSfM+BSDAAPzZo1a4yAgADj4MGDxpkzZ4ygoCDjrbfesu3v2rWr0bx5c9v22bNnjYCAAGPNmjWpjhUQEGBMnz7dtj19+nQjICDAePPNN21tycnJRv369Q2z2Wx8/PHHtvYrV64YlStXNoYNG2Zr++mnn4yAgACjXr16xrVr12ztGzZsMAICAozFixcbhmEYVqvVaNKkidGzZ0/DarXa+iUkJBgNGzY0evTokSqmwYMHpyk/b7/9thEQEGDs2bPH1nb9+nWjYcOGRoMGDQyLxWJ3/mPHjk3TcQMCAu74k5LXhIQEu/6JiYlGixYtjG7duqU6TmBgoHHs2DG79pT39facdOzY0TCbzcaoUaNsbSnvSdeuXe8bd9euXY2mTZsaFy5cMC5cuGCcOHHCmDx5shEQEGD06dPH1i8mJsaoUKGCMWvWLLvnR0dHG0FBQbb25ORkWy6vXLli1/ffcbdq1cqoXbu2cenSJVtbVFSUERgYaAwdOtTWdrf398KFC0bFihWNPn362B33vffeMwICAuw+d88884zduaRVSs7btGljJCYm2trnzp1rBAQEGJs3bzYM49bnp3r16sYbb7xh9/zY2FijWrVqdu3Dhg0zAgICjKlTp6Yphu3btxsVKlQwKlSoYHTs2NF45513jB9++MEuHsNI+/tjGKk/i4ZhGB9//LFhNpuNP/74wzCMW9dvQECAMW/evLvGlvIe9OzZ0+66WbZsmREQEGCsXr3a1ta1a1cjICDAWLduna3t5s2bRt26dY0XX3wxTbkAAOBhYCx9b4yl7TGWvjtnj6WvXbtmBAQEGP37909zzHf7/AwYMMCoWLGicebMGVvb33//bYSGhhpdunRJ9zkDroalEgAnKVGihJ555hmtWrVK58+fd9hxn332Wdtjk8mkSpUqyTAMu/Y8efKodOnSOnv2bKrnt27dWrly5bJtN23aVH5+ftq2bZskKSoqSqdPn1bLli116dIlXbx4URcvXlR8fLxq166tPXv2yGq12h3zP//5T5pi37ZtmypXrqzq1avb2nLmzKmOHTvqjz/+0PHjx9OWhDto1KiRFi5caPcTHh4uyf7GCleuXNG1a9dUrVo1HT58ONVxatSooXLlyt3xNZ599lm7v9JWrlw5Ve5T3pM75f5OTp48qdq1a6t27dpq1qyZ5s+fr4YNG2rixIm2Pt9++62sVquaNWtmez8uXrwoX19f+fv7a9euXZJufYUoJiZG3bp1S/X1/pS4z58/r6ioKLVp00b58uWz7Q8MDFSdOnVsn4N/u/393bFjh5KSktS1a1e7fPz7q04p8uTJo2PHjun06dNpysftOnbsaDdztFOnTvLw8LDFuWPHDl29elXNmze3y427u7tCQkJsufm3Tp06pem169atqxUrVqhhw4Y6cuSI5s2bp169eql+/frasmWLrV9a3x/J/rMYHx+vixcvKjQ0VIZh2D6P2bNnl6enp3bv3n3Xr3WlvAe33zG5ffv2ypUrV6r3MUeOHHYzbry8vBQcHJzmzykAAA8bY+nUGEunxlj63pw1lr5+/bqkW5/P9Lj982OxWPTjjz+qcePGKlGihK29YMGCatGihX7++Wfba6X1nAFXw1IJgBMNGDBA69ev15w5c/TGG2845JhFixa1286dO7eyZcsmHx+fVO2XL19O9Xx/f3+7bTc3N/n7++uPP/6QJNugYNiwYXeN4dq1a8qbN69t+/avA93NuXPnUn2VRZLKlClj23+/r6TfTeHChVWnTp077vu///s/zZo1S1FRUUpMTLS13+mrMvc6lzvlXpKKFCmSqj2t6ygVK1ZM48ePl9Vq1ZkzZzR79mxdunTJbhH+06dPyzAMNWnS5I7H8PC49U99ygD3Xjk8d+6cJKl06dKp9pUtW1bbt29PdZOB23OScoxSpUrZtfv4+Nh9LiRp0KBBGjBggJ566ikFBAQoPDxcrVq1UmBg4F1j/LfbP685c+aUn59fqs/rnQa6kux+sZJu5apw4cJpem3p1i8UM2fOVGJioo4cOaLNmzdr0aJFeumll/T555+rXLlyaX5/pFu5mz59ur777rtUn5GUQaeXl5eGDBmiyZMnq27dugoJCdETTzyh1q1by8/Pz3Yc6X/XTgovLy+VKFHClp8UhQsXTvV5z5s3r6Kjo9OcCwAAHjbG0vYYS6fGWPrenDWWTnnejRs30hRnittzdfHiRSUkJNw131arVX/++afKly9va7/fOQOuhsIt4ET/ninQp0+fVPvvtsaOxWK56zH/Pbsuxd3ulmpkYFH/lOcMHTpUFSpUuGOf2+8c6sp3+ty7d6/69++vGjVqaPTo0fLz85Onp6fWrFmjr776KlX/e63TdKfc36s9LXLkyGE3SK5ataratm2r999/3/YLitVqlZubm+bOnXvH9zqz70z7IO9vjRo19O2332rLli368ccftXr1ai1evFhjx45V+/btHzi2lM/rO++8Yytq/tvt+fLy8srQ++Xl5aXKlSurcuXKKlWqlF5//XVt3LhRAwcOTPP7Y7FY1KNHD9t6s2XKlFGOHDn0999/a/jw4Xazb7p3766GDRtq8+bN2r59u6ZNm6Y5c+Zo8eLFCgoKSnf8rnZHZQAA0oKxtPMxln5wj+NYOleuXCpYsOAdb7h2L/f6/ACPKgq3gJP1799f69evv+NdcVP+onr7XeBT/gqbGX7//Xe7bcMw9Pvvv9vuNpvyFZRcuXLd9a/uGVW0aFGdOnUqVfvJkydt+x1t06ZNypYtm+bPny8vLy9b+5o1axz+Wo4QGBioZ555RitWrFDPnj1VtGhRlSxZUoZhqHjx4nf8a3OKlPfu6NGjd33vUnJ8t/chf/789x28phzj9OnTdl9Zunjx4h1nR+TLl0/t2rVTu3btdOPGDXXt2lUzZsxI02Dz999/V61atWzbN27cUGxsrOrXry/pf+dcoEABh39e76ZSpUqSZPvaZlrfn6NHj+r06dOaPHmy3c027nZX4JIlS6pnz57q2bOnTp8+rdatW2vBggWaOnWq7T04efKk3XuQmJiomJiYh5YLAAAyG2Pp/2EsfX+Mpe05cyzdoEEDrVy5Uvv371doaGiGjuHj4yNvb++75tvd3T3VjO37nTPgaljjFnCykiVL6plnntHKlSsVGxtrty9XrlzKnz+/9u7da9e+fPnyTIvn888/t1sHaOPGjXb/kVWqVEklS5bUggUL7vjVltvvNpseEREROnjwoPbv329ri4+P16pVq1SsWLG7rof1IEwmk9zc3OxmXsTExNitUepqevfureTkZC1cuFCS1KRJE5lMJs2cOTPVzA/DMHTp0iVJUsWKFVW8eHEtWbIk1S8wKc8rWLCgKlSooM8//9yuz9GjR/Xjjz8qIiLivvHVqVNHnp6eWrZsmV08ixcvTtU3JbYUOXPmVMmSJe2+ZncvK1eutLu77qeffqrk5GTb57VevXrKlSuXPv7441R34ZUe7PP6008/3XGmTcr6WClfS0zr+5MyO+HffQzD0JIlS+yek5CQoJs3b9q1lSxZUjlz5rTlLeU9WLp0qd3xVq9erWvXrqXpfQQAICtgLP0/jKXThrH0/zhzLN27d2/lyJFDb7zxhuLi4lLtP3PmzB3P+d9MJpPq1q2rLVu2KCYmxtYeFxenr776StWqVUu1nMP9zhlwNcy4BVxAv3799MUXX+jUqVN26+9It24mNGfOHI0cOVKVKlXS3r177/gXRUfJmzevOnfurLZt2+rChQtavHix/P391aFDB0m3ikvjx4/X888/rxYtWqht27YqVKiQ/v77b+3atUu5cuXS7NmzM/Taffr00ddff63nn39ekZGRyps3rz7//HPFxMRoxowZD/Q1qbuJiIjQwoUL1bt3b7Vo0UIXLlzQ8uXLVbJkSZdd37NcuXKKiIjQ6tWrNWDAAJUsWVIvv/yy3n33Xf3xxx9q3LixcubMqZiYGG3evFkdOnRQr1695O7urjFjxqh///5q3bq12rZtKz8/P508eVLHjx/X/PnzJd366t7zzz+vjh076tlnn9U///yjZcuWKXfu3Bo4cOB94/Px8VHPnj318ccfq2/fvoqIiNDhw4f1/fffK3/+/HZ9mzdvrpo1a6pixYrKly+fDh06pE2bNqlr165pykVSUpK6d++uZs2a6dSpU1q+fLmqVaumRo0aSbr1C9uYMWM0dOhQtW3bVk8//bR8fHx07tw5bdu2TVWrVtWoUaPS+Q7cMn78eCUkJOjJJ59UmTJllJSUpH379umbb75RsWLF1LZtW0lK8/tTpkwZlSxZUpMnT9bff/+tXLlyadOmTal+MTh9+rS6d++upk2bqly5cjKZTNq8ebPi4uLUvHlz23vQt29fzZw5U71791bDhg1t+QkODtYzzzyToXMGAMAVMZa+hbF02jCW/h9njqVLliypqVOn6pVXXtHTTz+tVq1aKSAgQImJidq/f782btxoG0/fy8svv6wdO3aoc+fO6ty5s0wmk1auXKnExES99tpr6T5nwNVQuAVcgL+/v5555hmtW7cu1b4XXnhBFy9e1KZNm/TNN9+ofv36mjdvnmrXrp0psfTr10/R0dGaM2eObty4odq1a2v06NHy9va29QkLC9PKlSv10UcfadmyZYqPj5efn58qV66sjh07Zvi1fX19tWLFCk2ZMkXLli3TzZs3ZTabNXv2bD3xxBMOOLvUateurbfffltz587VhAkTVLx4cQ0ZMkR//PGHyw42JalXr17aunWrli1bphdffFF9+vRRqVKltGjRIn344YeSbt1Eom7dumrYsKHtefXq1dPixYv14YcfasGCBTIMQyVKlLD9MiHd+iv/vHnzNH36dE2fPl0eHh6qUaOGXnvtNbuva93Lyy+/LC8vL61YsUK7du1S5cqVtWDBAvXt29euX2RkpL777jv9+OOPSkxMVNGiRfXyyy+rV69eaXqdUaNG6csvv9T06dOVlJSk5s2b64033rBb065ly5YqWLCg5syZo/nz5ysxMVGFChVS9erV0zQYvJuhQ4dq48aN2rZtm+0v90WLFlXnzp3Vv39/u7sNp+X98fT01OzZszV+/Hh9/PHHypYtm5588kl16dJFrVq1sh2rcOHCat68uXbu3Kn169fLZDKpTJky+uCDD/TUU0/Z+r344ovy8fHRsmXLNHHiROXNm1cdOnTQ4MGD7e6kCwBAVsdY+hbG0mnHWPoWZ46lJalRo0Zav3695s+fry1btujTTz+Vl5eXzGazhg8fbpfXuylfvrw++eQTvfvuu/r4449lGIYqV66sKVOm3PFmfWk5Z8CVuBkZWVEdAAAnWrt2rV5//XWtXr1awcHBzg4HAAAAyDIex7H043jOeDSwxi0AAAAAAAAAuBgKtwAAAAAAAADgYijcAgAAAAAAAICLYY1bAAAAAAAAAHAxzLgFAAAAAAAAABfj4ewAsgKr1ark5GS5u7vLzc3N2eEAAABkGYZhyGq1ysPDQ+7uzBl4VDA+BgAAyJj0jI8p3KZBcnKyDh065OwwAAAAsqzg4GB5eXk5Oww4CONjAACAB5OW8TGF2zRIqX4HBwfLZDI5ORoAAICsw2Kx6NChQ8y2fcSkvJ9BQUEU5B9AyvXB7xkPhjw6Bnl0DPLoGOTRMcijYzg6j+kZH1O4TYOUr3+ZTCY+6AAAABnA1+kfLYyPHYs8OgZ5dAzy6Bjk0THIo2OQR8dwdB7TMj5m6gMAAAAAAAAAuBgKtwAAAADgJN7e3s4O4ZFAHh2DPDoGeXQM8ugY5DFrY6kEAAAAABnC1y4fjMlkUlBQkLPDyPLIo2OQR8cgj45BHh2DPKad1bDK3c315rdSuAUAAACQIf899J0uxF9ydhgAAAAZ5pMzv54OedLZYdwRhVsAAAAAGXIp/rLOX41zdhgAAACPJNebAwwAAAAAAAAAjzkKtwAAAAAAAADgYijcAgAAAAAAAICLoXALAAAAAAAAAC6Gwi0AAAAAAAAAuBgKtwAAAAAAAADgYijcAgAAAAAAAICLoXALAAAAAAAAAC6Gwi0AAAAAAAAAuBgKtwAAAAAAAADgYijcAgAAAAAAAICLoXALAAAAAAAAAC6Gwq2TWKxWZ4eAxxCfOwAAAAAAgKzBw9kBPK5M7u6aNGOtzvwR5+xQ8JgoWcxXw19s6+wwAAAAAAAAkAYUbp3ozB9xOn7qL2eHAQAAgCwsJiZGjRo10ueff64KFSo4OxwAAAA4iFOXStizZ4/69eun8PBwmc1mbd682W6/2Wy+48+8efNsfRo2bJhq/5w5c+yOc+TIEXXu3FnBwcGKiIjQ3LlzH8r5AQAAAA9q+PDhtnFuxYoV1bBhQ73zzju6efOmJKlIkSLavn27ypcv7+RIAQAA4EhOnXEbHx8vs9msdu3aaeDAgan2b9++3W77+++/18iRI/XUU0/ZtQ8aNEgdOnSwbefMmdP2+Pr16+rVq5dq166tsWPH6ujRoxoxYoTy5Mmjjh07OviMAAAAAMerV6+eJk6cqOTkZP32228aNmyY3Nzc9Nprr8lkMsnPz8/ZIQIAAMDBnFq4jYiIUERExF333z4A3bJli8LCwlSiRAm79pw5c951sLp+/XolJSVpwoQJ8vLyUvny5RUVFaWFCxemu3BrsVjS1f9eTCaTw44FpIcjP8cAANwP/+84hpeXl228W6RIEdWpU0c7duyQdOelEo4dO6apU6dqz549MgxDFSpU0KRJk1SyZElJ0meffaYFCxYoJiZGxYoVU2RkpLp06eKckwMAAMAdZZk1buPi4rRt2zZNmjQp1b65c+dq1qxZKlKkiFq0aKHu3bvLw+PWqR04cEDVq1eXl5eXrX94eLjmzp2rK1euKG/evGmO4dChQw9+IpK8vb0VFBTkkGMB6RUdHa2EhARnhwEAADLo6NGj2r9/v4oWLXrH/X///be6du2qmjVravHixcqVK5f27dun5ORkSbcmNkybNk2jRo1ShQoVFBUVpTfffFM5cuRQmzZtHuapAAAA4B6yTOF23bp1ypkzp5o0aWLXHhkZqaCgIOXNm1f79+/Xe++9p9jYWL3++uuSbhV8ixcvbvccX19f2770FG6Dg4OZKYssz2w2OzsEAMBjxGKxOOyP34+zrVu3KjQ0VMnJyUpMTJS7u7vefPPNO/b95JNPlCtXLr333nvy9PSUJJUuXdq2f8aMGRo+fLhtXF2iRAkdP35cK1eupHALAADgQrJM4XbNmjVq2bKlsmXLZtfeo0cP2+PAwEB5enpq9OjRevXVV+1m2TqCyWSicIssj88wAABZT1hYmMaMGaOEhAQtWrRIJpMp1X0fUkRFRal69eq2ou2/xcfH68yZMxo5cqRd4Tc5OVm5c+fOtPgBAACQflmicLt3716dOnVKH3zwwX37hoSEKDk5WTExMSpTpox8fX0VFxdn1ydlO2XmLQAAAODKvL295e/vL0maMGGCWrVqpc8++0zt27dP1Td79ux3PU58fLwk6a233lJISIjdPnd3dwdGDAAAgAeVJUZnq1evVsWKFRUYGHjfvlFRUXJ3d1eBAgUkSVWqVNHevXuVlJRk67Njxw6VLl06XcskAAAAAK7A3d1dffv21bRp0/TPP/+k2m82m1ONf1P4+vqqYMGCOnv2rPz9/e1+br8BMAAAAJzLqYXbGzduKCoqSlFRUZJu3RE3KipK586ds/W5fv26Nm7ceMfZBPv379eiRYt05MgRnT17VuvXr9fEiRP1zDPP2IqyLVu2lKenp0aOHKljx45pw4YNWrJkid0SCwAAAEBW0rRpU7m7u+uTTz5Jta9Lly66fv26Bg8erEOHDun06dP6/PPPdfLkSUnSoEGDNGfOHC1ZskSnTp1SdHS01qxZo4ULFz7s0wAAAMA9OHWphF9//VXdunWzbU+cOFGS1KZNG02aNEmS9PXXX8swDLVo0SLV8728vLRhwwbNnDlTiYmJKl68uLp3725XlM2dO7fmz5+vcePGqW3btsqfP78GDBigjh07ZvLZAQAAAJnDw8NDXbt21bx581S/fn27ffnz59fixYs1ZcoURUZGyt3dXRUqVFC1atUkSe3bt1f27Nk1f/58vfPOO8qRI4cCAgL03HPPOeNUAAAAcBduhmEYzg7C1VksFh04cEBVqlRx6I2dBgyfo+On/nLY8YB7KVe6sD6a1MfZYQAAHjOZNY6Cc6W8r9E3T+qvq7HODgcAACDDCubxVdc6He6639Hj2fQcL0uscQsAAAAAAAAAjxMKtwAAAAAAAADgYijcAgAAAAAAAICLoXALAAAAAAAAAC6Gwi0AAAAAAAAAuBgKtwAAAAAAAADgYijcAgAAAAAAAICLoXALAAAAAAAAAC6Gwi0AAAAAAAAAuBgKtwAAAAAAAADgYijcAgAAAAAAAICLoXALAAAAAAAAAC7Gw9kBAAAAAMia8ufIJ6sMZ4cBAACQYT458zs7hLuicAsAAAAgQ5oEN5TJZHJ2GAAAAA/Ealjl7uZ6CxO4XkQAAAAAsgSLxeLsELI0i8Wiw4cPk8cHRB4dgzw6Bnl0DPLoGOQx7VyxaCtRuAUAAAAAp0lISHB2CI8E8ugY5NExyKNjkEfHII9ZG4VbAAAAAAAAAHAxFG4BAAAAAAAAwMVQuAUAAAAAAAAAF0PhFoDLsFitzg4BjyE+dwAAAAAAV+Th7AAAIIXJ3V0jPl+jk3Fxzg4Fj4kyvr6a0Lqds8MAAAAAACAVCrcAXMrJuDgd+etPZ4cBAAAAAADgVCyVAAAAAABO4u3t7ewQHgnk0THIo2OQR8cgj45BHrM2ZtwCAAAAyBCTyeTsELI0k8mkoKAgZ4eR5ZFHxyCPjkEeHYM8OkZ682g1rHJ3Y46nK6FwCwAAACBDVu76Vn9eveDsMAAAwAMqlMdHXes0c3YYuA2FWwAAAAAZcv7aJf1xKdbZYQAAADySmP8MAAAAAAAAAC6Gwi0AAAAAAAAAuBgKtwAAAAAAAADgYijcAgAAAAAAAICLoXALAAAAAAAAAC6Gwi0AAAAAAAAAuBgKtwAAAAAAAADgYijcAgAAAAAAAICLoXALAAAAAAAAAC6Gwi0AAAAAAAAAuBgKtwAAAAAAAADgYijcAgAAAAAAAICLoXALAAAAAAAAAC6Gwi0AAADggsxmszZv3uzsMAAAAOAkFG4BAACATPTpp58qNDRUycnJtrYbN26oYsWKioyMtOu7a9cumc1mnTlz5qHEFhMTI7PZrKioqIfyegAAAEg7CrcAAABAJgoLC1N8fLx+/fVXW9vevXvl6+urX375RTdv3rS179q1S0WLFlXJkiWdESoAAABcCIVbAAAAIBOVKVNGfn5+2r17t61t9+7datSokYoXL64DBw7YtYeFhdm2L126pBdeeEEhISFq0qSJtmzZYnfso0ePqnfv3goNDVWdOnX02muv6eLFi7b933//vTp16qTq1asrLCxMffv2tZvN26hRI0lS69atZTabU80ABgAAgPNQuAUAAAAyWVhYmHbt2mXb3rVrl2rWrKkaNWrY2v/55x/98ssvdoXbmTNnqlmzZlq/fr3q16+vIUOG6PLly5Kkq1ev6rnnnlNQUJBWr16tefPm6cKFC3r55Zdtz09ISFCPHj20Zs0aLVq0SG5ubnrhhRdktVolSZ999pkkadGiRdq+fbtmzJiRyZkAAABAWjm1cLtnzx7169dP4eHhd7z5wvDhw2U2m+1+evXqZdfn8uXLevXVV1W1alVVr15dI0aM0I0bN+z6HDlyRJ07d1ZwcLAiIiI0d+7cTD83AAAAIEWtWrW0b98+JScn6/r164qKirIVblNm4u7fv1+JiYl2hds2bdqoRYsW8vf31+DBgxUfH6+DBw9KkpYtW6agoCANHjxYZcuWVVBQkCZMmKBdu3bp1KlTkqSnnnpKTZo0kb+/vypUqKAJEybo6NGjOn78uCTJx8dHkpQvXz75+fkpX758DzErAAAAuBcPZ754fHy8zGaz2rVrp4EDB96xT7169TRx4kTbtpeXl93+IUOGKDY2VgsXLlRSUpJGjBihUaNG6d1335UkXb9+Xb169VLt2rU1duxYHT16VCNGjFCePHnUsWPHzDs5AAAA4P+rWbOm4uPjdejQIV29elWlSpWSj4+PatSooddff103b97U7t27VaJECRUtWtT2PLPZbHucI0cO5cqVy7YUwpEjR7Rr1y6Fhoamer0zZ86odOnSOn36tKZPn65ffvlFly5dkmEYkqQ///xTAQEBmXzWAAAAeBBOLdxGREQoIiLinn28vLzk5+d3x30nTpzQDz/8oNWrVys4OFiS9MYbb6hPnz4aOnSoChUqpPXr1yspKUkTJkyQl5eXypcvr6ioKC1cuDDdhVuLxZKu/vdiMpkcdiwgPRz5OXY0rgs4iytfF0BWx/V1i7+/vwoXLqxdu3bpypUrqlGjhiSpUKFCKlKkiPbt26ddu3apVq1ads/z9PS023Zzc7MtcxAfH68GDRpoyJAhqV4vZfzcr18/FStWTOPHj1fBggVltVrVokULJSUlZcZpAgAAwIGcWrhNi927d6t27drKkyePatWqpZdffln58+eXdOvrZHny5LEVbSWpTp06cnd318GDB/Xkk0/qwIEDql69ut1M3fDwcM2dO1dXrlxR3rx50xzLoUOHHHJO3t7eCgoKcsixgPSKjo5WQkKCs8NIhesCzuSq1wWAR0tYWJh2796tK1eu2C3/Vb16dX3//fc6ePCgOnXqlObjVaxYUZs2bVKxYsXk4ZF6WH/p0iWdOnVK48ePV/Xq1SVJe/futeuTUhimwA4AAOB6XLpwW69ePT355JMqXry4zp49q/fee0/PP/+8Vq5cKZPJpLi4ONu6XCk8PDyUN29excbGSpLi4uJUvHhxuz6+vr62fekp3AYHBzMjEFnev79yCeAWrgsg81gsFof98TurCwsL07hx45ScnKyaNWva2mvWrKlx48YpKSnJbn3b++ncubNWrVqlwYMHq3fv3sqXL59+//13bdiwQePHj1fevHmVL18+rVy5Un5+fjp37pxtObEUBQoUUPbs2fXDDz+ocOHCypYtm3Lnzu2wcwYAAEDGuXThtnnz5rbHKTcna9y4sW0W7sNmMpko3CLL4zMMpMZ1AeBhCAsL0z///KMyZcrYJhJIUo0aNXTjxg2VLl1aBQsWTPPxChUqpE8//VRTp05Vr169lJiYqKJFi6pevXpyd3eXm5ub3n//fY0fP14tWrRQ6dKl9cYbbygyMtJ2DA8PD73xxhv68MMPNX36dFWvXl1Lly516HkDAAAgY1y6cHu7EiVKKH/+/Pr9999Vu3Zt+fr62m7OkCI5OVlXrlyxrevl6+uruLg4uz4p2/8eMAMAAACZqXjx4oqOjk7VXqxYsTu236nt9qUOSpUqpZkzZ971NevUqaMNGzbc87jt27dX+/bt7xk7AAAAHj53ZweQHn/99ZcuX75sK8qGhobq6tWr+vXXX219fvrpJ1mtVlWuXFmSVKVKFe3du9fuBgw7duxQ6dKl07VMAgAAAAAAAAA8LE4t3N64cUNRUVGKioqSJMXExCgqKkrnzp3TjRs3NHnyZB04cEAxMTHauXOnBgwYIH9/f9WrV0+SVLZsWdWrV09vvvmmDh48qJ9//llvvfWWmjdvrkKFCkmSWrZsKU9PT40cOVLHjh3Thg0btGTJEvXo0cNp5w0AAAAAAAAA9+LUpRJ+/fVXdevWzbY9ceJESVKbNm00ZswYHT16VJ9//rmuXbumggULqm7dunrppZfk5eVle87UqVP11ltv6bnnnpO7u7uaNGmiN954w7Y/d+7cmj9/vsaNG6e2bdsqf/78GjBggDp27PjwThQAAAAAAAAA0sGphduwsLA7rt2VYv78+fc9Rr58+VLdHfd2gYGBWr58ebrjAwAAAAAAAABnyFJr3AIAAAAAAADA44DCLQAAAAAAAAC4GAq3AAAAAAAAAOBiKNwCAAAAAAAAgIuhcAsAAAAAAAAALobCLQAAAAAAAAC4GAq3AAAAAAAAAOBiKNwCAAAAAAAAgIvxcHYAAAAAALKmgrnzy2JYnR0GAAB4QIXy+Dg7BNwBhVsAAAAAGdIx7EmZTCZnhwEAABzAaljl7saX810J7wYAAACADLFYLM4OIUuzWCw6fPgweXxA5NExyKNjkEfHII+Okd48UrR1PbwjAAAAAOAkCQkJzg7hkUAeHYM8OgZ5dAzy6BjkMWujcAsAAAAAAAAALobCLQAAAAAAAAC4GAq3AAAAAAAAAOBiKNwCAAAAAAAAgIuhcAsAAAAAAAAALobCLQAAAAAAAAC4GAq3AAAAAOAk3t7ezg7hkUAeHYM8OgZ5dAzyCEgezg4AAAAAQNZkMpmcHUKWZjKZFBQU5Owwsjzy6Bjk0THIo2NkpTxarVa5uzMvEpmDwi0AAACADJn73UadvRjn7DAAAHCKoj4F9MKTLZwdBh5hFG4BAAAAZMifly7qdNx5Z4cBAADwSGIuNwAAAAAAAAC4GAq3AAAAAAAAAOBiKNwCAAAAAAAAgIuhcAsAAAAAAAAALobCLQAAAAAAAAC4GAq3AAAAAAAAAOBiKNwCAAAAAAAAgIuhcAsAAAAAAAAALobCLQAAAAAAAAC4GAq3AAAAAAAAAOBiKNwCAAAAAAAAgIuhcAsAAAAAAAAALobCLQAAAAAAAAC4GAq3AAAAAAAAAOBiKNwCAAAAWVxMTIzMZrOioqKcHQoAAAAchMItAAAA4ATDhw+X2WzWqFGjUu0bO3aszGazhg8fnqZjFSlSRNu3b1f58uUdHSYAAACchMItAAAA4CRFihTRhg0b9M8//9jabt68qa+++kpFixZN83FMJpP8/Pzk4eGRGWECAADACSjcAgAAAE4SFBSkIkWK6L///a+t7b///a+KFCmiChUq2Nq+//57derUSdWrV1dYWJj69u2rM2fO2PbfvlRCymze23927dolSUpMTNTkyZNVr149ValSRe3bt7ftAwAAgGugcAsAAAA4Ubt27bR27Vrb9po1a9S2bVu7PgkJCerRo4fWrFmjRYsWyc3NTS+88IKsVusdjzly5Eht377d9tOtWzcVKFBAZcqUkSSNGzdO+/fv1/vvv6/169eradOm6t27t06fPp1p5wkAAID0oXALAAAAONEzzzyjn3/+WX/88Yf++OMP7du3T88884xdn6eeekpNmjSRv7+/KlSooAkTJujo0aM6fvz4HY+ZO3du+fn5yc/PT/v379fKlSs1Y8YM+fn56dy5c1q7dq2mTZum6tWrq2TJkurVq5eqVatmV0AGAACAc7EIFgAAAOBEPj4+euKJJ7Ru3ToZhqEnnnhCPj4+dn1Onz6t6dOn65dfftGlS5dkGIYk6c8//1RAQMBdj3348GENHTpUb775pqpVqyZJOnr0qCwWi5o2bWrXNzExUfny5XPsyQEAACDDKNwCAAAATtauXTuNGzdOkjR69OhU+/v166dixYpp/PjxKliwoKxWq1q0aKGkpKS7HjM2Nlb9+/fXs88+q/bt29va4+PjZTKZtGbNGplMJrvn5MiRw0FnBAAAgAfl1KUS9uzZo379+ik8PFxms1mbN2+27UtKStKUKVPUsmVLValSReHh4Ro6dKj+/vtvu2M0bNgw1U0X5syZY9fnyJEj6ty5s4KDgxUREaG5c+c+lPMDAAAA0qJevXpKSkpScnKywsPD7fZdunRJp06dUv/+/VW7dm2VLVtWV65cuefxbt68qQEDBqhMmTJ6/fXX7fZVqFBBFotFFy9elL+/v92Pn5+fw88NAAAAGePUGbfx8fEym81q166dBg4caLfvn3/+0eHDh9W/f38FBgbq6tWrevvtt9W/f/9Ua28NGjRIHTp0sG3nzJnT9vj69evq1auXateurbFjx+ro0aMaMWKE8uTJo44dO2buCQIAAABpYDKZ9M0339ge/1vevHmVL18+rVy50rZG7bvvvnvP440aNUp//vmnFi9erIsXL9odq3Tp0mrZsqWGDh2q4cOHq0KFCrp06ZJ27twps9msJ554wuHnBwAAgPRzauE2IiJCERERd9yXO3duLVy40K7tzTffVPv27XXu3DkVLVrU1p4zZ867zg5Yv369kpKSNGHCBHl5eal8+fKKiorSwoULKdwCAADAZeTKleuO7e7u7nr//fc1fvx4tWjRQqVLl9Ybb7yhyMjIux5rz549io2N1dNPP23XvmTJEoWFhWnixImaNWuWJk2apPPnzytfvnyqUqUKRVsAAAAXkqXWuL1+/brc3NyUJ08eu/a5c+dq1qxZKlKkiFq0aKHu3bvLw+PWqR04cEDVq1eXl5eXrX94eLjmzp2rK1euKG/evGl+fYvF4pgTUeqZFMDD4sjPsaNxXcBZXPm6ALI6rq+7mzRp0j33f/TRR7bHderU0YYNG+z2R0dH2x4XL17cbvu7776757E9PT01aNAgDRo0KD0hAwAA4CHKMoXbmzdvaurUqWrevLndbITIyEgFBQUpb9682r9/v9577z3Fxsba1vKKi4tT8eLF7Y7l6+tr25eewu2hQ4cccCaSt7e3goKCHHIsIL2io6OVkJDg7DBS4bqAM7nqdQEAAAAAeHxlicJtUlKSXnrpJRmGobFjx9rt69Gjh+1xYGCgPD09NXr0aL366qt2s2wdITg4mBmByPLMZrOzQwBcDtcFkHksFovD/vgNAAAAPE5cvnCblJSkl19+WefOndPixYvvuvZXipCQECUnJysmJkZlypSRr6+v4uLi7PqkbKfMvE0rk8lE4RZZHp9hIDWuCwAAAACAq3F3dgD3klK0/f3337Vo0SLlz5//vs+JioqSu7u7ChQoIEmqUqWK9u7dq6SkJFufHTt2qHTp0ulaJgEAAAAAAAAAHhanFm5v3LihqKgoRUVFSZJiYmIUFRWlc+fOKSkpSYMGDdKvv/6qqVOnymKxKDY2VrGxsUpMTJQk7d+/X4sWLdKRI0d09uxZrV+/XhMnTtQzzzxjK8q2bNlSnp6eGjlypI4dO6YNGzZoyZIldkssAAAAAAAAAIArcepSCb/++qu6detm2544caIkqU2bNho4cKDtbritWrWye96SJUsUFhYmLy8vbdiwQTNnzlRiYqKKFy+u7t272xVlc+fOrfnz52vcuHFq27at8ufPrwEDBqhjx44P4QwBAAAAAAAAIP2cWrgNCwtTdHT0Xfffa58kVaxYUatWrbrv6wQGBmr58uXpjg8AAAAAAAAAnMGl17gFAAAAAAAAgMcRhVsAAAAAAAAAcDEUbgEAAAAAAADAxVC4BQAAAAAAAAAXQ+EWAAAAAAAAAFyMh7MDAAAAAJA1Fcnvo2TD6uwwAABwiqI+BZwdAh5xFG4BAAAAZMjzDZvKZDI5OwwAAJzGarXK3Z0vtCNz8MkCAAAAkCEWi8XZIWRpFotFhw8fJo8PiDw6Bnl0DPLoGFkpjxRtkZn4dAEAAACAkyQkJDg7hEcCeXQM8ugY5NExyCNA4RYAAAAAAAAAXA6FWwAAAAAAAABwMRRuAQAAAAAAAMDFULgFAAAAAAAAABdD4RYAAAAAAAAAXAyFWwAAAAAAAABwMRRuAQAAAMBJvL29nR3CI4E8OgZ5dAzy6BjkEZA8nB0AAAAAgKzJZDI5O4QszWQyKSgoyNlhZHnk0THIo2OQR8e4Xx4tVqtM7sxFxKOPwi0AAACADHn/q690Oi7O2WEAAB4jJQoU0LDWrZ0dBvBQULgFAAAAkCF/XLyo43/95ewwAAAAHknMKwcAAAAAAAAAF0PhFgAAAAAAAABcDIVbAAAAAAAAAHAxFG4BAAAAAAAAwMVQuAUAAAAAAAAAF0PhFgAAAAAAAABcDIVbAAAAAAAAAHAxFG4BAAAAAAAAwMVQuAUAAAAAAAAAF0PhFgAAAAAAAABcDIVbAAAAAAAAAHAxFG4BAAAAAAAAwMVQuAUAAAAAAAAAF0PhFgAAAAAAAABcDIVbAAAAIJPFxsbqrbfeUqNGjVSpUiVFRESoX79+2rlzZ5qeP2PGDLVq1SpVu9ls1ubNmx0dLgAAAFyAh7MDAAAAAB5lMTEx6tSpk/LkyaOhQ4cqICBAycnJ2r59u8aOHauNGzc6O0QAAAC4IGbcAgAAAJlo7NixcnNz02effaannnpKpUuXVvny5dWjRw+tWrVKknTu3Dn1799foaGhqlq1ql566SXFxcVJktauXauZM2fqyJEjMpvNMpvNWrt2rRo2bChJeuGFF2Q2m23bkrR8+XI1btxYlSpV0lNPPaXPP//cLiaz2azPPvtML7zwgkJCQtSkSRNt2bLl4SQEAAAAaULhFgAAAMgkly9f1g8//KAuXbooR44cqfbnyZNHVqtVAwYM0JUrV7R06VItXLhQZ8+e1SuvvCJJevrpp9WzZ0+VL19e27dv1/bt2/X0009r9erVkqSJEydq+/bttu1vv/1WEyZMUI8ePfTll1/qP//5j0aMGKGffvrJ7rVnzpypZs2aaf369apfv76GDBmiy5cvZ25CAAAAkGYslQAAAABkkjNnzsgwDJUpU+aufXbu3KmjR49qy5YtKlKkiCTpnXfeUfPmzXXw4EFVrlxZOXLkkMlkkp+fn+152bNnl3Sr+Pvv9vnz56tNmzbq0qWLJKl06dI6cOCAFixYoFq1atn6tWnTRi1atJAkDR48WEuXLtXBgwdVv359xyUAAAAAGcaMWwAAACCTGIZx3z4nTpxQ4cKFbUVbSSpXrpzy5MmjkydPpvs1T548qapVq9q1Va1aVSdOnLBrM5vNtsc5cuRQrly5dPHixXS/HgAAADIHhVsAAAAgk/j7+8vNzS1DBdjM5unpabft5uYmq9XqpGgAAABwOwq3AAAAQCbJly+fwsPD9cknnyg+Pj7V/qtXr6ps2bL666+/9Oeff9rajx8/btsn3Sqy3qmo6unpKYvFYtdWpkwZ7du3z65t3759KleunCNOCQAAAA8JhVsAAAAgE40ePVpWq1Xt27fXpk2bdPr0aZ04cUJLlixRx44dVadOHQUEBGjIkCH67bffdPDgQQ0dOlQ1a9ZUcHCwJKlYsWKKiYlRVFSULl68qMTERFv7zp07FRsbqytXrkiSevfurXXr1mn58uU6ffq0Fi5cqG+//VY9e/Z0Wg4AAACQfhRuAQAAgExUokQJrV27VmFhYZo8ebJatGihHj16aOfOnRozZozc3Nz00UcfKU+ePOratau6d++uEiVK6P3337cd46mnnlK9evXUrVs31a5dW1999ZUkadiwYdqxY4eeeOIJtWnTRpLUuHFjjRgxQgsWLFCLFi20YsUKTZgwQWFhYU45fwAAAGSMh7MDAAAAAB51BQsW1KhRozRq1Kg77i9atKhmzZp11+d7eXlp+vTpqdobNmyohg0bpmrv3LmzOnfufNfjRUdHp2rbu3fvXfsDAADg4XPqjNs9e/aoX79+Cg8Pl9ls1ubNm+32G4ahadOmKTw8XJUrV1b37t11+vRpuz6XL1/Wq6++qqpVq6p69eoaMWKEbty4YdfnyJEj6ty5s4KDgxUREaG5c+dm9qkBAAAAAAAAQIY5tXAbHx8vs9ms0aNH33H/3LlztXTpUo0ZM0arVq2St7e3evXqpZs3b9r6DBkyRMePH9fChQs1e/Zs7d27124mw/Xr19WrVy8VLVpUa9eu1dChQzVz5kytXLky088PAAAAAAAAADIiQ4Xbbt266erVq6nar1+/rm7duqX5OBEREXrllVf05JNPptpnGIaWLFmi/v37q3HjxgoMDNQ777yj8+fP22bmnjhxQj/88IPGjx+vkJAQVa9eXW+88Ya+/vpr/f3335Kk9evXKykpSRMmTFD58uXVvHlzRUZGauHChRk5dQAAAAAAAADIdBla43b37t1KSkpK1X7z5k39/PPPDxyUJMXExCg2NlZ16tSxteXOnVshISHav3+/mjdvrv379ytPnjy2u+1KUp06deTu7q6DBw/qySef1IEDB1S9enV5eXnZ+oSHh2vu3Lm6cuWK8ubNm+aYLBaLQ85Nkkwmk8OOBaSHIz/HjsZ1AWdx5esCyOq4vgAAAICMSVfh9siRI7bHx48fV2xsrG3barXqhx9+UKFChRwSWMqxCxQoYNdeoEABxcXFSZLi4uLk4+Njt9/Dw0N58+a1PT8uLk7Fixe36+Pr62vbl57C7aFDh9J3Enfh7e2toKAghxwLSK/o6GglJCQ4O4xUuC7gTK56XQAAAAAAHl/pKty2bt1abm5ucnNz03PPPZdqf/bs2fXGG284LDhXExwczIxAZHlms9nZIQAuh+sCyDwWi8Vhf/wGAAAAHifpKtxu2bJFhmGocePG+uyzz+xmu3p6eqpAgQIOK2z6+flJki5cuKCCBQva2i9cuKDAwEBJt2bOXrx40e55ycnJunLliu35vr6+thm6KVK2U2beppXJZKJwiyyPzzCQGtcFkHWcPHlSy5Yt04kTJyRJZcuWVdeuXVWmTBknRwYAAAA4VrpuTlasWDEVL15cR44cUXBwsIoVK2b7KViwoEN/8S1evLj8/Py0c+dOW9v169f1yy+/KDQ0VJIUGhqqq1ev6tdff7X1+emnn2S1WlW5cmVJUpUqVbR37167NXl37Nih0qVLp2uZBAAAADjXpk2b1LJlS/32228KDAxUYGCgDh8+rJYtW2rTpk3ODg8AAABwqAzdnEySTp8+rV27dunChQuyWq12+wYOHJimY9y4cUNnzpyxbcfExCgqKkp58+ZV0aJF1a1bN82aNUv+/v4qXry4pk2bpoIFC6px48aSbs2wqFevnt58802NHTtWSUlJeuutt9S8eXPbWrstW7bUhx9+qJEjR+r555/XsWPHtGTJEr3++usZPXUAAAA4wZQpU9SnTx+99NJLdu3Tp0/XlClT9NRTTzkpMgAAAMDxMlS4XbVqlcaMGaP8+fPL19dXbm5utn1ubm5pLtz++uuv6tatm2174sSJkqQ2bdpo0qRJev7555WQkKBRo0bp6tWrqlatmubNm6ds2bLZnjN16lS99dZbeu655+Tu7q4mTZrYrbObO3duzZ8/X+PGjVPbtm2VP39+DRgwQB07dszIqQMAAMBJYmNj1bp161TtzzzzjObPn//wAwIAAAAyUYYKt7NmzdLLL7+sPn36PNCLh4WFKTo6+q773dzc9NJLL6WaVfFv+fLl07vvvnvP1wkMDNTy5cszHCcAAACcr2bNmtq7d6/8/f3t2n/++WdVr17dSVEBAAAAmSNDhdsrV66oWbNmjo4FAAAAuKuGDRtq6tSp+u233xQSEiJJ+uWXX7Rx40a9+OKL2rJli61vo0aNnBUmAAAA4BAZKtw2bdpU27dvV6dOnRwdDwAAAHBHY8eOlSQtX7481bepUvZJt761FRUV9VBje1wV8/FR0m33uwAAIDOVKFDA2SEAD02GCrf+/v6aNm2afvnlFwUEBMjDw/4w/163FgAAAHCEI0eOODsE3OaVFi1kMpmcHQYA4DFjsVplcnd3dhhApstQ4XblypXKkSOHdu/erd27d9vtc3Nzo3ALAAAAPAYsFguF2wdgsVgUHR0ts9lMHh8AeXQM8ugY5NEx7pdHirZ4XGSocPvdd985Og4AAADgvnbv3q0FCxboxIkTkqSyZcuqd+/e3JwMWVZCQoKzQ3gkkEfHII+OQR4dgzwCEn+iAAAAQJbwxRdfqEePHsqePbsiIyMVGRmp7Nmzq3v37vryyy+dHR4AAADgUBmacfv666/fc//EiRMzFAwAAABwN7Nnz9Zrr72m7t2729q6deumhQsX6qOPPlLLli2dFxwAAADgYBmacXv16lW7n4sXL2rXrl369ttvde3aNUfHCAAAAOjs2bNq0KBBqvaGDRsqJibGCREBAAAAmSdDM24//PDDVG1Wq1VjxoxRiRIlHjgoAAAA4HZFihTRzp075e/vb9e+Y8cOFSlSxElRAQAAAJkjQ4XbO3F3d1f37t3VrVs3Pf/88446LAAAACBJ6tGjh8aPH6+oqCiFhoZKkvbt26d169Zp5MiRTo4OAAAAcCyHFW6lW19fS05OduQhAQAAAElS586d5efnpwULFmjjxo2SpDJlyuj9999X48aNnRwdAAAA4FgZKtzefvMxwzAUGxurrVu3qk2bNg4JDAAAAEiRnJys2bNn69lnn9Wnn37q7HAAh/H29nZ2CI8E8ugY5NExyCMAR8lQ4fbw4cN22+7u7vLx8dHw4cPVrl07hwQGAAAApPDw8ND8+fPVunVrZ4eCfzGZTM4OIUszmUwKCgpydhhZHnl0DPLoGOTxwVisVpnc3Z0dBuAyMlS4Xbp0qaPjAAAAAO6pVq1a2rNnj4oXL+7sUPD/vf3Zeh3/67yzwwAAPAJKFfTTuM5tnR0G4FIeaI3bixcv6uTJk5JurS/m4+PjkKAAAACA29WvX1/vvvuujh49qooVK6b6KmqjRo2cFNnj60xsnKL/+MvZYQAAADySMlS4jY+P11tvvaUvvvhCVqtV0q2vA7Rq1Upvvvkm67kAAADA4caOHStJWrhwYap9bm5uioqKetghAQAAAJkmQ4XbSZMmac+ePZo1a5aqVasmSfr55581fvx4TZo0yTaoBgAAABzlyJEjzg4BAAAAeGgytOLzpk2b9PbbbysiIkK5cuVSrly5FBERobfeekubNm1ydIwAAAB4jO3cuVNPP/20rl+/nmrftWvX1Lx5c+3du9cJkQEAAACZJ0OF23/++Ue+vr6p2gsUKKB//vnngYMCAAAAUixevFgdOnRQrly5Uu3LnTu3OnbseMflEwAAAICsLEOF2ypVqmj69Om6efOmre2ff/7RzJkzVaVKFUfFBgAAACg6Olr16tW76/66devqt99+e4gRAQAAAJkvQ2vcjhgxQr1791b9+vUVGBgo6daaY15eXlqwYIFDAwQAAMDjLS4uTh4edx+2enh46OLFiw8xIgAAACDzZahwazab9d///ldffvmlTp48KUlq0aKFWrZsqezZszs0QAAAADzeChUqpGPHjsnf3/+O+6Ojo+Xn5/eQowIAAAAyV4YKtx9//LEKFCigDh062LWvXr1aFy9eVJ8+fRwSHAAAABAREaFp06apXr16ypYtm92+f/75RzNmzFCDBg2cFB0AAACQOTK0xu3KlStVpkyZVO3ly5fXihUrHjgoAAAAIEX//v11+fJlPfXUU5o7d642b96szZs3a86cOWratKkuX76sfv36OTtMAAAAwKEyNOM2Njb2jl9H8/HxUWxs7AMHBQAAAKTw9fXVihUrNGbMGL333nsyDEOS5ObmpvDwcI0aNUq+vr5OjhIAAABwrAwVbosUKaJ9+/apRIkSdu0///yzChYs6JDAAAAAgBTFihXT3LlzdeXKFf3++++SJH9/f+XNm9fJkQEAAACZI0OF2/bt22vChAlKTk5WrVq1JEk7d+7UlClT1LNnT4cGCAAAAKTImzevKleu7OwwAAAAgEyXocJt7969dfnyZY0dO1ZJSUmSpGzZsql3797q27evQwMEAAAAAAAAgMdNhgq3bm5ueu211zRgwACdOHFC2bNnV6lSpeTl5eXo+AAAAAD8fw0bNlS3bt3UvXt3Z4cCAACATJahwm2KnDlz8lU1AAAAII2GDx+udevWSZI8PT1VpEgRtWrVSv369ZOHxwMNzQEAAPCIYXQIAAAAPET16tXTxIkTlZiYqG3btmncuHHy9PRkyTEAAADYcXd2AAAAAMDjxMvLS35+fipWrJg6d+6sOnXq6LvvvlNkZKTefvttu74DBgzQ8OHD73gcwzA0Y8YMPfHEE6pUqZLCw8M1fvx42/7ExERNnjxZ9erVU5UqVdS+fXvt2rXLtv+PP/5Qv379VKNGDVWpUkXNmzfXtm3bMuekAQAAkG7MuAUAAACcKFu2bLp8+XK67xexadMmLVq0SO+9957Kly+vuLg4HTlyxLZ/3LhxOn78uN5//30VLFhQ3377rXr37q0vv/xSpUqV0rhx45SUlKRly5YpR44cOn78uHLkyOHo0wMAAEAGUbgFAAAAnMAwDO3cuVPbt29X165d9euvv6br+X/++ad8fX1Vp04deXp6qmjRorb7T5w7d05r167V//3f/6lQoUKSpF69eumHH37Q2rVrNXjwYJ07d05PPfWUzGazJKlEiRKOPUEAAAA8EAq3AAAAwEO0detWhYaGKikpSYZhqEWLFnrxxRfTvcZt06ZNtXjxYjVu3Fj16tVTRESEGjRoIA8PDx09elQWi0VNmza1e05iYqLy5csnSerWrZvGjBmj7du3q06dOmrSpIkCAwMddZoAAAB4QBRuAQAAgIcoLCxMY8aMkaenpwoWLCgPj1tDcjc3NxmGYdc3OTn5rscpUqSINm7cqB07dmjHjh0aO3as5s+fr6VLlyo+Pl4mk0lr1qyRyWSye17Kcgjt27dXeHi4tm7dqh9//FFz5szRsGHDFBkZ6eAzBgAAQEZQuAUAAAAeIm9vb/n7+6dq9/HxUWxsrG3bYrHo2LFjCgsLu+uxsmfProYNG6phw4bq3LmzmjVrpqNHj6pChQqyWCy6ePGiqlevftfnFylSRJ06dVKnTp307rvvatWqVRRuAQAAXASFWwAAAMAF1KpVS5MmTdLWrVtVokQJLVq0SFevXr1r/7Vr18pisSgkJETe3t5av369smfPrqJFiyp//vxq2bKlhg4dquHDh6tChQq6dOmSdu7cKbPZrCeeeEJvv/226tevr1KlSunq1avatWuXypYt+xDPGAAAAPdC4RYAAABwAe3atdORI0c0bNgwmUwmde/e/Z6zbfPkyaM5c+Zo0qRJslqtCggI0OzZs5U/f35J0sSJEzVr1ixNmjRJ58+fV758+VSlShU98cQTkiSr1apx48bpr7/+Uq5cuVSvXj29/vrrD+NUAQAAkAYUbgEAAICHZNKkSXfd5+npqTFjxmjMmDF37fPdd9/ZHjdu3FiNGze+5/EGDRqkQYMG3XH/m2++ef+AAQAA4DTuzg4AAAAAAAAAAGCPwi0AAAAAAAAAuBgKtwAAAAAAAADgYijcAgAAAAAAAICLcfmbkzVs2FB//PFHqvbOnTtr9OjRioyM1O7du+32dezYUePGjbNtnzt3TmPGjNGuXbuUI0cOtW7dWq+++qo8PFz+9AEAAAAAAAA8hly+crl69WpZLBbb9rFjx9SjRw81bdrU1tahQwe7u+V6e3vbHlssFvXt21e+vr5asWKFzp8/r2HDhsnT01ODBw9+OCcBAAAAAAAAAOng8oVbHx8fu+05c+aoZMmSqlmzpq0te/bs8vPzu+Pzt2/fruPHj2vhwoXy9fVVhQoV9NJLL2nq1KkaOHCgvLy8MjV+AAAAAAAAAEgvly/c/ltiYqLWr1+vHj16yM3Nzdb+5Zdfav369fLz81ODBg00YMAA26zbAwcOKCAgQL6+vrb+4eHhGjNmjI4fP66goKA0v/6/Z/4+KJPJ5LBjAenhyM+xo3FdwFlc+boAsjquLwAAACBjslThdvPmzbp27ZratGlja2vRooWKFi2qggULKjo6WlOnTtWpU6c0c+ZMSVJcXJxd0VaSbTs2NjZdr3/o0KEHPINbvL2901UwBhwpOjpaCQkJzg4jFa4LOJOrXhcAAAAAgMdXlircrlmzRvXr11ehQoVsbR07drQ9NpvN8vPzU/fu3XXmzBmVLFnSoa8fHBzMjEBkeWaz2dkhAC6H6wLIPBaLxWF//AYAAAAeJ1mmcPvHH39ox44dmjFjxj37hYSESJJ+//13lSxZUr6+vjp48KBdn7i4OEm667q4d2MymSjcIsvjMwykxnUBAAAAAHA17s4OIK3Wrl2rAgUK6Iknnrhnv6ioKEn/K8pWqVJFR48e1YULF2x9duzYoVy5cqlcuXKZFi8AAAAAAAAAZFSWmHFrtVq1du1atW7dWh4e/wv5zJkz+vLLLxUREaF8+fIpOjpaEydOVI0aNRQYGCjp1o3IypUrp6FDh+q1115TbGysPvjgA3Xp0kVeXl7OOiUAAAAAAAAAuKssUbjdsWOHzp07p3bt2tm1e3p6aufOnVqyZIni4+NVpEgRNWnSRAMGDLD1MZlMmj17tsaMGaOOHTvK29tbbdq00aBBgx72aQAAAACPlJJ+vkq0WJ0dBgDgEVCqYPqWswQeB1micBseHq7o6OhU7UWKFNGyZcvu+/xixYpp7ty5mREaAAAA8Nga2f4Z1gkHADiMxWqVyT3LrOoJZDquBgAAAAAZYrFYnB1ClmaxWHT48GHy+IDIo2OQR8cgjw+Goi1gjysCAAAAAJwkISHB2SE8EsijY5BHxyCPAByFwi0AAAAAAAAAuBgKtwAAAAAAAADgYijcAgAAAAAAAICLoXALAAAAAAAAAC6Gwi0AAAAAAAAAuBgKtwAAAAAAAADgYijcAgAAAICTeHt7OzuERwJ5dAzy6BjkEYCjeDg7AAAAAABZk8lkcnYIWZrJZFJQUJCzw8jyyKNjkEfHyIw8WqxWmdyZdwc8jijcAgAAAMiQUUvW6egf550dBgA8ssoU8dPkXu2dHQYAJ6FwCwAAACBDTv99QVFn/3R2GAAAAI8k5toDAAAAAAAAgIuhcAsAAAAAAAAALobCLQAAAAAAAAC4GAq3AAAAAAAAAOBiKNwCAAAAAAAAgIuhcAsAAAAAAAAALobCLQAAAAAAAAC4GAq3AAAAAAAAAOBiKNwCAAAAAAAAgIuhcAsAAAAAAAAALobCLQAAAAAAAAC4GAq3AAAAAAAAAOBiKNwCAAAAAAAAgIuhcAsAAABkATNmzFCrVq2cHQYAAAAeEgq3AAAAeOzExsZq/PjxevLJJxUcHKw6deroP//5j5YvX66EhARnh/fQxMTEyGw2KyoqytmhAAAA4DYezg4AAADcndWwyt2Nv7Pi4XrUP3dnz55Vp06dlDt3br3yyisym83y8vJSdHS0Vq1apUKFCqlRo0apnpeUlCRPT08nRAwAAIDHEYVbAABcmLubuxb/ukR/xf/t7FDwmCico5Ceq9TN2WFkqjFjxshkMmnNmjXKkSOHrb1EiRJq3LixDMOQJJnNZo0ePVrff/+9fvrpJ/Xq1Usvvviili9frgULFuivv/5SsWLF1L9/f7Vu3VrSrRmsjRo10ueff64KFSpIkq5evaoaNWpoyZIlCgsL065du9StWzctWrRIU6ZM0YkTJ1ShQgVNmDBBZcqUscUzZ84cLVq0SAkJCWrWrJl8fHzszmP48OG6evWqqlWrpoULFyopKUlPP/20RowYYSswm81mffjhh2rcuLHtedWrV9eIESPUtm1bW4E6Jf6aNWtq6dKljk04AAAAMoTCLQAALu6v+L8Vcy3G2WEAj4RLly7pxx9/1ODBg+2Ktv/m5uZmezxz5ky9+uqrGjlypEwmk7799ltNmDBBr7/+uurUqaOtW7dqxIgRKly4sGrVqpWuWN5//30NHz5cPj4+Gj16tEaMGKEVK1ZIkjZs2KAZM2Zo1KhRqlatmr744gstXbpUJUqUsDvGrl275Ofnp8WLF+vMmTN65ZVXVKFCBXXo0CFNMXz22Wdq3769Fi1apHLlyjGjGAAAwIVQuAUAAMBj48yZMzIMQ6VLl7ZrDwsLU2JioiSpc+fOeu211yRJLVq0ULt27Wz9Bg8erDZt2qhLly6SpNKlS+vAgQNasGBBugu3r7zyimrWrClJ6tOnj/r06aObN28qW7ZsWrJkiZ599lm1b9/e1nfnzp26efOm3THy5s2rUaNGyWQyqWzZsoqIiNDOnTvTXLhNmcWbL18++fn5pSt+AAAAZK5Hd/EyAAAAII1Wr16tzz//XOXKlbMVcCWpUqVKdv1OnjypqlWr2rVVrVpVJ06cSPdrms1m2+OUoumFCxckSSdOnFBISIhd/ypVqqQ6Rrly5WQymeyOk3IMAAAAZG3MuAUAAMBjo2TJknJzc9OpU6fs2lOWIMiePbtd+92WU7gbd/db8yJS1smVpOTk5Dv29fD431A8ZXkGq9Wartf79zFSjvPv1759+17xAAAAwLUw4xYAAACPjfz586tu3bpatmyZ4uPj0/38MmXKaN++fXZt+/btU7ly5ST9b+mB2NhY2/6oqKh0v07ZsmX1yy+/2LXdvp0WPj4+On/+vG379OnTSkhIsG2nrGlrsVjSfWwAAABkLgq3AAAAeKyMHj1aFotF7dq104YNG3TixAmdPHlSX3zxhU6ePGm39MDtevfurXXr1mn58uU6ffq0Fi5cqG+//VY9e/aUdGvGbpUqVTRnzhydOHFCu3fv1gcffJDuGLt166Y1a9ZozZo1OnXqlKZPn65jx46l+zi1atXSJ598osOHD+vQoUMaPXq03Q3IChQooOzZs+uHH35QXFycrl27lu7XAAAAQOagcAsAAIDHSsmSJbVu3TrVqVNH7777rlq1aqV27dpp2bJl6tmzp1566aW7Prdx48YaMWKEFixYoBYtWmjFihWaMGGCwsLCbH0mTJggi8Witm3basKECXr55ZfTHePTTz+tAQMGaMqUKWrbtq3OnTunTp06pfs4w4YNU5EiRdSlSxcNGTJEPXv2tFsOwsPDQ2+88YZWrlypevXqacCAAel+DQAAAGQON+P2Ra+QisVi0YEDB1SlSpV7zsBIrwHD5+j4qb8cdjzgXsqVLqyPJvVxdhj39Z95H+vIX386Oww8JgILF9GK3n2dHcZ9Td49RTHXYpwdBh4TxXMX17CarznseJk1joJzpbyv7327V7+c4t8nAMgsFUoU0WdvPH5/VGP84Bjk0TEcncf0HI8ZtwAAAAAAAADgYijcAgAAAAAAAICLoXALAAAAAAAAAC6Gwi0AAAAAAAAAuBgKtwAAAAAAAADgYijcAgAAAAAAAICLoXALAAAAAAAAAC7GpQu3M2bMkNlstvtp2rSpbf/Nmzc1duxYhYWFKTQ0VC+++KLi4uLsjnHu3Dn16dNHISEhql27tiZPnqzk5OSHfSoAAAAAAAAAkGYezg7gfsqXL6+FCxfatk0mk+3xhAkTtG3bNn3wwQfKnTu33nrrLQ0cOFArVqyQJFksFvXt21e+vr5asWKFzp8/r2HDhsnT01ODBw9+6OcCAAAAAAAAAGnh0jNupVuFWj8/P9uPj4+PJOnatWtas2aNhg8frtq1a6tSpUqaMGGC9u/frwMHDkiStm/fruPHj2vKlCmqUKGCIiIi9NJLL+mTTz5RYmKiE88KAAAAAAAAAO7O5Wfc/v777woPD1e2bNlUpUoVvfrqqypatKh+/fVXJSUlqU6dOra+ZcuWVdGiRXXgwAFVqVJFBw4cUEBAgHx9fW19wsPDNWbMGB0/flxBQUHpisVisTjsvP49cxh4mBz5OXY0rgs4C9cFkJqjrgtXvr4AAAAAV+bShdvKlStr4sSJKl26tGJjY/Xhhx+qS5cu+vLLLxUXFydPT0/lyZPH7jkFChRQbGysJCkuLs6uaCvJtp3SJz0OHTqUwTOx5+3tne6iMeAo0dHRSkhIcHYYqXBdwJm4LoDUXPW6AAAAAB4XLl24jYiIsD0ODAxUSEiIGjRooG+++UbZs2d/6PEEBwcz8wlZntlsdnYIgMvhugBSc9R1YbFYHPbHb7ieUoUKKDGZWdUAkFnKFPFzdggAnMilC7e3y5Mnj0qVKqUzZ86oTp06SkpK0tWrV+1m3V64cEF+frf+YfP19dXBgwftjhEXFydJtj7pYTKZKNwiy+MzDKTGdQGkxnWBtBjXrQ2fFQDIZBarVSZ3l79FEYBMkKWu/Bs3bujs2bPy8/NTpUqV5OnpqZ07d9r2nzx5UufOnVOVKlUkSVWqVNHRo0d14cIFW58dO3YoV65cKleu3MMOHwAAAHiksIbxg7FYLDp8+DB5fEDk0THIo2NkRh4p2gKPL5eecTt58mQ1aNBARYsW1fnz5zVjxgy5u7urRYsWyp07t9q1a6dJkyYpb968ypUrl8aPH6/Q0FBb4TY8PFzlypXT0KFD9dprryk2NlYffPCBunTpIi8vL+eeHAAAAIDHHmtJOwZ5dAzy6BjkEYCjuHTh9q+//tLgwYN1+fJl+fj4qFq1alq1apV8fHwkSSNGjJC7u7sGDRqkxMREhYeHa/To0bbnm0wmzZ49W2PGjFHHjh3l7e2tNm3aaNCgQc46JQAAAAAAAAC4L5cu3L7//vv33J8tWzaNHj3arlh7u2LFimnu3LmODg0AAAAAAAAAMg0LpQAAAAAAAACAi6FwCwAAAAAAAAAuhsItAAAAAAAAALgYCrcAAAAAAAAA4GIo3AIAAACAk3h7ezs7hEcCeXQM8ugY5BGAo3g4OwAAAAAAWZPJZHJ2CFmayWRSUFCQs8PI8sijY5BHx0hPHi1Wq0zuzKcDcHcUbgEAAABkyOiP1+jomb+dHQYAZDllihXUpBc7OjsMAC6Owi0AAACADDl9Lk5Rp885OwwAAIBHEnPyAQAAAAAAAMDFULgFAAAAAAAAABdD4RYAAAAAAAAAXAyFWwAAAAAAAABwMRRuAQAAAAAAAMDFULgFAAAAAAAAABdD4RYAAAAAAAAAXAyFWwAAAAAAAABwMRRuAQAAAAAAAMDFULgFAAAAAAAAABdD4RYAAAAAAAAAXAyFWwAAAAAAAABwMRRuAQAAAAAAAMDFULgFAAAAshiz2azNmzffdf+uXbtkNpt19epVSdLatWtVvXp12/4ZM2aoVatWtu3hw4drwIABmRcwAAAA0s3D2QEAAAAAsBcbG6vZs2dr69at+vvvv1WgQAFVqFBBzz33nGrXrn3f54eGhmr79u3KnTt3ml5v5MiRMgzjQcMGAACAA1G4BQAAAFxITEyMOnXqpDx58mjo0KEKCAhQcnKytm/frrFjx2rjxo33PYaXl5f8/PzS/JppLfACAADg4WGpBAAAAMCFjB07Vm5ubvrss8/01FNPqXTp0ipfvrx69OihVatW2fpdunRJL7zwgkJCQtSkSRNt2bLFtu/2pRLuh6USAAAAXA+FWwAAAMBFXL58WT/88IO6dOmiHDlypNqfJ08e2+OZM2eqWbNmWr9+verXr68hQ4bo8uXLDzFaAAAAZCYKtwAAAICLOHPmjAzDUJkyZe7bt02bNmrRooX8/f01ePBgxcfH6+DBgw8hSgAAADwMFG4BAAAAF5GeG4SZzWbb4xw5cihXrly6ePFiZoQFAAAAJ6BwCwAAALgIf39/ubm56eTJk/ft6+npabft5uYmq9WaWaEBAADgIaNwCwAAALiIfPnyKTw8XJ988oni4+NT7U/rzcYAAACQ9VG4BQAAAFzI6NGjZbVa1b59e23atEmnT5/WiRMntGTJEnXs2NHZ4QEAAOAh8XB2AAAAAAD+p0SJElq7dq1mz56tyZMn6/z58/Lx8VHFihU1ZswYZ4cHAACAh4TCLQAAAOBiChYsqFGjRmnUqFF33B8dHZ2qbe/evbbHYWFhdn3atm2rtm3b2rZffPFFvfjii7btSZMmOSJsAAAAOBBLJQAAAAAAAACAi6FwCwAAAAAAAAAuhsItAAAAAAAAALgYCrcAAAAAAAAA4GIo3AIAAAAAAACAi6FwCwAAAAAAAAAuhsItAAAAAAAAALgYCrcAAAAAAAAA4GIo3AIAAAAAAACAi6FwCwAAAAAAAAAuhsItAAAAAAAAALgYCrcAAAAAAAAA4GJcunD78ccfq127dgoNDVXt2rU1YMAAnTx50q5PZGSkzGaz3c+oUaPs+pw7d059+vRRSEiIateurcmTJys5OflhngoAAAAAAAAApJmHswO4l927d6tLly4KDg6WxWLRe++9p169eunrr79Wjhw5bP06dOigQYMG2ba9vb1tjy0Wi/r27StfX1+tWLFC58+f17Bhw+Tp6anBgwc/1PMBAAAAHiWlivoqMdni7DAAIMspU6ygs0MAkAW4dOF2/vz5dtuTJk1S7dq19dtvv6lGjRq29uzZs8vPz++Ox9i+fbuOHz+uhQsXytfXVxUqVNBLL72kqVOnauDAgfLy8kpzPBaL4walJpPJYccC0sORn2NH47qAs3BdAKk56rpw5esLD25s33b8OwUAGWSxWmVyd+kvQgNwMpcu3N7u2rVrkqS8efPatX/55Zdav369/Pz81KBBAw0YMMA26/bAgQMKCAiQr6+vrX94eLjGjBmj48ePKygoKM2vf+jQIQecxa0Zwel5XcCRoqOjlZCQ4OwwUuG6gDNxXQCpuep1AddisVgo3D4Ai8Wi6Ohomc1m8vgAyKNjkEfHSE8eKdoCuJ8sU7i1Wq2aMGGCqlatqoCAAFt7ixYtVLRoURUsWFDR0dGaOnWqTp06pZkzZ0qS4uLi7Iq2kmzbsbGx6YohODiY/8CQ5ZnNZmeHALgcrgsgNUddFxaLxWF//AYeRfyBxDHIo2OQR8cgjwAcJcsUbseOHatjx45p+fLldu0dO3a0PTabzfLz81P37t115swZlSxZ0qExmEwmCrfI8vgMA6lxXQCpcV0AAAAAzpUl5uWPGzdOW7du1eLFi1W4cOF79g0JCZEk/f7775Juza6Ni4uz65Oyfbd1cQEAAAAAAADAmVy6cGsYhsaNG6dvv/1WixcvVokSJe77nKioKEn/K8pWqVJFR48e1YULF2x9duzYoVy5cqlcuXKZEzgAAAAAAAAAPACXXiph7Nix+uqrr/TRRx8pZ86ctjVpc+fOrezZs+vMmTP68ssvFRERoXz58ik6OloTJ05UjRo1FBgYKOnWjcjKlSunoUOH6rXXXlNsbKw++OADdenSRV5eXs48PQAAAAAAAAC4I5cu3H766aeSpMjISLv2iRMnqm3btvL09NTOnTu1ZMkSxcfHq0iRImrSpIkGDBhg62symTR79myNGTNGHTt2lLe3t9q0aaNBgwY91HMBAAAAAAAAgLRy6cJtdHT0PfcXKVJEy5Ytu+9xihUrprlz5zoqLAAAAAAAAADIVC69xi0AAAAAPMq8vb2dHcIjgTw6BnkEANfi0jNuAQAAALguk8nk7BCyNJPJpKCgIGeHkeWRR8e4Ux4tVqtM7sz3AgBnoXALAAAAIEPe+mCljp3609lhAMgEpUsW0vihXZ0dBgA81ijcAgAAAMiQ32PO68iJP5wdBgAAwCOJ7zwAAAAAAAAAgIuhcAsAAAAAAAAALobCLQAAAAAAAAC4GAq3AAAAAAAAAOBiKNwCAAAAAAAAgIuhcAsAAAAAAAAALobCLQAAAAAAAAC4GAq3AAAAAAAAAOBiKNwCAAAAAAAAgIuhcAsAAAAAAAAALobCLQAAAAAAAAC4GAq3AAAAAAAAAOBiKNwCAAAAAAAAgIuhcAsAAAAAAAAALsbD2QEAAAAAD9vFixc1bdo0bdu2TXFxccqbN68CAwM1YMAAVatWzdnhAQAAABRuAQAA8Ph58cUXlZSUpEmTJqlEiRK6cOGCdu7cqcuXLzs1rsTERHl5eTk1BgAAALgGlkoAAADAY+Xq1avau3evhgwZolq1aqlYsWKqXLmy+vbtq0aNGikmJkZms1lRUVF2zzGbzdq1a5etbcuWLWrSpImCg4MVGRmpdevWyWw26+rVq5KkS5cuafDgwapXr55CQkLUsmVLffXVV3axREZGaty4cXr77bcVFhamXr16SZKOHTumvn37qmrVqgoNDVXnzp115swZSdLBgwfVo0cPhYWFqVq1auratat+++03u+OazWZ99tlneuGFFxQSEqImTZpoy5Ytdn2OHj2q3r17KzQ0VHXq1NFrr72mixcvOi7RAAAAeCAUbgEAAPBYyZEjh3LkyKHNmzcrMTExQ8c4e/asXnrpJTVq1EhffPGF/vOf/+j999+365OYmKiKFStqzpw5+uqrr9ShQwcNHTpUBw8etOu3bt06eXp66tNPP9XYsWP1999/q2vXrvLy8tLixYu1du1atWvXTsnJyZKkGzduqHXr1lq+fLlWrVolf39/9enTR9evX7c77syZM9WsWTOtX79e9evX15AhQ2wziq9evarnnntOQUFBWr16tebNm6cLFy7o5ZdfzlA+AAAA4HgslQAAAIDHioeHhyZNmqQ333xTK1asUFBQkGrWrKmnn35agYGBaTrGypUrVbp0aQ0bNkySVKZMGR09elSzZ8+29SlUqJBtBq10a3bt9u3b9c0336hy5cq29lKlSmno0KG27ffee0+5cuXSe++9J09PT0lS6dKlbftr165tF8tbb72l6tWra8+ePWrQoIGtvU2bNmrRooUkafDgwVq6dKkOHjyo+vXra9myZQoKCtLgwYNt/SdMmKCIiAidOnXK7vUAAADgHBRuAQAA8Nh56qmn9MQTT2jv3r06cOCAfvjhB82bN0/jx49XzZo17/v8U6dOqVKlSnZt/y7GSpLFYtHs2bO1ceNG/f3330pKSlJiYqKyZ89u169ixYp221FRUapevbqtaHu7uLg4ffDBB9q9e7cuXLggq9WqhIQEnTt3zq6f2Wy2Pc6RI4dy5cplWwrhyJEj2rVrl0JDQ1Md/8yZMxRuAQAAXACFWwAAADyWsmXLprp166pu3bp64YUXNHLkSM2YMUOffPKJJMkwDFvflGUK0mP+/PlasmSJRowYIbPZLG9vb02YMEFJSUl2/by9ve22by/s3m7YsGG6fPmyRo4cqaJFi8rLy0sdO3ZMddzbC79ubm6yWq2SpPj4eDVo0EBDhgxJdXw/P780nyMAAAAyD4VbAAAAQFK5cuW0efNm+fj4SJJiY2Nt+/59ozLp1tIF27Zts2s7dOiQ3fa+ffvUqFEjtWrVSpJktVp1+vRplS1b9p5xmM1mrVu3TklJSXecdbtv3z6NHj1aERERkqQ///xTly5dSuNZ3lKxYkVt2rRJxYoVk4cHvxIAAAC4Im5OBgAAgMfKpUuX1K1bN33xxRc6cuSIzp49q2+++Ubz5s1To0aNlD17dlWpUkVz5szRiRMntHv3bn3wwQd2x+jYsaNOnTqlKVOm6NSpU9qwYYPWrVsn6dbMVkny9/fXjh07tG/fPp04cUKjRo1SXFzcfePr0qWLrl+/rsGDB+vQoUM6ffq0Pv/8c508eVLSrTVx169frxMnTuiXX37RkCFD7jtL93adO3fWlStXNHjwYB08eFBnzpzRDz/8oNdff10WiyVdxwIAAEDmoHALAACAx0rOnDkVEhKixYsXq2vXrmrZsqWmTZum9u3ba9SoUZJu3ajLYrGobdu2mjBhgl5++WW7Y5QoUULTpk3Tt99+q2eeeUaffvqp+vXrJ0ny8vKSJPXv319BQUHq1auXIiMj5evrq8aNG983vvz582vx4sWKj49XZGSk2rZtq88++8w2+/btt9/WlStX1KZNGw0dOlSRkZEqUKBAunJQqFAhffrpp7JarerVq5datmypCRMmKHfu3HJ351cEAAAAV8D3ogAAAPBY8fLy0quvvqpXX331rn3Kli2rFStW2LVFR0fbbTdq1EiNGjWybc+aNUuFCxdWtmzZJEn58uXTRx99dM9Yli5desf2wMBAzZ8//477goKCtGbNGru2pk2b3jNWSdq7d6/ddqlSpTRz5sx7xgcAAADnoXALAAAAZMAnn3yi4OBg5c+fXz///LPmz5+vLl26ODssAAAAPCIo3AIAAAAZ8Pvvv2vWrFm6cuWKihYtqh49eqhv377ODgsAAACPCAq3AAAAQAaMGDFCI0aMcHYYAAAAeERx5wEAAAAAAAAAcDEUbgEAAAAAAADAxVC4BQAAAAAAAAAXQ+EWAAAAAAAAAFwMhVsAAAAAAAAAcDEUbgEAAAAAAADAxVC4BQAAAAAAAAAXQ+EWAAAAAAAAAFwMhVsAAAAAAAAAcDEezg4AAAAAQNbkX7ygEpMszg4DQCYoXbKQs0MAgMcehVsAAAAAGfLmyx1lMpmcHQaATGKxWmVy54u6AOAs/AsMAAAAIEMsFmbbPgiLxaLDhw+TxwdEHh3jTnmkaAsAzvVY/Sv8ySefqGHDhgoODlb79u118OBBZ4cEAAAA4DGWkJDg7BAeCeTRMcgjALiWx6Zwu2HDBk2cOFEvvPCC1q1bp8DAQPXq1UsXLlxwdmgAAAAAAAAAYOexWeN24cKF6tChg9q1aydJGjt2rLZu3ao1a9aoT58+93yuYRiSpMTERIet4WUymVS6pJ88PR6b2jmcrHjRArJYLC79FTKTyaQAPz958ZUsPCSlCmSN66KodxGZxBqSeDgKeRd06HWRcpyU8RQeDSnvp6v/G+rqUnJHDh8MeXQM8ugY5NExyKNjkEfHcHQe0zM+djMeg1F0YmKiqlSpounTp6tx48a29mHDhunq1auaNWvWfZ9/6NChzA4TAADgkRUcHCwvLy9nhwEHYXwMAADwYNIyPn4sZtxeunRJFotFBQoUsGsvUKCATp48ed/ne3h4KDg4WO7u7nJzc8usMAEAAB45hmHIarXKw+OxGHY+NhgfAwAAZEx6xseMoNPA3d2dGSIAAADA/8f4GAAAIPM9FgtJ5s+fXyaTKdWNyC5cuCBfX18nRQUAAAAAAAAAd/ZYFG69vLxUsWJF7dy509ZmtVq1c+dOhYaGOjEyAAAAAAAAAEjtsVkqoUePHho2bJgqVaqkypUra/HixUpISFDbtm2dHRoAAAAAAAAA2HlsCrdPP/20Ll68qOnTpys2NlYVKlTQvHnzWCoBAAAAAAAAgMtxMwzDcHYQAAAAAAAAAID/eSzWuAUAAAAAAACArITCLQAAAAAAAAC4GAq3AAAAAAAAAOBiKNzCJURGRurtt9/OlGMPHz5cAwYMsG0bhqE333xTNWvWlNlsVlRUVKa8LuAsabmeGjZsqEWLFj2cgAAXcPv/BXeSmf8XAQAAAEB6UbjFQ3GnX5g3btyo4OBgLViwIFNfe+TIkZo0aZJt+/vvv9e6des0e/Zsbd++XeXLl8/U1wfSY/jw4TKbzTKbzapYsaIaNmyod955Rzdv3nTo66xevVodO3Z06DGBzLBr1y7bNXGnn8jIyDQd5/b/CwA8mE8++UQNGzZUcHCw2rdvr4MHDzo7JJeyZ88e9evXT+Hh4TKbzdq8ebPdfsMwNG3aNIWHh6ty5crq3r27Tp8+bdfn8uXLevXVV1W1alVVr15dI0aM0I0bNx7iWTjXxx9/rHbt2ik0NFS1a9fWgAEDdPLkSbs+N2/e1NixYxUWFqbQ0FC9+OKLiouLs+tz7tw59enTRyEhIapdu7YmT56s5OTkh3kqTrV8+XK1bNlSVatWVdWqVdWxY0dt27bNtp8cZsycOXNkNpvt/uBLLu9vxowZqcZyTZs2te0nh2n3999/a8iQIQoLC1PlypXVsmVLHTp0yLaf/2fur2HDhnf8/WLs2LGSXOfzSOEWTvHZZ59pyJAhGjNmjHr27Jkpr2GxWGS1WpU7d27lyZPH1n727Fn5+fmpatWq8vPzk4eHR6a8PpBR9erV0/bt27V582aNGDFCK1eu1PTp0x36Gj4+PvL29nboMYHMEBoaqu3bt6f6GTdunNzc3NS5c+c0Hef2/wsAZNyGDRs0ceJEvfDCC1q3bp0CAwPVq1cvXbhwwdmhuYz4+HiZzWaNHj36jvvnzp2rpUuXasyYMVq1apW8vb3Vq1cvuz/UDhkyRMePH9fChQs1e/Zs7d27V6NGjXpYp+B0u3fvVpcuXbRq1SotXLhQycnJ6tWrl+Lj4219JkyYoP/7v//TBx98oKVLl+r8+fMaOHCgbb/FYlHfvn2VlJSkFStWaNKkSVq3bp3Dx1WurHDhwhoyZIjWrl2rNWvWqFatWnrhhRd07NgxSeQwIw4ePKgVK1bIbDbbtZPLtClfvrzdmG758uW2feQwba5cuaJOnTrJ09NTc+fO1ddff61hw4Ypb968tj78P3N/q1evtvssLly4UJJsf0xwmc+jATwEw4YNM/r3728YhmHMmTPHCA4ONv773//a9nft2tV46623jMmTJxs1atQw6tSpY0yfPt3uGAsWLDBatGhhhISEGPXr1zdGjx5tXL9+3bZ/zZo1RrVq1YzNmzcbzZo1MypUqGCcPXvW7rWHDRtmBAQE2H4aNGjwEM4eSLt/f15TDBw40GjdurVhGIZx8eJF45VXXjHCw8ONypUrGy1atDC+/PJLu/5du3Y1xo4da4wdO9aoWrWqUbNmTeP99983rFarrU+DBg2MhQsXZvr5AJnh+PHjRmhoqPHee+8ZhmEYycnJxuuvv240aNDACA4ONpo0aWIsWrTI7jm3X1s3btwwXnvtNaNKlSpG3bp1jfnz5xtdu3Y1xo8f/1DPBciKnn32WWPs2LG2bYvFYoSHhxsff/yxE6NyXQEBAca3335r27ZarUbdunWNefPm2dquXr1qVKpUyfjqq68Mw7j171xAQIBx8OBBW59t27YZZrPZ+Ouvvx5e8C7kwoULRkBAgLF7927DMG7lrGLFisY333xj65OSt/379xuGYRhbt241AgMDjdjYWFuf5cuXG1WrVjVu3rz5UON3JTVq1DBWrVpFDjPg+vXrRpMmTYwff/zRbtxALtNm+vTpxjPPPHPHfeQw7aZMmWJ06tTprvv5fyZjxo8fbzRu3NiwWq0u9Xlkxi0eqilTpuijjz7Sxx9/rCeffNJu37p165QjRw6tWrVKr732mj788EP9+OOPtv1ubm4aOXKkvvrqK02aNEk//fSTpkyZYneMf/75R3PnztX48eP11VdfqUCBAnb7R44cqUGDBqlw4cLavn27Vq9enXknCzjA0aNHtX//fnl6ekqSEhMTVbFiRc2ZM0dfffWVOnTooKFDh6b6iuq6detkMpn02WefaeTIkVq0aJE+++wzZ5wC4FBXr17VgAEDVLNmTb388suSJKvVqsKFC2vatGn6+uuv9cILL+j999/Xhg0b7nqcd955R3v27NFHH32k+fPna/fu3frtt98e0lkAWVdiYqJ+++031alTx9bm7u6uOnXqaP/+/U6MLOuIiYlRbGysXQ5z586tkJAQWw7379+vPHnyKDg42NanTp06cnd3f2yXpbh27Zok2WaU/frrr0pKSrLLY9myZVW0aFEdOHBAknTgwAEFBATI19fX1ic8PFzXr1/X8ePHH17wLsJisejrr79WfHy8QkNDyWEGjBs3ThEREXY5k/g8psfvv/+u8PBwNWrUSK+++qrOnTsniRymx3fffadKlSpp0KBBql27tlq3bq1Vq1bZ9vP/TPolJiZq/fr1ateundzc3Fzq88h3xPHQfP/999qyZYsWLVqk2rVrp9pvNptt085LlSqlZcuWaefOnapbt64kqXv37ra+xYsX18svv6zRo0drzJgxtvakpCSNGTNGgYGBd4whd+7cypkzp0wmk/z8/Bx3coADbd26VaGhoUpOTlZiYqLc3d315ptvSpIKFSqkXr162fpGRkZq+/bt+uabb1S5cmVbe5EiRTRixAi5ubmpTJkyOnr0qBYtWqQOHTo89PMBHMVqterVV1+VyWTS1KlT5ebmJkny9PTUoEGDbP1KlCihAwcOaOPGjXr66adTHefGjRtavXq1pkyZYvv/aNKkSYqIiHg4JwJkYZcuXZLFYkn1x/ECBQqkWn8UdxYbGytJd8xhytp5cXFx8vHxsdvv4eGhvHnz2p7/OLFarZowYYKqVq2qgIAASbdy5OnpmWoZnAIFCthyFBcXZ/cLtSTb9uOUx+joaP3nP//RzZs3lSNHDn344YcqV66coqKiyGE6fP311zp8+PAdJ//weUybypUra+LEiSpdurRiY2P14YcfqkuXLvryyy/JYTqcPXtWn376qXr06KF+/frp0KFDGj9+vDw9PdWmTRv+n8mAzZs369q1a2rTpo0k17qmKdzioTGbzbp06ZJmzJihypUrK2fOnKn2/5ufn5/dWmk7dvw/9u48zsb6///485wz+45ZMBhbM8jYUvaUpAV9LEkS+nykpOLzKR8kFamoT6v4pC8S2viISpvQQtkK2UKWbDOYjdnXc67fH8z5OcYyM8ZcZ8bjfrvNjXNd7+u6ntc515m5zuu8r/e1Vu+++64OHDigjIwM2e125ebmKjs72zlWp6enZ5H1ABVNmzZtNHHiRGVnZ+v999+XzWbTbbfdJul0T4mZM2fq22+/1YkTJ5Sfn6+8vDz5+Pi4rKN58+bOopYktWjRQnPnzpXdbpfNZivX/QHKyuuvv67ff/9d//vf/xQQEOAy78MPP9Snn36q+Ph45ebmKj8//4Jf4h05ckT5+flq3ry5c1pISIjq1at3RfMDAEpn0qRJ2rt3r8tYmCi+evXq6bPPPlN6erqWL1+usWPH6oMPPjA7VoVy7Ngxvfjii3rvvffk7e1tdpwK6+wvyRs1aqTmzZvr5ptv1jfffFPk8wwuzDAMNW3aVE888YQkqUmTJtq7d68++eQTZ+ERJfPpp5/qxhtvVEREhNlRimCoBJSbiIgILViwQCdOnNCDDz6ojIwMl/nn3iTMYrHIMAxJp7v6P/zww4qJidHbb7+tJUuWOAfNzs/Pdy7j4+PjUqwCKiJfX19FRUWpUaNGeumll7Rt2zbnMAdz5szR/Pnz9eCDD2r+/Pn67LPP1LFjR5f3AVAZffXVV3rvvff0+uuvq27dukXmvfzyy+rbt6/ee+89ffbZZ+rTpw/vC+AKqFKlimw2W5EbkSUnJxfpdYLzK7zq62LPYWhoqFJSUlzmFxQUKDU19aq7auz555/Xjz/+qHnz5ql69erO6aGhocrPz1daWppL++TkZOdzFBoaWuQO4IWPr6bn0cvLS1FRUWratKmefPJJNWrUSPPnz+c5LIGdO3cqOTlZffr0UZMmTdSkSRNt3LhRCxYsUJMmTXguSykoKEh169bV4cOHeQ5LICwsTA0aNHCZVr9+feewE/ydKZm4uDitXbtWd999t3OaOx2PFG5RriIjI/XBBx8oKSnpvMXbC9m5c6cMw9C4cePUokUL1atXTwkJCVc4LWA+q9Wqhx9+WG+99ZZycnK0efNm3XLLLfrb3/6mRo0aqXbt2jp48GCR5c4dl2jr1q2Kioqity0qpF27dunpp5/Wk08+qU6dOhWZv3nzZrVs2VIDBw5UkyZNFBUVpcOHD19wfbVr15anp6e2bt3qnJaamnre9xIAV15eXrr22mu1bt065zSHw6F169apZcuWJiarOGrVqqWwsDCX5zAjI0Nbt251PoctW7ZUWlqaduzY4Wyzfv16ORwOl6GRKjPDMPT8889rxYoVmjdvnmrXru0yv2nTpvL09HR5Hg8cOKD4+Hi1aNFC0ukrjv78888iV/EFBASoYcOG5bIf7sjhcCgvL4/nsATatm2rZcuW6bPPPnP+NG3aVD179nT+n+ey5DIzM3XkyBGFhYXxHJZAq1at9Ndff7lMO3jwoCIjIyXxd6aklixZomrVqummm25yTnOn45GhElDuatSooQULFmjw4MF68MEHNXv27EsuExUVpfz8fC1YsEBdunTRpk2b9Mknn5RDWsB8t99+u1555RV9+OGHioqK0vLly7V582YFBwdr7ty5SkpKKvKNa3x8vKZMmaL+/fvrjz/+0AcffKCxY8eatAdA6aWkpOjRRx/VDTfcoLvuuqvIeFE2m01RUVH67LPPtGbNGtWqVUuff/65tm/frlq1ap13nf7+/urbt6/+85//KCQkRNWqVdMbb7zBFRtAMf3973/X2LFj1bRpUzVr1kzz5s1Tdna2+vTpY3Y0t5GZmenyBdLRo0e1a9cuBQcHq2bNmho8eLDeeecdRUVFqVatWnrrrbcUHh6url27Sjp9A5ROnTrpmWee0aRJk5Sfn6/Jkyere/fubnkZ55UwadIkffnll/rvf/8rf39/5+//wMBA+fj4KDAwUH379tXUqVMVHBysgIAAvfDCC2rZsqXzQ3XHjh3VsGFDjRkzRv/+97+VmJioN998UwMHDpSXl5eJe1d+XnvtNd14442qUaOGMjMz9eWXX2rjxo2aM2cOz2EJBAQEOMdXLuTn56eQkBDndJ7LS3v55Zd18803q2bNmkpISNDbb78tq9WqHj16cDyWwJAhQzRgwADNnDlTd9xxh7Zt26ZFixbp+eefl3T66mX+zhSPw+HQkiVL1KtXL5erwN3peKRwC1NUr17dWbwdOnSo8vLyLtq+UaNGeuqppzRr1iy9/vrrat26tZ544gkKUbgqeHh46P7779fs2bP12Wef6ciRIxo6dKh8fX11zz33qGvXrs47LRfq1auXcnJy1K9fP9lsNg0ePFj9+/c3aQ+A0vvpp58UFxenuLg4dezYscj8yMhIffvtt9q1a5f+9a9/yWKxqHv37rrvvvu0evXqC653zJgxysrK0iOPPCJ/f3/9/e9/L/ZVIMDV7s4771RKSoqmTZumxMRENW7cWLNnz2aohLPs2LFDgwcPdj6eMmWKJKl3796aOnWqhg0bpuzsbD377LNKS0vTddddp9mzZ7uMnfnqq69q8uTJGjJkiKxWq7p166YJEyaU+76Y5eOPP5Z0+kasZ5syZYrzS4Lx48fLarVq5MiRysvLU8eOHfXcc88529psNs2cOVMTJ05U//795evrq969e7vc0LKyS05O1tixY5WQkKDAwEDFxMRozpw5zhtA8xyWHZ7LSzt+/LieeOIJnTp1SlWrVtV1112nRYsWOW+SxXNYPM2aNdP06dP1+uuva8aMGapVq5bGjx+vu+66y9mGvzPFs3btWsXHx6tv375F5rnL8WgxCgcRBQAAAAAAAAC4Bca4BQAAAAAAAAA3Q+EWAAAAAAAAANwMhVsAAAAAAAAAcDMUbgEAAAAAAADAzVC4BQAAAAAAAAA3Q+EWAAAAAAAAANwMhVsAAAAAAAAAcDMUbgEAAAAAAADAzVC4BYBykpKSoueee0433XSTmjZtqg4dOmjo0KHatGmT2dEAAAAASDp69KhiYmK0a9cus6MAgDzMDgAAV4vHH39c+fn5mjp1qmrXrq3k5GStW7dOp06dMjsaAAAAAABwM/S4BYBykJaWpt9++02jR49W27ZtFRkZqWbNmunhhx/WLbfc4mzz9NNPq23btmrVqpUGDx6s3bt3O9dx+PBhPfLII2rfvr1atmypvn37au3atS7b+fDDD9WtWzfFxsaqffv2GjlypHNeXl6eXnjhBbVr106xsbEaMGCAtm3b5py/YcMGxcTEaN26derTp4+aN2+ue++9VwcOHLjCzw4AAABwmsPh0KxZs3TrrbeqadOmuummm/TOO+9Ikvbs2aPBgwerWbNmatOmjZ555hllZmY6lx00aJBefPFFl/WNGDFC48aNcz7u0qWLZs6cqaeeekotW7bUTTfdpIULFzrnF56b9+rVSzExMRo0aNCV3F0AuCgKtwBQDvz8/OTn56eVK1cqLy/vvG1GjRql5ORkzZo1S0uWLNG1116rIUOGOHvkZmVlqXPnznr//fe1dOlSderUScOHD1d8fLwkafv27XrxxRc1cuRIffvtt5o9e7Zat27tXP8rr7yi5cuXa+rUqVq6dKmioqL04IMPFunx+8Ybb2jcuHH69NNPZbPZNH78+CvynAAAAADneu211zRr1iyNGDFCX3/9tV599VWFhoYqKytLQ4cOVXBwsBYvXqw333xTa9eu1eTJk0u8jblz56pp06b67LPPdN9992nixInOzgr/+9//JEnvv/++fv75Z7399ttlun8AUBIUbgGgHHh4eGjq1Kn67LPP1Lp1a9177716/fXXnT1qf/vtN23btk3Tpk1TbGys6tatq7FjxyooKEjLly+XJDVq1Ej33nuvoqOjVbduXf3zn/9UnTp19P3330uSjh07Jl9fX910002KjIxUkyZNNHjwYEmni76ffPKJxowZo86dO6thw4aaPHmyvL29tXjxYpes//rXv3TDDTeoYcOGeuihh7Rlyxbl5uaW47MFAACAq1FGRobmz5+vf//73+rdu7fq1Kmj1q1bq1+/fvryyy+Vl5enl19+WdHR0WrXrp2effZZff7550pKSirRdm688UYNHDhQUVFRGjZsmKpUqaINGzZIkqpWrSpJCgkJUVhYmEJCQsp6NwGg2BjjFgDKyW233aabbrpJv/32m37//XetWbNGs2fP1gsvvKDs7GxlZWWpTZs2Lsvk5OTo8OHDkqTMzExNnz5dP/74oxITE2W325WTk+Pscdu+fXvVrFlTXbt2VadOndSpUyfdeuut8vX11eHDh5Wfn69WrVo51+3p6almzZpp//79LtuMiYlx/j8sLEySlJycrJo1a16R5wUAAACQpAMHDigvL09t27YtMm///v2KiYmRn5+fc1qrVq3kcDj0119/KTQ0tNjbOft812KxKDQ0VMnJyZcXHgCuAAq3AFCOvL291aFDB3Xo0EGPPvqonn76ab399tsaMGCAwsLCtGDBgiLLBAYGSpJefvllrV27VmPHjlWdOnXk4+OjkSNHKj8/X5IUEBCgpUuXauPGjfr55581bdo0TZ8+vUiP2kvx8Pj/fxosFouk02ONAQAAAFeSt7f3ZS1vsVhkGIbLtIKCgiLtzj7fvdByAOAOGCoBAEzUsGFDZWVl6dprr1VSUpJsNpuioqJcfgov19qyZYt69+6tW2+9VTExMQoNDVVcXJzL+jw8PNS+fXuNGTNGX3zxheLi4rR+/XrVqVNHnp6e2rx5s7Ntfn6+tm/froYNG5brPgMAAADnU7duXfn4+Gj9+vVF5jVo0EB79uxRVlaWc9rmzZtltVpVr149SaeHOUhMTHTOt9vt2rt3b4kyeHp6OpcFALPR4xYAysHJkyc1atQo9e3bVzExMfL399eOHTs0e/Zs3XLLLWrfvr1atGihRx99VP/+979Vt25dJSQk6KefflLXrl0VGxurqKgorVixQl26dJHFYtGbb77p0hP2hx9+0JEjR3T99dcrKChIP/30kxwOh+rVqyc/Pz8NGDBAr7zyioKDg1WzZk3Nnj1bOTk5uvvuu018ZgAAAIDTvL29NWzYMP3nP/+Rp6enWrVqpZSUFO3du1c9e/bUtGnTNG7cOD322GNKSUnR5MmT9be//c05TELbtm01depU/fjjj6pdu7bef/99paWllShDtWrV5OPjozVr1qh69ery9vZ2XgEHAOWNwi0AlAN/f381b95c8+bN0+HDh1VQUKDq1aurX79+Gj58uCwWi/7v//5Pb775pp566imdPHlSoaGhat26tfNEdNy4cRo/frzuvfdeValSRcOGDVNmZqZzG4GBgVqxYoWmT5+u3NxcRUVF6bXXXtM111wjSRo9erQMw9CYMWOUmZmppk2bavbs2QoODjblOQEAAADONWLECNlsNk2bNk0JCQkKCwvTvffeK19fX82ZM0cvvvii7r77bvn6+qpbt24aN26cc9m+fftq9+7dGjt2rGw2mx544IEi95C4FA8PD02YMEEzZszQtGnT1Lp16/MOZwYA5cFiMJALAAAAAAAAALgVxrgFAAAAAAAAADdD4RYAAAAAAAAA3AyFWwAAAAAAAABwMxRuAQAAAAAAAMDNULgFAAAAAAAAADdD4RYAAAAAAAAA3AyFWwAAAAAAAABwMxRuAQAAAAAAAMDNULgFAAAAAAAAADdD4RYAAAAAAAAA3AyFWwAAAAAAAABwMxRuAQAAAAAAAMDNULgFAAAAAAAAADdD4RYAAAAAAAAA3AyFWwAAAAAAAABwMxRuAQAAAAAAAMDNULgFAAAAAAAAADdD4RaAW4iJidHbb79tyrY3bNigmJgYbdiwwZTtm2XQoEHq0aPHFd/O0aNHFRMToyVLllzxbQEAgMrv7bffVkxMTLlsa9CgQRo0aJDzceF547ffflsu2x83bpy6dOlSLtsqrczMTD399NPq0KGDYmJi9OKLL5bp+s38nIDSO/e9UxyF7+2UlJRSb3fWrFm6/fbb5XA4Sr2Os3388ce66aablJeXVybrA0qKwi2AUluyZIliYmK0fft2s6MUy4cffuh2xcNBgwYpJiZG3bp1O+/8X375RTExMaX+gHDixAm9/fbb2rVr1+VGveIudTw9/PDDbv/BBQAAlEzh3//Cn9jYWHXs2FFDhw7V/PnzlZGRUSbbcedzInfOVhzvvvuuli5dqgEDBuiVV17R3/72twu27dKli/O1btSokVq3bq2ePXvqmWee0datW8sxtXvo06ePJk6cKOl0kf7s90KrVq1011136b333rsiRcOSHnfnvlebNGmiTp06ady4cTpx4kSZ5yuNjIwMzZ49W8OGDZPVerrcZRiGpk+frk6dOqldu3Z68cUXizyfmZmZ6tSpk5YtW1ZknX369FF+fr4++eSTctkH4FweZgcAAEnatm2bbDbbFd3Gxx9/rCpVqqhPnz4u06+//npt27ZNnp6eV3T7F+Lt7a1Dhw5p27Ztatasmcu8ZcuWydvbW7m5uaVad0JCgqZPn67IyEg1bty4LOICAACUuZEjR6pWrVoqKChQUlKSNm7cqJdeeknvv/++/vvf/6pRo0bOto888ogeeuihEq2/tOdEc+bMKdF2SuNi2SZPnizDMK54hsuxfv16NW/eXI899lix2jdu3Fh///vfJZ0umB04cEDffvutFi1apAceeEBPPfWUS/vy+JxghoSEBP3xxx8aOXKkc5qXl5deeOEFSVJ6erqWL1+ul19+Wdu3b9cbb7xR5tsvzXui8L2al5en33//XUuXLtWmTZv05Zdfytvb29muPN4751q8eLEKCgpcrir84osvNHPmTA0bNky+vr6aOXOmQkND9fDDDzvbzJw5U5GRkerZs2eRdXp7e6tXr156//33NWjQIFkslnLZF6AQhVsAV1xWVpb8/PyKTHc4HMrPz5e3t7fLH/nyZrVaTd1+nTp1VFBQoC+//NKlcJubm6sVK1bopptu0vLly03LBwAAcKXdeOONio2NdT5++OGHtW7dOg0fPlwjRozQ119/LR8fH0mSh4eHPDyu7EfZ7Oxs+fr6ysvL64pu51LM6lhQEsnJyWrYsGGx20dERBTplTt69Gg9+eSTev/99xUVFaX77rvPOc/M8/QrafXq1fL29lbbtm2d0zw8PFyem/vuu0/9+vXT119/rXHjxikiIsKMqC7Ofq/269dPVapU0axZs7Rq1SrdeeedznZmvHeWLFmiLl26uBwzP/74o3r27KlRo0ZJOv0Z6/vvv3cWbg8fPqz58+frgw8+uOB677jjDs2ePVvr169Xu3btruxOAOdgqAQAZWrcuHFq2bKlDh8+rGHDhqlly5YaPXq0pNPjUz3//PP64osv1L17d8XGxmrNmjXOeeeOXbVhwwb16dNHsbGx6tq1qz755JPzjmn26aefavDgwWrXrp2aNm2qO++8Ux999JFLmy5dumjv3r3auHGj8/KewjGXLjTG7TfffKM+ffqoWbNmatOmjUaPHl3kMqDC/T1x4oRGjBihli1bqm3btnr55Zdlt9uL/bz16NFDX3/9tctYTN9//71ycnJ0++23n3eZEydO6KmnnlL79u3VtGlTde/eXYsXL3Z5/u6++25J0lNPPeXc73OHi9i3b58GDRqk5s2bq1OnTpo1a1aRbSUnJ2v8+PFq3769YmNjddddd2np0qVF2qWlpWncuHG67rrr1Lp1a40dO1bp6enFfh5K6quvvlKfPn3UsmVLtWrVSj179tS8efOc80+dOqWXX35ZPXv2dLZ58MEHtXv37iLriouL0/Dhw9WiRQu1a9dOL730ktasWXPeY2Pr1q0aOnSorrvuOjVv3lz333+/Nm3adMX2EwCAq1G7du00YsQIxcXF6YsvvnBOP9/54C+//KIBAwaodevWatmypW677Ta9/vrrki59TlQ47v+OHTs0cOBANW/e3LnshcbpdDgcev3119WhQwe1aNFCw4cP17Fjx1zadOnSRePGjSuy7NnrvFS2841xm5WVpalTp6pz585q2rSpbrvtNs2ZM6dIz9zCc++VK1eqR48ezvPF1atXX+xpd7rU+V/hOfTRo0f1448/OrMfPXq0WOs/m4+Pj1555RWFhIRo5syZLvty7ueEjIwMvfjii+rSpYuaNm2qdu3a6e9//7t27tzpss7inK/FxcVp4sSJuu2225zn/CNHjiyyD/n5+Zo+fbq6deum2NhYtWnTRgMGDNAvv/zi0m7//v0aOXKkbrjhBsXGxqpPnz5atWrVeff5p59+Ups2bZxfSJyP1WrVDTfc4MwqSXl5eZo2bZpuvfVWNW3aVJ07d9Yrr7xS5PL/y3lPlETr1q0lSUeOHHGZfr73zoIFC9S9e3c1b95c119/vfr06XPe4QnOFhcXp1tvvVU9evRQUlLSBdsdOXJEe/bsUfv27V2m5+TkKDg42Pk4ODhY2dnZzsdTp07VnXfe6fLF0bmaNm2qkJCQC76WwJVEj1sAZa6goMB5kjR27FiXk5H169frm2++0cCBA1WlShVFRkaedx1//PGHHnzwQYWFhenxxx+Xw+HQjBkzVLVq1SJtP/74Y11zzTXq0qWLPDw89MMPP2jSpEkyDEMDBw6UJI0fP16TJ0+Wn5+fhg8fLkkKDQ294D4sWbJETz31lGJjY/XEE08oOTlZ8+fP1+bNm/XZZ58pKCjI2dZut2vo0KFq1qyZxowZo3Xr1um9995T7dq1XXoLXEyPHj309ttva8OGDc5vcb/88ku1bdtW1apVK9I+KSlJ99xzjywWiwYOHKiqVatq9erVevrpp5WRkaEHHnhADRo00MiRIzVt2jT1799f1113nSSpVatWzvWkpqbqwQcf1K233qo77rhDy5cv16uvvqro6Gh17txZ0umTnUGDBunw4cMaOHCgatWqpW+//Vbjxo1TWlqahgwZIun0+FEjRozQpk2bdO+996pBgwZasWKFxo4dW6znoKR++eUXPfHEE2rXrp3zy4EDBw5o8+bNzkxHjhzRypUrdfvtt6tWrVpKSkrSwoULdf/99+urr75y9lrIysrSkCFDlJiYqMGDBys0NFRffvnleW9Yt27dOg0bNkxNmzbVY489JovFoiVLlmjIkCH66KOPigx3AQAASu9vf/ubXn/9df3888+65557zttm7969evjhhxUTE6ORI0fKy8tLhw4d0ubNmyWpWOdEp06d0rBhw9S9e3fddddd5z3/Ots777wji8WiYcOGKTk5WfPmzdMDDzygzz///KKFuHMVJ9vZDMPQI4884iy8NW7cWGvWrNErr7yiEydOaPz48S7tN23apO+++0733Xef/P39tWDBAo0cOVI//PCDqlSpcsFcxTn/a9CggV555RVNmTJF1atXdw5/cL7z9eLw9/dX165dtXjxYu3bt0/XXHPNeds999xzWr58ue6//341aNBAp06d0qZNm7R//35de+21kop/vrZ9+3Zt2bJF3bt3V/Xq1RUXF6ePP/5YgwcP1ldffSVfX19J0vTp0/Xuu++qX79+atasmTIyMrRjxw7t3LlTHTp0kHT6OBwwYIAiIiI0bNgw+fn56ZtvvtGjjz6qt99+W7feeqtzH/Lz87V27Vo98cQTl3xeCguiISEhcjgceuSRR7Rp0ybdc889atCggf7880/NmzdPBw8e1H//+19nlst9TxRXYUH57M9H57No0SK98MILuu222zR48GDl5uZqz5492rp163mHKJBO94YdMmSIgoOD9d5771302NqyZYskqUmTJi7TY2Nj9dFHH+n222+Xr6+vFi5cqJYtW0o6/Xli/fr1xbq6sUmTJs7nDyhXBgCU0qeffmpER0cb27Ztc04bO3asER0dbbz66qtF2kdHRxuNGjUy9u7de95506ZNcz5++OGHjebNmxvHjx93Tjt48KDRpEkTIzo62mXZ7OzsIuv7xz/+Ydxyyy0u07p3727cf//9RdquX7/eiI6ONtavX28YhmHk5eUZ7dq1M3r06GHk5OQ42/3www9GdHS08dZbbxXZ3+nTp7uss1evXkbv3r2LbOtc999/v9G9e3fDMAyjT58+xvjx4w3DMIzU1FTj2muvNZYuXerM98033ziXGz9+vNGhQwcjJSXFZX3/+te/jOuuu875nGzbts2Ijo42Pv300/NuOzo62li6dKlzWm5urtGhQwfj8ccfd057//33jejoaOPzzz93TsvLyzP69+9vtGjRwkhPTzcMwzBWrFhhREdHG7NmzXK2KygoMO67774LZjjb+Y6nsz300EPGzTff7Hz8wgsvGK1atTIKCgouuM7c3FzDbre7TDty5IjRtGlTl9fsvffeM6Kjo40VK1Y4p+Xk5Bi33367y7HhcDiMbt26Gf/4xz8Mh8PhbJudnW106dLF+Pvf/37RfQQAAK4u9fffMAzjuuuuM3r16uV8PG3aNJfzwblz5xrR0dFGcnLyBddRnHOijz/++Lzzzj5/LDwv69Spk/McyDAM4+uvvzaio6ONefPmOafdfPPNxtixYy+5zotlGzt2rMv5T+H51n//+1+Xdo8//rgRExNjHDp0yDktOjrauPbaa12m7dq1y4iOjjYWLFhQZFtnK+75X+F+PvTQQxddX3HbFr6WK1eudNmPsz8nXHfddcakSZMuuI6SnK+d73PEli1bipwj33XXXZfcxyFDhhg9evQwcnNzXbL079/f6Natm0vbtWvXGtHR0caRI0ec08aOHWu0aNHCSE5ONpKTk41Dhw4ZM2fONGJiYoyePXsahmEYn332mdGoUSPj119/dVnfxx9/bERHRxubNm0yDOPy3xPnU/heXbt2rZGcnGwcO3bM+Pbbb422bdsaTZs2NY4dO+bS/tzj/JFHHnF+7rmQwvd2cnKysW/fPqNjx45G3759jVOnTl0y3xtvvGFER0cbGRkZLtPT09ONAQMGGNHR0UZ0dLTRvXt34/jx40Z+fr5x5513Gu+++26x9v+ZZ54xmjVrVqy2QFliqAQAV8SAAQPOO/3666+/5BhYdrtd69at0y233OIyjlNUVJQ6depUpP3ZvRrS09OVkpKiG264QUeOHCnVZfo7duxQcnKyBgwY4DI+0k033aT69evrxx9/LLLMuft73XXXlfgysZ49e2rFihXKy8vT8uXLZbPZ1LVr1yLtDMPQd999py5dusgwDKWkpDh/OnbsqPT09CKXil2In5+fyzhaXl5eio2NdbnUafXq1QoLC3MZ5N/T01ODBg1SVlaWfv31V2c7Dw8Pl+fCZrPp/vvvL9HzUFxBQUHKzs4ucona2by8vJx3lLXb7Tp58qT8/PxUr149/fHHH852a9asUUREhG655RbnNG9v7yI9e3bt2qWDBw+qZ8+eOnnypPN5z8rKUrt27fTrr7+6DHcBAAAun5+fnzIzMy84v7Cn36pVq0r9d9jLy6vIDWwvplevXgoICHA+vv322xUWFqaffvqpVNsvrtWrV8tmsxW5BP0f//iHDMMoMgxC+/btVadOHefjRo0aKSAgoMhl7efbTnHO/8qav7+/JF3y9d66dWuRIcwKleR87ezPEfn5+Tp58qTq1KmjoKAgl3PFoKAg7d27VwcPHjzvNk+dOqX169frjjvuUEZGhnObJ0+eVMeOHXXw4EGXvKtXr1bDhg1Vq1Ytl/UUZmzXrp1uvfVWvf7662rRooVmzJghSfr222/VoEED1a9f3+UzQOE4uYVXi5XFe+JCHnjgAbVr106dO3fWyJEj5evrq3feeUfVq1e/6HJBQUE6fvy4tm3bdslt7N27V4MGDVJkZKTef/99l6EOLuTUqVPy8PBwHkOFAgIC9MEHH+irr77S559/rs8++0wRERH66KOPlJeXpwceeMA5dFynTp00evRoZWRknDd/Tk6OyzALQHlgqAQAZc7Dw+OCf7jPPTk5n+TkZOXk5CgqKqrIvPNN27Rpk95++239/vvvRf6QpqenKzAwsJjJT4uPj5ck1atXr8i8+vXrFxkby9vbu8hlO8HBwUpNTS3Rdu+88069/PLLWr16tb744gvddNNNLh8ICqWkpCgtLU0LFy7UwoULz7uulJSUYm2zevXqRe6MGhwcrD179jgfx8XFKSoqylkALdSgQQNJ///5iouLU1hYWJGTpfM9j2Xhvvvu0zfffKNhw4YpIiJCHTp00B133KEbb7zR2cbhcGj+/Pn66KOPdPToUZdxh0NCQpz/j4uLU506dYo8F2d/0JHkPFm/2PAP6enpxTq5BAAAxZOVlXXRoQvuvPNO/e9//9OECRP02muvOYtet99+e5HzlwuJiIgo0c2Uzj0ntVgsioqKcl42fqXExcUpPDy8yDli4XnZuduvUaNGkXUEBwcrLS3tktspzvlfWSss2J57Pnm20aNHa9y4cbrpppt07bXXqnPnzurVq5dq164tqWTnazk5OXr33Xe1ZMkSnThxwmVs3bM7gIwcOVIjRozQbbfdpujoaHXs2FF/+9vf1KhRI0mnL+k3DENvvfWW3nrrrfNuMzk52dkp5ccff9TNN99cpI23t7dmzpwp6fSXCbVq1XL5XHXo0CHt37//gjfISk5OllQ274kLefbZZ1WvXj2lp6fr008/1a+//lqs986wYcO0du1a9evXT1FRUerQoYN69OjhHKbhbMOHD1doaKjmzJlz0WOhuKxWq0vnoZSUFE2fPl0vvfSSLBaLHn74Yd18880aM2aMpk6dqsmTJ+vll192WUfhsXHu5wXgSqNwC6DMnd3L8VwlGfOrOA4fPqwHHnhA9evX17hx41SjRg15enrqp59+0vvvv18uvR9tNluZrCc8PFw33HCD5s6dq82bNxe5WVuhwn2666671Lt37/O2OfeGHRdSVtnLQmHv5tzc3PPOz87OdukBXa1aNX322Wf6+eeftXr1aq1evVpLlixRr169nCdaM2fO1FtvvaW+fftq1KhRCg4OltVq1UsvvVTkBh7FUbjMmDFj1Lhx4/O28fPzK/F6AQDA+R0/flzp6elFvkw9m4+Pjz788ENt2LBBP/74o9asWaOvv/5aCxcu1HvvvVes852yPke9GLvdXm7nYBfaTmnOg8rD3r17JZ2/s0ahO++8U61bt9aKFSv0yy+/aM6cOZo1a5befvttde7cuUTna5MnT3aOfduiRQsFBgbKYrHoX//6l8tzdP3112vFihVatWqVfvnlFy1evFjz5s3TpEmT1K9fP+f5+T/+8Y/zXiEo/f8OAUeOHNGBAwc0ceLEIm1sNluRm2udzeFwKDo6Wk899dR55xcWecviPXEhzZo1c97Iq2vXrrrvvvv05JNP6ttvv71okbVBgwb69ttvnXm+++47ffTRR3r00Uc1cuRIl7a33Xabli5dqmXLlunee+8tVq6QkBAVFBQoIyPjvJ1fzvbWW2+pSZMm6tq1q3777TclJibq3//+t7y9vfX444/rwQcf1JQpU1w+06alpcnX17dcf1cAEoVbAG6oWrVq8vb21qFDh4rMO3fa999/r7y8PL3zzjuqWbOmc/r5bipV3G9HC9fz119/Ffk2+6+//nLZTlnr0aOHJkyYoKCgIJeeo2erWrWq/P395XA4LnpiJ5XNN8KRkZHas2ePHA6Hy8nLgQMHJP3/5ysyMlLr169XZmamy0nbX3/9VaztnP28F96d9mwHDx4scpMKLy8vdenSRV26dJHD4dDEiRO1cOFCjRgxQlFRUVq+fLnatGmjl156yWW5tLQ0lxtyREZGat++fTIMw+U5O3z4sMtyhT05AgICLvncAwCAy/f5559Lkjp27HjRdlar1XmJ+VNPPaWZM2fqjTfe0IYNG9S+ffsy7yV37jmpYRg6dOiQy5fnF+rZGh8f7zynkEp2vhYZGal169YVKU4Vnpdd6Ma/JVXc87+ylJmZqZUrV6pGjRrOnr0XEh4eroEDB2rgwIFKTk5W7969NXPmTHXu3LlE52vLly9Xr169NG7cOOe03Nzc8w63FhISor59+6pv377KzMzU/fffr7ffflv9+vVzbtPT0/OS2/zpp58UGBh43p6ml1KnTh3t3r1b7dq1u+RxUx7vCZvNpieeeEKDBw/Whx9+qIceeuii7f38/HTnnXfqzjvvVF5enh5//HHNnDlTDz/8sEsHjTFjxshms2nSpEny9/e/4M3Lzla/fn1J0tGjR509oc9n9+7d+vTTT7VkyRJJUkJCgoKCgpzbDw8PV35+vlJSUlxuZn306FHnNoDyxBi3ANxO4TfNq1atchkL6tChQ1qzZk2RtpKKXNb06aefFlmvr6/vJS8Lk6SmTZuqWrVq+uSTT5SXl+ec/tNPP2n//v266aabSrpLxXb77bfrscce03PPPXfBS45sNptuu+02LV++XH/++WeR+WcPk1B4J9zi7PeF3HjjjUpMTNTXX3/tnFZQUKAFCxbIz89P119/vbNdQUGBPv74Y2c7u92uDz74oFjbufbaa1WtWjX973//c3neJWnlypU6ceKESzH75MmTLm2sVqvzw1Lh8jabrUiPkm+++abImGgdO3bUiRMntGrVKue03NxcLVq0yKVd06ZNVadOHb333nvnHXutuENUAACAS1u3bp3++9//qlatWrrrrrsu2O7UqVNFphX2tCw8JyiLc6KzffbZZy7jYH777bdKTEx0OVepXbu2tm7d6nJe88MPP+jYsWMu6ypJthtvvFF2u10ffvihy/T3339fFovlgl/8l1Rxz//KSk5OjsaMGaNTp05p+PDhFywq2u32IkXVatWqKTw83Pk8l+R87Xw9TxcsWOAyvJZU9LzT399fderUcW6zWrVquuGGG7Rw4UIlJCRcdJs//fSTOnToIA+Pkveju+OOO3TixIki56jS6ecwKytLUvm+J9q0aaNmzZpp3rx5F7xyTir6HHp5ealBgwYyDEP5+flF2k+ePFm33Xabxo0b53KOfiEtW7aUdPp+JRfz4osvql+/foqOjpZ0+rU7efKk8zk7cOCAPDw8XDp5SNIff/yhVq1aXTIHUNbocQvALT322GP6+eefNWDAAA0YMEAOh0MffPCBrrnmGu3atcvZrkOHDvL09NTw4cN17733KjMzU//73/9UrVo1JSYmuqzz2muv1ccff6z//ve/ioqKUtWqVc87PpSnp6dGjx6tp556Svfff7+6d++u5ORkzZ8/X5GRkXrggQeu2H4HBgbq8ccfv2S7J598Uhs2bNA999yjfv36qWHDhkpNTdXOnTu1bt06bdy4UZKcN1f45JNP5O/vLz8/PzVr1syll8el9O/fXwsXLtS4ceO0c+dORUZGavny5dq8ebPGjx/v7O3RpUsXtWrVSq+99pri4uLUsGFDfffdd8W+QZyXl5fGjBmjcePGqW/fvrrzzjsVEhKiXbt26dNPP1VMTIz69+/vbD9hwgSlpqaqbdu2ioiIUHx8vD744AM1btzY2Uvjpptu0owZM/TUU0+pZcuW+vPPP7Vs2bIi+9+/f3998MEHevLJJzV48GCFhYVp2bJlzm/eCz88WK1WvfDCCxo2bJh69OihPn36KCIiQidOnNCGDRsUEBDgHJcMAAAU3+rVq3XgwAHZ7XYlJSVpw4YN+uWXX1SzZk298847Lr3xzjVjxgz99ttv6ty5syIjI5WcnKyPPvpI1atXd/ZqLItzorMFBwfrvvvuU58+fZScnKx58+YpKirK5cam/fr10/Lly/Xggw/qjjvu0OHDh7Vs2bIiwz6UJFuXLl3Upk0bvfHGG4qLi1NMTIx++eUXrVq1SkOGDLnokBIlUdzzv9I4ceKEsyd1VlaW9u/f7yx8/+Mf/7jopfGZmZnq3LmzbrvtNjVq1Eh+fn5au3attm/f7uw1W5LztZtuukmff/65AgIC1LBhQ/3+++9au3aty70QJKl79+664YYbdO211yokJETbt2/X8uXLXW7C+9xzz+m+++5Tz549dc8996h27dpKSkrS77//ruPHj+uLL75QTk6ONmzYoEmTJpXqufvb3/6mb775Rs8995w2bNigVq1ayW6368CBA/r22281e/ZsxcbGlvt7YujQoRo1apSWLFlywZtUDx06VKGhoWrVqpWqVaumAwcO6IMPPlDnzp3PezxZrVb95z//0aOPPqp//vOf+r//+78Lju0rnf6iJDo6WuvWrdPdd9993jbffPON9uzZo2nTpjmntWzZUtWqVdOoUaPUrVs3zZkzR7feeqtLUX/Hjh06deqUy42MgfJC4RaAW2ratKlmzZqlV155RW+99ZZq1KihkSNH6sCBA85LtKTTl8RMmzZNb775pl5++WWFhoZqwIABqlq1qsaPH++yzkcffVTx8fGaPXu2MjMzdcMNN1zwj3+fPn3k4+OjWbNm6dVXX5Wfn5+6du2qf//73867tJopNDRU//vf/zRjxgytWLFCH3/8sUJCQtSwYUONHj3a2c7T01NTp07V66+/rokTJ6qgoEBTpkwp0QmZj4+PFixYoFdffVVLly5VRkaG6tWrpylTprjcfdlqteqdd97RSy+9pC+++EIWi0VdunTRuHHj1KtXr2Jtq1evXqpatapmz56t2bNnKzc3VxERERo0aJBGjBjhMqbUXXfdpUWLFumjjz5SWlqawsLCdMcdd+jxxx93XtI3fPhwZWdna9myZfr666/VpEkTvfvuu3rttddctuvv76958+bphRde0Pz58+Xn56devXqpZcuWevzxx10+LLZp00YLFy7Uf//7X33wwQfKyspSWFiYmjVr5lJYBgAAxVdYSPH09FRISIiio6M1fvx49enT55JFwi5duiguLk6ffvqpTp48qSpVquiGG27Q448/7rxJbVmcE51t+PDh2rNnj/7v//5PmZmZateunZ577jlnL0ZJ6tSpk8aNG6e5c+fqpZdeUtOmTTVz5swiNz0qSbbC861p06bp66+/1pIlSxQZGakxY8boH//4R6n25XyKe/5XGrt27dKYMWNksVjk7++vGjVq6Oabb1a/fv3UrFmzS+YaMGCAfvnlF3333XcyDEN16tRxFk0LFfd87emnn5bVatWyZcuUm5urVq1aae7cuXrwwQddtjto0CB9//33+uWXX5SXl6eaNWvqn//8p4YOHeps07BhQ3366aeaPn26li5dqlOnTqlq1apq0qSJHn30UUnS+vXrlZeXV+qe0VarVTNmzND777+vzz//XCtWrJCvr69q1aqlQYMGOW8KXN7viW7dujl7Od9zzz3n7cncv39/LVu2THPnzlVWVpaqV6/uPMe/EE9PT02bNk3Dhg3TiBEj9P7776t58+YXbN+3b1+99dZbysnJKTIWbU5Ojv7zn//o8ccfd+lN6+XlpRkzZui5557Ta6+9phtuuEHPPvusy7LffvutatasqbZt2xb3KQHKjMVw11HJAeA8RowYoX379um7774zOwquAu+//76mTJmi1atXO+8CDAAAAJTGxIkTtWPHDi1evNjsKJVSenq6unbtqtGjR6tfv35lss68vDx16dJFw4YN05AhQ8pknUBJMMYtALeVk5Pj8vjgwYNavXq1brjhBpMSoTI793jLzc3VwoULVbduXYq2AAAAuGyNGzcu1rBoKJ3AwEANHTpUc+bMkcPhKJN1fvrpp/Lw8LjgEBDAlUaPWwBuq2PHjurdu7dq166tuLg4583Cli5dqrp165odD5XMgw8+qJo1a6pRo0bKyMjQF198ob179+rVV18t1p1sAQAAAAAoS4xxC8BtderUSV999ZUSExPl5eWlFi1a6IknnqBoiyuiY8eOWrx4sZYtWya73a6GDRvqjTfe0J133ml2NAAAAADAVYgetwAAAAAAAADgZhjjFgAAAAAAAADcDIVbAAAAAAAAAHAzjHFbDA6HQwUFBbJarbJYLGbHAQAAqDAMw5DD4ZCHh4esVvoMVBacHwMAAJROSc6PKdwWQ0FBgbZv3252DAAAgAorNjZWXl5eZsdAGeH8GAAA4PIU5/yYwm0xFFa/Y2NjZbPZTE4DAABQcdjtdm3fvp3etpUM58dXl8L3Ma/31YnXHxwD4BgoWyU5P6ZwWwyFl3/ZbDYOUAAAgFLgcvrKhfPjqxOv99WN1x8cA+AYKFvFOT+m6wMAAAAAAAAAuBkKtwAAAAAAAADgZijcAgAAAAAAAICboXALAAAAAAAAAG6Gwi0AAAAAAAAAuBkKtwAAAAAAAADgZijcAgAAAAAAAICboXALAAAAAAAAAG6Gwi0AAAAAAAAAuBkKtwAAAAAAAADgZijcAgAAAAAAAICboXALAAAAAAAAAG6Gwi0AAAAAAAAAuBkKtwAAAAAAAADgZijcAgAAAAAAAICboXALAAAAAAAAAG6Gwm05MBwOsyPgCuG1BQAAAAD3U9rPanzGA+BOPMwOcDWwWK2KX/aRcpMTzI6CMuRdLVw1e95ndgwAAAAAwDksVqsSVq6UIze32MtYvb0V3rXrFUwFACVD4bac5CYnKPdEnNkxAAAAAAC4Kjhyc0tUuAUAd8NQCQAAAAAAAADgZijcAgAAAAAAAICboXALAAAAAAAAAG6Gwi0AAAAAAAAAuBkKtwAAAAAAAADgZijcAgAAAAAAAICboXALAAAAAAAAAG6Gwi0AAAAAAAAAuBkKtwAAAAAAAADgZijcAgAAAAAAAICboXALAAAAAAAAAG7Gw+wAAAAAAAAApZVz/LiyjxyRPTNT9sxMeQQGyjcqSobdbnY0ALgsFG4BAAAAAECFknfypJK+/16nfv1VOXFx529ktcqnRg351a8vz2rVZLFYyjckAFwmCrcAAAAAAKBCcOTl6cTXX+vEsmVy5OWdnmizya9uXXkEBsrm66v8kyeVffiw7FlZyomLU05cnDyCgxXUvLm8qlUzdwcAoAQo3AIAAAAAALeXuW+f/poxQ3lJSZIk/4YNFXrLLQpu2VIe/v4ubQ3D0NEPP1TG7t3KPnpUBampSlm9Wn716yugSRNZPT3N2AUAKBEKtwAAAAAAwK0l//yzDr/3noz8fHlWrarIe+9VlbZtLzj8gcVikWeVKgpu1UqB116r9J07lX3okLIOHFDu8eMKaddOnkFB5bwXAFAyFG4BAAAAAIBbMgxD8QsX6sRXX0mSglu1Ut3hw2Xz9S32Oqze3gpu1Uo+tWopbcsW2bOylPLTTwq+/nr5VK9+paIDwGWzmh0AAAAAAADgXIZhKO7jj51F2+p/+5vqjxpVoqLt2bzDw1XtppvkFRoqo6BAp9atU+aBA2UZGQDKFIVbAAAAAADgdo4vXaqEb76RJNUZOlQ1775bFuvllTGs3t6q0qGDfOvWlSSlb92qzH37LjcqAFwRDJUAAAAAAADcSsLy5Tq2dKkkKfj661WQmanjZ3reXootMFBhN954wfkWq1VBLVrI6u2tzD17lL59u2QYCmzatEyyA0BZoXALAAAAAADcRtqOHTr64YeSpBp33y2Lh4ccubnFXt7q5XXJNhaLRQGNG0vS6eLtjh2nl+vevXShAeAKYKgEAAAAAABwRRkOR7Ha5SYm6q8ZMyTDULUbb1T1u+66YpksFosCmzSRf0yMJCl182ad3Ljxim0PAEqKHrcAAAAAAOCKslitSli58qI9Z42CAiWtWiV7RoY8q1aVb4MGslgsVzxbQOPGcuTlKfuvv3TwnXfkERiowDO9cQHATPS4BQAAAAAAV5wjN/eiP6mbNyv/5ElZvLwUcv31kt1eLrksFouCmjeXT61aMgoKdODNN5UTH18u2waAi6FwCwAAAAAATJV74oSyDhyQJIW0bi2bn1+5bt9isahKu3byj46WPStL+994QwWZmeWaAQDOReEWAAAAAACYxpGXp9TNmyVJfvXryzsiwpQcFptN9UeOlFe1aso9flwHZ8wo9ti8AHAlULgFAAAAAACmSdu6VY6cHNkCAhR47bWmZvEMDlb9f/1LFi8vpW3frrhPPjE1D4Crm6mF219//VXDhw9Xx44dFRMTo5UrVzrn5efn6z//+Y969uypFi1aqGPHjhozZoxOnDjhso5Tp07pySefVKtWrdS6dWuNHz9emedczrB7927dd999io2NVefOnTVr1qxy2T8AAAAAAHBhOceOKefoUcliUfB118niYf491P2iolT3oYckSQnffKPkn382ORGAq5WphdusrCzFxMToueeeKzIvJydHf/zxhx555BEtWbJE06dP119//aVHHnnEpd3o0aO1b98+zZ07VzNnztRvv/2mZ5991jk/IyNDQ4cOVc2aNbVkyRKNGTNG06dP18KFC6/4/gEAAAAAgPNzFBQobetWSZJ/w4byqlrV5ET/X5U2bVT9b3+TJB1+7z1l7ttnciIAVyNTv8rq3LmzOnfufN55gYGBmjt3rsu0Z555Rv369VN8fLxq1qyp/fv3a82aNVq8eLFiY2MlSRMmTNBDDz2kMWPGKCIiQl988YXy8/P10ksvycvLS9dcc4127dqluXPnqn///iXKay/lHS1tNluplkPFUNrjAgCAqwF/JwEAF5Kxa5cc2dmy+fkpoFEjs+MUUaNPH2UfOaLUzZt14K23FDNpklsVlwFUfuZfg1ACGRkZslgsCgoKkiRt2bJFQUFBzqKtJLVv315Wq1Xbtm3Trbfeqt9//12tW7eWl5eXs03Hjh01a9YspaamKjg4uNjb3759e4kz+/r6qkmTJiVeDhXHnj17lJ2dbXYMAAAAAKgw8lNTlbV/vyQpqHlztxgi4VwWq1V1hw/XnkmTlBMXp7/eflvXPP20rG6YFUDlVGF+2+Tm5urVV19V9+7dFRAQIElKSkpS1XO+7fLw8FBwcLASExOdbWrVquXSJjQ01DmvJIXb2NhYes+iiJiYGLMjAADgtux2e6m+/AYAVF6GYSjt998lw5B3zZryrl7d7EgXZPP1VYN//Uu7n31Wmfv2Ke6TT1T7/vvNjgXgKlEhCrf5+fkaNWqUDMPQpEmTTMths9ko3KIIjgkAAAAAKL6co0eVn5Iii82moGbNzI5zSd4REYp6+GEdeOMNJS5fLv+GDVW1bVuzYwG4Cph6c7LiyM/P1z//+U/Fx8frvffec/a2lU73nE1JSXFpX1BQoNTUVIWFhTnbJCUlubQpfFzY8xYAAAAAAFx5joICpe/cKUnyj4mRzdfX5ETFE9KqlSJ69JAkHZ4zR9lxcSYnAnA1cOvCbWHR9tChQ3r//fdVpUoVl/ktW7ZUWlqaduzY4Zy2fv16ORwONTvzrV2LFi3022+/KT8/39lm7dq1qlevXomGSQAAAAAAAJcnc+9eObKzZfXzk3/DhmbHcWGx2WQ4HBecX/PuuxXQuLEcOTn6a9o02XNyXOZfbFkAKA1Th0rIzMzU4cOHnY+PHj2qXbt2KTg4WGFhYRo5cqT++OMPvfvuu7Lb7c5xa4ODg+Xl5aUGDRqoU6dOeuaZZzRp0iTl5+dr8uTJ6t69uyIiIiRJPXv21IwZM/T0009r2LBh2rt3r+bPn6+nnnrKlH0GAAAAAOBqZM/MVObevZKkoKZNZXGzYecsNpssVqsSVq6UIzf3vG38Y2KU9ddfyomP15+TJyukXTtZLBZZvb0V3rVrOScGUNmZWrjdsWOHBg8e7Hw8ZcoUSVLv3r312GOP6fvvv5ck/e1vf3NZbv78+WrTpo0k6dVXX9XkyZM1ZMgQWa1WdevWTRMmTHC2DQwM1Jw5c/T888+rT58+qlKlikaMGKH+/ftf6d0DAAAAAABnpG3fLtnt8qxWTd41a5od54IcubkXLNxaLBaFXH+9Un7+WdmHD8sjJET+DRqUc0IAVwtTC7dt2rTRnj17Ljj/YvMKhYSE6LXXXrtom0aNGumjjz4qcT4AAAAAAHD5sg4dUvbBg5KkoNhYWSwWcwNdBq/QUAU2bar07duVvn27PKtUkU+NGmbHAlAJufUYtwAAAAD+v3fffVd9+/ZVy5Yt1a5dO40YMUIHDhxwaTNo0CDFxMS4/Dz77LMubeLj4/XQQw+pefPmateunV5++WUVFBSU564AuMrEL1okSfKJjJTnOfevqYj8GjQ43WvYMHRq48Yi490CQFkwtcctAAAAgOLbuHGjBg4cqNjYWNntdr3++usaOnSovvrqK/n5+Tnb3XPPPRo5cqTzse9Zd2232+16+OGHFRoaqk8++UQJCQkaO3asPD099cQTT5Tr/gC4OqTv2qW0bdski0UBTZqYHadMWCwWBbdqpeS0NNkzMnRq3TrV7N1bFiv94wCUHX6jAAAAABXEnDlz1KdPH11zzTVq1KiRpk6dqvj4eO3cudOlnY+Pj8LCwpw/AQEBznk///yz9u3bp//85z9q3LixOnfurFGjRunDDz9UXl5eee8SgErOMAzFffKJJMmvYUN5nPX7qKKzenoqpE0bWWw25Z44oWNLl5odCUAlQ49bAAAAoIJKT0+XJAUHB7tMX7Zsmb744guFhYXp5ptv1ogRI5y9bn///XdFR0crNDTU2b5jx46aOHGi9u3bpyYl6A1nt9vLYC/g7gpfZ17vq9Plvv6nfv1VWQcOyOrtrYDGjWU4HMVetrCt4XC47XIeAQEKbN5caZs36/jnn8s/JkYBjRsXe5sVAb8DwDFQtkryPFK4BQAAACogh8Ohl156Sa1atVJ0dLRzeo8ePVSzZk2Fh4drz549evXVV/XXX39p+vTpkqSkpCSXoq0k5+PExMQSZdi+fftl7gUqEl7vq1upXn+7XfroI1kkhd9xhxJPnVJBdnaxF/fJzVWETv/eysvMdNvl5Okpa/XqMo4f1/4ZM2QMHCidNURNZcHvAHAMlD8KtwAAAEAFNGnSJO3du1cfffSRy/T+/fs7/x8TE6OwsDA98MADOnz4sOrUqVOmGWJjY2Wz2cp0nXA/drtd27dv5/W+Sl3O65/8ww86evKkPAIDFXHnnbKsXClHbm6xl/cIDJR0+sslx5n/u+NykqTISJ1at065x44peMMG1R01ShaLpWTrcFP8DgDHQNkqfD6Lg8ItAAAAUME8//zz+vHHH/XBBx+oevXqF23bvHlzSdKhQ4dUp04dhYaGatu2bS5tkpKSJElhYWElymGz2fgAdxXh9b66lfT1t+fk6Phnn0mSqvfqJZuvryxWa4lu3lXY1t2XkySrl5fqPfqo9kycqLTff1fK998rvFu3Eq3D3fE7ABwD5Y+bkwEAAAAVhGEYev7557VixQrNmzdPtWvXvuQyu3btkvT/i7ItWrTQn3/+qeTkZGebtWvXKiAgQA0bNrwywQFcdRKWL1dBaqq8wsIU2qWL2XHKhV9UlCIHDJAkxX38sbIOHTI5EYCKjsItAAAAUEFMmjRJX3zxhV577TX5+/srMTFRiYmJysnJkSQdPnxYM2bM0I4dO3T06FGtWrVKY8eO1fXXX69GjRpJOn0jsoYNG2rMmDHavXu31qxZozfffFMDBw6Ul5eXmbsHoJIoSE/Xia++kiTVvPtuWT2unot9w269VcGtWskoKNBfM2bIfub3MwCUxtXz2xMAAACo4D7++GNJ0qBBg1ymT5kyRX369JGnp6fWrVun+fPnKysrSzVq1FC3bt00YsQIZ1ubzaaZM2dq4sSJ6t+/v3x9fdW7d2+NHDmyXPcFQOV1/PPP5cjOlm9UlKq0bWt2nHJhsdlkOByyWK2KevBB7Xr6aeUeO6ajCxYoatiwiy5buBwAnIvCLQAAAFBB7Nmz56Lza9SooQ8++OCS64mMjNSsWbPKKhYAOOUmJChx5UpJUmT//ldNQdJis8litSrhzA3Yglq0UPIPPyh59Wo5HA751qp13uWs3t4K79q1nNMCqCiujt+gAAAAAADgiju2ZIkMu12B116rwKZNzY5T7hy5uXLk5sozJET+0dGSpNRff1VBWppz3rk/AHAhFG4BAAAAAMBlyzp0SClr10qSat5zjywWi8mJzBXQqJE8goLkyM1V2tatZscBUAFRuAUAAAAAAJctftEiyTBUpU0b+devb3Yc01lsNgVfd51ksSgnLk7ZR4+aHQlABUPhFgAAAAAAXJb0nTuVtm2bZLOpRr9+ZsdxG54hIfKPiZEkpW3dytAIAEqEwi0AAAAAACg1wzAUt3ChJCns5pvlExFhciL3EhATI4+gIBl5eUrfudPsOAAqEAq3AAAAAACgWAyHo8i0Uxs3Kuuvv2T19lb1Xr3KP5Sbs1itCmrRQpKUfeiQ8pKSzA0EoMLwMDsAAAAAAACoGCxWqxJWrnRe8m84HEr4+mtJkl/Dhkr++eciy9gCAxV2443lmtPdeFWrJt+6dZV98KBSt2xRaJcusthsZscC4ObocQsAAAAAAIrNkZvr/MnYs0f2jAxZvb3lV6+ey7zCH4NxXSVJgddeK6u3t+wZGcrct8/sOAAqAAq3AAAAAACgxBx5ecr44w9JUkCjRrJ6epqcyL1ZvbwUGBsrScrcs0f27GyTEwFwdxRuAQAAAABAiWXs2iUjP18eQUHyrVvX7DgVgk+tWvKsUkWG3e4segPAhVC4BQAAAAAAJZKflqasv/6SJAXGxspipbxQHBaLRYHNmkmSsg8fVl5KismJALgzfrMCAAAAAIBiMwxD6du2SYYh7xo15B0ebnakCsWralX51K4tSUrbvFmGYZicCIC7onALAAAAAACKLefIEeUlJkpWq3PMVpRM4LXXymKzKS8pSad++83sOADcFIVbAAAAAABQLAWZmUrdvFmS5B8dLQ9/f5MTVUw2X1/5NWwoSTr26acyHA6TEwFwRxRuAQAAAABAscQvXChHTo5sAQEKiI42O06F5t+woSyensqJi1PKunVmxwHghijcAgAAAACAS8rYs0dJP/wgSQpu2VIWm83kRBWb1ctLAY0bS5KOLVkio6DA5EQA3A2FWwAAAAAAcFGO3Fwdeu89SZJf/fryCg01OVHl4B8dLY+gIOUlJCh5zRqz4wBwMxRuAQAAAADARcUvWqTc+Hh5hoQoqHlzs+NUGlYPD1W/6y5J0rHPPpODXrcAzkLhFgAAAACACqi0N7Qq8XJ//aXkVaskSVHDhsnq7V2q7eL8Qm++WZ5Vqig/JUUpv/xidhwAbsTD7AAAAAAAAKDkLFarElaulCM3t9jLWL29Fd61a7Hb56elSStWSJLCunVTULNmyjpypMRZcX4Wm00WDw+F33674j7+WCe+/FLVOnWSxXrpfnaGw1GsdgAqLgq3AAAAAABUUI7c3BIVbkvCsNt1+N13ZcnKkk9kpCL7978i27maWWw2WaxWGRaLLF5eyj1+XAf/7//kW7v2RZcraQEeQMVE4RYAAAAAABQRt2iRMnbulOHhoTrDh8vq5WV2pMrL4ZBfvXrK3LNH6Tt3yissTBaLxexUAExGn3oAAAAAAOAi5ZdflPD116cfdOt2yR6guHz+DRrIYrOp4NQp5SUmmh0HgBugcAsAAAAAAJwy9u7VoTlzJEnhPXpI0dEmJ7o6WL295Vu3riQp888/zQ0DwC1QuAUAAAAAAJKkrEOHtP/VV2Xk5yuoRQtV79PH7EhXFf+GDSVJeYmJp28MB+CqRuEWAAAAAAAo59gx7Xv5ZdmzsuQfHa16jz4qi5WyQXmy+fnJu2ZNSVLW/v0mpwFgNn4DAwAAAABwlcuOi9PeKVNUkJ4u36goNXzySdl8fMyOdVXyb9BAkpR95IgceXkmpwFgJgq3AAAAAABcxTL37dOfkycr/+RJ+URGquGYMbL5+Zkd66rlWa2aPIKDJbtd2QcPmh0HgIko3AIAAAAAcJVK3bJFe6dMkT0zU34NGij66aflGRRkdqyrmsVikV/9+pKkzAMHZDgcJicCYBYKt0AFxB/uyonXFQAAAOXFcDgU/+mn2v/663Lk5SmoWTNdM26cPAIDzY4GSb61a8vi5SVHdrZyjx0zOw4Ak3iYHQBAyVmsVv357jxlxx83OwrKiG/N6op+eIjZMQAAAHAVyE9L08F33lH6jh2SpLCuXRU5cKCsHpQI3IXFZpNf3brK/PNPZR08KJ/ISLMjATABv5WBCio7/rgyDx01OwYAAACACiQvKUm7n3lG+Skpsnp5qc7Qoaravr3ZsXAevmcKt3kJCSrIzJSHv7/ZkQCUMwq3AAAAAABUcoZhKOvAgdO9bB0OedeoofojR8q3Vi2zo+ECPPz95RUerryEBGUfPKjAa681OxKAckbhFgAAAACASsxRUKC0LVuUc/T0FXshN9ygqAcflM3X1+RkuBS/unVPF24PHVJA48ayWLlVEXA1oXALAAAAAEAlVZCerpMbNsieni5ZLApq0UL1HntMFovF7GgoBu8aNWT19pYjN1e5x4/Lp2ZNsyMBKEd8VQMAAAAAQCWUc+yYkn/8Ufb0dFl9fFS1UycFxMRQtK1ALFarfKOiJElZBw+aGwZAuaNwCwAAAABAJWIYhjL+/FOn1q+XUVAgz2rVVO3mm+VVrZrZ0VAKhYXbvBMnZM/KMjkNgPJE4RYAAAAAgErCMAylbdmijJ07JUm+9eqpaseOsvn4mJwMpeURECCvsDBJUvbhwyanAVCeTC3c/vrrrxo+fLg6duyomJgYrVy50mW+YRh666231LFjRzVr1kwPPPCADp5zacCpU6f05JNPqlWrVmrdurXGjx+vzMxMlza7d+/Wfffdp9jYWHXu3FmzZs260rsGAAAAAEC5Mux2ndq4UdmHDkmSgpo3V3CLFtzQqhLwrVNH0unCrWEYJqcBUF5M/e2dlZWlmJgYPffcc+edP2vWLC1YsEATJ07UokWL5Ovrq6FDhyo3N9fZZvTo0dq3b5/mzp2rmTNn6rffftOzzz7rnJ+RkaGhQ4eqZs2aWrJkicaMGaPp06dr4cKFV3z/AAAAAAAoD4bdrpPr1ys3Pl6yWhVyww3yq1/f7FgoI941a8ri4SF7Zqbyk5PNjgOgnHiYufHOnTurc+fO551nGIbmz5+vRx55RF27dpUkvfLKK2rfvr1Wrlyp7t27a//+/VqzZo0WL16s2NhYSdKECRP00EMPacyYMYqIiNAXX3yh/Px8vfTSS/Ly8tI111yjXbt2ae7cuerfv3+J8trt9lLtp81mK9VyqBhKe1xcDo6pysuM4wkAriR+rwHAlWc4HDq1caPyEhJksdkU0ratvMPDzY6FMmT18JBPzZrKPnxY2YcPyycy0uxIAMqBqYXbizl69KgSExPVvn1757TAwEA1b95cW7ZsUffu3bVlyxYFBQU5i7aS1L59e1mtVm3btk233nqrfv/9d7Vu3VpeXl7ONh07dtSsWbOUmpqq4ODgYmfavn17iffD19dXTZo0KfFyqDj27Nmj7Ozsctsex1TlVt7HEwAAACo2wzCUumWLco8fl6xWVWnfXl6hoWbHwhXgGxWl7MOHlRMXJ0dBgdlxAJQDty3cJiYmSpKqnXPXy2rVqikpKUmSlJSUpKpVq7rM9/DwUHBwsHP5pKQk1apVy6VN6Jk/YklJSSUq3MbGxtLTEUXExMSYHQGVCMcTgMrGbreX6stvAEDxpG3dqpzDhyWLRSE33EDRthLzrFZNNj8/2bOylHP0qNlxAJQDty3cuiObzUbhFkVwTKAscTwBAACguJJ//lmZu3dLkoJbtZJPjRomJ8KVZLFY5FunjjJ271bWX3+ZHQdAOXDbW0uGhYVJkpLPGXQ7OTnZ2WM2NDRUKSkpLvMLCgqUmprqXD40NNTZQ7dQ4eNQvokEAAAAAFRAWYcO6fB770mS/Bs1km+dOiYnQnnwOfM65yUkKP/UKXPDALji3LZwW6tWLYWFhWndunXOaRkZGdq6datatmwpSWrZsqXS0tK0Y8cOZ5v169fL4XCoWbNmkqQWLVrot99+U35+vrPN2rVrVa9evRINkwAAAAAAgDsoyMzUgbfekpGfL+8aNRTQqJHZkVBOPPz95VmlimQYOrlhg9lxAFxhphZuMzMztWvXLu3atUvS6RuS7dq1S/Hx8bJYLBo8eLDeeecdrVq1Snv27NGYMWMUHh6url27SpIaNGigTp066ZlnntG2bdu0adMmTZ48Wd27d1dERIQkqWfPnvL09NTTTz+tvXv36uuvv9b8+fP197//3bT9BgAAAACgNAzD0KFZs5SXmCivsDBVadtWFovF7FgoRz61a0uSTq5fb3ISAFeaqWPc7tixQ4MHD3Y+njJliiSpd+/emjp1qoYNG6bs7Gw9++yzSktL03XXXafZs2fL29vbucyrr76qyZMna8iQIbJarerWrZsmTJjgnB8YGKg5c+bo+eefV58+fVSlShWNGDFC/fv3L78dBQAAAACgDKSsXavUTZtksdlUf+RIpe3cKUdurtmxUI58IiOVvn27MvftU25CgrzDw82OBOAKMbVw26ZNG+3Zs+eC8y0Wi0aNGqVRo0ZdsE1ISIhee+21i26nUaNG+uijj0qdEwAAAAAAs+WlpOjo/PmSpOq9e8uvbl2l7dxpciqUN5uPj7zCw5V34oROrl+v6nfdZXYkAFeI245xCwAAAAAATjMMQ4fnzJE9K0t+9eqpeo8e5bZtDw9T+3zhPApvRpdy1n2BAFQ+FG4BAAAAAHBzKb/8orRt22Tx9FTUww/LYrOVaj0Wm02Gw1Hs9jabTc2bN5etlNvDleFbu7YsNptyjh5V9pEjZscBcIXwtRkAAAAAAG7Mnp2tuE8+kSTV6NVLvpGRpV6XxWaTxWpVwsqVxRob13A4lJCQoPDwcHkEByvsxhtLvW2UHauXl4KaN1fq5s1KWb9ekWduWAagcqHHLQAAAAAAbuzYZ5+pIDVV3tWrK/yOO8pknY7c3GL/FGRny5GbK4OboLmVKu3aSZJOrl8vwzBMTgPgSqBwCwAAAACAm8qJj1fC8uWSpFoDB8rq6WlyIriLkJYtZfX2Vl5CgrL27zc7DoArgMItAAAAAABuyDAMHf3gA8luV1CLFgpu0cLsSHAjVm9vBbdqJUlKWb/e5DQArgQKtwAAAAAAuKH0HTuUtn27LB4eqnX//WbHgRuqevZwCSW46RyAioHCLQAAAAAAbsYwDMUvXixJCrvlFvlERJicCO4oMDZWNn9/FaSmKmPXLrPjAChjFG4BAAAAAHAzqVu2KOvAAVm9vBTRs6fZceCmrB4eqnLDDZKklHXrTE4DoKxRuAUAAAAAwI0YDoeOFfa2ve02eQYHm5wI7qzKmeESTv36qxz5+SanAVCWKNwCAAAAFcS7776rvn37qmXLlmrXrp1GjBihAwcOuLTJzc3VpEmT1KZNG7Vs2VKPP/64kpKSXNrEx8froYceUvPmzdWuXTu9/PLLKigoKM9dAXARJzduVPaRI7L6+irizjvNjgM3FxATI88qVWTPylLa9u1mxwFQhijcAgAAABXExo0bNXDgQC1atEhz585VQUGBhg4dqqysLGebl156ST/88IPefPNNLViwQAkJCXrsscec8+12ux5++GHl5+frk08+0dSpU7V06VJNmzbNjF0CILncVMpwOHR86VJJUsSdd8ojIMCsWKggLFarQs4Ml3Bq40aT0wAoSx5mBwAAAABQPHPmzHF5PHXqVLVr1047d+7U9ddfr/T0dH366ad69dVX1e7MpbMvvfSS7rzzTv3+++9q0aKFfv75Z+3bt09z585VaGioGjdurFGjRunVV1/VY489Ji8vr2LnsdvtZbp/cE+FrzOv95Vjs9l04rvv5MjNVU5cnHLi42Xx9JTD4dCxZcvOu4xHYKDCbrpJhsPhUvi9lMK2xV3OYRjOf0u6bGm3WdGWM2ObhW0L35fBrVsrcflyndq8Wfk5ObJ6ehZ7XZfC7wBwDJStkjyPFG4BAACACio9PV2SFHxm/MsdO3YoPz9f7du3d7Zp0KCBatas6Szc/v7774qOjlZoaKizTceOHTVx4kTt27dPTZo0Kfb2t3NJ7lWF1/vK8PDwUPPmzXX8yBEVZGdLO3fKIskRGqrj8fEXXM6nShWFSUpKSlJeZmaxt+eTm6uIUiyXcOKEfPLySrVsabdZUZYzY5sevr6qodO/9wsKCiTDkAIC5MjI0LZly6T69UuUvzj4HQCOgfJH4RYAAACogBwOh1566SW1atVK0dHRkk5/8Pf09FRQUJBL22rVqikxMdHZ5uyirSTn48I2xRUbGyubzVbaXUAFYbfbtX37dl7vKyw8PFw58fE6mZEhWa0Ka9ZMNh+fC7b3CAyUdPr96zjz/+Io6XIOw1DCiRMKj4iQ15nfLVd6mxVtOTO2afX2liQ1bdrUOS2ufXslffedqiYmqk6fPsVe16XwOwAcA2Wr8PksDgq3AAAAQAU0adIk7d27Vx999JFpGWw2Gx/griK83leWxWpV1r59kiTfOnXk4ed3yfaF/xb+v7jbKcly1jOX5FstlnLbZkVbzoxtFrY9+z1ZtU0bJX33nVJ//10Wu13WEgx9Uxz8DgDHQPnj5mQAAABABfP888/rxx9/1Lx581S9enXn9NDQUOXn5ystLc2lfXJyssLCwpxtkpKSXOYXPi5sA6D85aemKvf4cUmSf8OGJqdBReTfsKE8q1aVIztbaTt2mB0HQBmgcAsAAABUEIZh6Pnnn9eKFSs0b9481a5d22V+06ZN5enpqXXr1jmnHThwQPHx8WrRooUkqUWLFvrzzz+VnJzsbLN27VoFBASoIcUiwDSZe/ZIkrxr1HBePg+UhMVqVZXrr5ckndywweQ0AMoChVsAuMo5SnjHXFQcvLZA5TNp0iR98cUXeu211+Tv76/ExEQlJiYqJydHkhQYGKi+fftq6tSpWr9+vXbs2KHx48erZcuWzsJtx44d1bBhQ40ZM0a7d+/WmjVr9Oabb2rgwIHyKuPLagEUT0FmprIPHZJEb1tcnpA2bSRJqZs3y5GXZ3IaAJeLMW4B4CpntVr14ysLdOrwCbOjoAyF1InQTWMGmR0DQBn7+OOPJUmDBrm+v6dMmaI+Z25EM378eFmtVo0cOVJ5eXnq2LGjnnvuOWdbm82mmTNnauLEierfv798fX3Vu3dvjRw5svx2BKikDIejxGOjSlLy6tUy7HZ5BAXJs1q1K5AMVwv/Bg3kWa2a8pOTlbZ9u0Kuu87sSAAuA4VbAIBOHT6h5P1HzY4BALiEPWcupb4Yb29vPffccy7F2nNFRkZq1qxZZRkNgE5fqp6wcqUcubnFXsYaEKCk77+XJPnVry+LxXKl4qESsdhs5/2ioHC4hIRvv9XJjRvPW7gt7RcMAMofhVsAAAAAAMqIIze3RIXbvKQk5R4/Lounp3zOGbcauBCLzXbBLwocBQWSpFMbN+pYZKQsNptzntXbW+Fdu5ZrVgClR+EWAAAAAACTZOzeLUnyq1tXVg8+oqNkzvdFgS0gQFZfXzmys5V9+LB8atY0KR2Ay0XfeAAAAAAATGDPylJOXJwkye+aa0xOg8rCYrHIJzJSkpzHF4CKicItAAAAAAAmyD50SDIMBTRuLM+gILPjoBIpLNzmHj8uw243OQ2A0qJwCwAAAABAOTMMQ9mHD0uSqnXubHIaVDaeVarI6usro6BAuSdOmB0HQClRuAUAAAAAoJzlJSXJnpUli6enqrRubXYcVDIMlwBUDhRuAQAAAAAoZ9mHDkk6c1Myb2+T06AyYrgEoOKjcAsAAAAAQDly5OcrJz5ekuTXsKHJaVBZMVwCUPFRuAUAAAAAoBzlxMVJdrtsAQHyCg01Ow4qKYZLACo+CrcAAAAAAJSjwmESfKOiZLFYTE6Dysw5XMKxYwyXAFRAFG4BAAAAACgnBRkZyk9JkST51qljchpUdp5Vqsjq5yfDblfu8eNmxwFQQhRuAQAAAAAoJ4WXrHuFhcnm42NyGlR2FotFPjVrSpJzXGUAFQeFWwAAAAAAyknOkSOSJJ9atUxOgquFy3AJBQUmpwFQEhRuAQAAAAAoB/mpqSpIT5esVmcvSOBKO3u4hJxjx8yOA6AEKNwCAAAAAFAOco4elSR5R0TI6uVlchpcLSwWi3zP9LrNPtPjG0DFQOEWAAAAAIArzDAMZ+GWYRJQ3pzDJcTFyZGba3IaAMVF4RYAAAAAgCssPyVF9qwsWWw2+VSvbnYcXGU8QkJkOzNcQuq2bWbHAVBMFG4BAAAAALjCcuLiJEneNWvK4uFhchpcbSwWi7PX7ckNG0xOA6C4KNwCAAAAAHAFGYbhLNwWFs+A8lZ47KVt2cJwCUAFQeEWAAAAAIArKP/kSTlycmTx8JB3eLjZcXCV8ggJkc3fX468PKVu3Wp2HADFQOEWAAAAAIAryDlMQvXqsthsJqfB1cpisci3dm1J0smNG01OA6A4KNwCAAAAAHCFGIah3Ph4SZJPzZomp8HVzqdOHUmnh0uw5+SYnAbApVC4BQAAAADgCilITZU9K0uy2eQVEWF2HFzlPKtUkVdYmBx5eUpjuATA7VG4BQAAAADgCsk509vWOzxcVg8Pk9PgamexWFSlTRtJDJcAVAQUbgEAAAAAuEIKC7c+kZEmJwFOq3LDDZKk1N9/Z7gEwM1RuAUAAAAA4AooSEuTPT1dsljkXb262XEASZJv3bryCg+XwXAJgNujcAsAAAAAwBWQc+yYJMkrPFxWT0+T0wCnWSwWZ6/bkxs2mJwGwMVQuAUAAAAA4ArIPVO49alRw+QkgKvCcW5Tt25luATAjbl14dZut+vNN99Uly5d1KxZM3Xt2lUzZsyQYRjONoZh6K233lLHjh3VrFkzPfDAAzp48KDLek6dOqUnn3xSrVq1UuvWrTV+/HhlZmaW894AAAAAAK4W9txc5Z88KUkMkwC34xsVJW+GSwDcnlsXbmfNmqWPP/5Yzz77rL7++muNHj1as2fP1oIFC1zaLFiwQBMnTtSiRYvk6+uroUOHKjc319lm9OjR2rdvn+bOnauZM2fqt99+07PPPmvGLgEAAAAArgK5x49LkjxCQmTz9TU5DeDKYrEopHC4hPXrTU4D4EI8zA5wMVu2bNEtt9yim266SZJUq1YtffXVV9q2bZuk071t58+fr0ceeURdu3aVJL3yyitq3769Vq5cqe7du2v//v1as2aNFi9erNjYWEnShAkT9NBDD2nMmDGKiIgodh673V6q/bDZbKVaDhVDaY+Ly8ExVXlxPKGsmXFMAWfjGARwtXIOk0BvW7ipKm3b6sSXX54eLiE7my8YADfk1oXbli1batGiRfrrr79Ur1497d69W5s2bdK4ceMkSUePHlViYqLat2/vXCYwMFDNmzfXli1b1L17d23ZskVBQUHOoq0ktW/fXlarVdu2bdOtt95a7Dzbt28v8T74+vqqSZMmJV4OFceePXuUnZ1dbtvjmKrcOJ5Q1sr7mAIAAJJhtysvIUGS5M34tnBTvnXqyKdmTeXEx+vUr7+q2o03mh0JwDncunD70EMPKSMjQ3fccYdsNpvsdrv+9a9/6a677pIkJSYmSpKqVavmsly1atWUlJQkSUpKSlLVqlVd5nt4eCg4ONi5fHHFxsbSMw1FxMTEmB0BlQjHE8oaxxTMZrfbS/XlNwBUZHmJiTLsdll9feURHGx2HOC8LBaLqrRvr2OLFytl7VoKt4AbcuvC7TfffKNly5bptddeU8OGDbVr1y5NmTJF4eHh6t27d7nnsdlsFG5RBMcEyhLHE8oaxxQAAOUv58z4tt7Vq8tisZicBriwqu3a6djixUr/4w/lnzolz5AQsyMBOItb35zslVde0UMPPaTu3bsrJiZGvXr10pAhQ/Tuu+9KksLCwiRJycnJLsslJycrNDRUkhQaGqqUlBSX+QUFBUpNTXUuDwAAAABAWTAMw3ljMsa3hbvzDg+Xf8OGkmEoZd06s+MAOIdbF25zcnKKfDtps9lkGIak0zcrCwsL07qzfrlkZGRo69atatmypaTT4+SmpaVpx44dzjbr16+Xw+FQs2bNymEvAAAAAABXi4JTp+TIzpbFZpMXnYVQAVQ9c9+gkxRuAbfj1oXbm2++WTNnztSPP/6oo0ePasWKFZo7d666du0q6fR4LIMHD9Y777yjVatWac+ePRozZozCw8OdbRo0aKBOnTrpmWee0bZt27Rp0yZNnjxZ3bt3V0REhJm7BwAAAACoZHKOHZMkeYWFycKQRagAQtq0kaxWZf31l/P4BeAe3HqM2wkTJuitt97SpEmTlJycrPDwcPXv31+PPvqos82wYcOUnZ2tZ599Vmlpabruuus0e/ZseXt7O9u8+uqrmjx5soYMGSKr1apu3bppwoQJZuwSAAAAAKASyz1T+PKmoxAqCM+gIAXFxipt61alrF2rmn37Fmnj4eHW5SOg0nLrd15AQICefvppPf300xdsY7FYNGrUKI0aNeqCbUJCQvTaa69diYgAAAAAAEiSCjIzlZeUJEnyonALN2Sx2WQ4HLJYXS/Artq+vbNwW6NPH5dhK202m5o3by7D4SjvuMBVz60LtwAAAAAAVBTpO3ZIhiFbYKA8/P3NjgMUYbHZZLFalbBypRy5uc7pjoICWTw8lJeQoCPz58vrzA3fJclwOJSSnq5r77vPjMjAVY3CLQAAAAAAZSBt2zZJDJMA9+fIzXUp3EqSd40ayjlyRFkHDsgjMNA53XA4VJCdXd4RAcjNb04GAAAAAEBFYDgcSt26VRKFW1RMvrVqSZJy4uIYFgFwExRuAQAAAAC4TNmHD6sgNVUWDw95VatmdhygxLzCw2Xx8pIjN1d5iYlmxwEgCrcAAAAAAFy2s4dJsNhsJqcBSs5itTp73WYfOWJyGgAShVsAAAAAAC6bc5iEGjVMTgKUns+Zwm1ufLwcBQUmpwFA4RYAAAAAgMtgz8pS5r59kiTv6tVNTgOUnmfVqrL5+8uw25UbH292HOCqR+EWAAAAAIDLkP7HH5LDIe/q1eUREGB2HKDULBaLfOvUkXR63GYA5qJwCwAAAJSDW265RSdPniwyPS0tTbfccosJiQCUlbQdOyRJQU2bmpwEuHw+tWtLkvISE2XPyjI5DXB1K1XhdvDgwUpLSysyPSMjQ4MHD77sUAAAAEBlExcXJ4fDUWR6Xl6eTpw4YUIiAGUlfft2SVJgbKzJSYDL5+HvL6+wMEn0ugXM5lGahTZu3Kj8/Pwi03Nzc7Vp06bLDgUAAABUFqtWrXL+f82aNQoMDHQ+djgcWrdunSIjI82IBqAM5J44odyEBMlmU2Djxso5dszsSMBl861TR3mJico+dEh+11xjdhzgqlWiwu3u3bud/9+3b58SExOdjx0Oh9asWaOIiIiySwcAAABUcI8++qik0+MGjhs3zmWeh4eHIiMji0wHUHEUDpMQ0LChbL6+JqcByoZPzZpK27pV9qws5ScnS56eZkcCrkolKtz26tVLFotFFotFQ4YMKTLfx8dHEyZMKLNwAACgYnHYHbLaGEK/MuK1Lb3Czg9dunTR4sWLVbVqVZMTAShLhYVbhklAZWLx8JBPZKSyDx06PVxCgwZmRwKuSiUq3K5atUqGYahr16763//+53LS6enpqWrVqslms5V5SAAAUDFYbVZ98NxcnTh43OwoKEMRdavr/kl/NztGhff999+bHQFAGTPsdqXv3ClJCqJwi0rGNypK2YcOKSc+XtaoKLPjAFelEhVuC8feOnvIBAAAgLOdOHhccXuOmB0DcEvr1q3TunXrlJycXORGZVOmTDEpFYDSyty/X47sbNkCAuRXt67ZcYAy5Vm1qmwBAbJnZMg4a6hMAOWnVDcnk6SDBw9qw4YN5z3pfOyxxy47GAAAAFCZTJ8+XTNmzFDTpk0VFhYmi8VidiQAlylt+3ZJUuC118piZTgZVC4Wi0W+deoo448/ZBznairADKUq3C5atEgTJ05UlSpVFBoa6nLSabFYKNwCAAAA5/jkk080ZcoU9erVy+woAMpI+h9/SJKCrr3W5CTAlVFYuFVqqnJOnJAPN6QHylWpCrfvvPOO/vnPf+qhhx4q6zwAAABApZSfn69WrVqZHQNAGbHn5Chz/35Jp3vcApWRzddXXuHhyktIUMrq1arZr5/ZkYCrSqmu5UhNTdUdd9xR1lkAAACASuvuu+/WsmXLzI4BoIxk7Nkj2e3yCg2Vd3i42XGAK8a3Th1JUvLPP8s4Z6hMAFdWqXrc3n777fr55581YMCAss4DAAAAVEq5ublatGiR1q1bp5iYGHl4uJ6KP/XUU8Vaz6+//qo5c+Zox44dSkxM1IwZM9S1a1fn/HHjxmnp0qUuy3Ts2FFz5sxxPj516pQmT56sH374QVarVd26ddPTTz8tf3//y9hD4OqSvnOnJCmwSROTkwBXlnf16pKHh/JTUpS+c6eCYmPNjgRcNUpVuI2KitJbb72lrVu3Kjo6ushJ5+DBg8skHAAAAFBZ7NmzR40aNZIk/fnnny7zSnKjsqysLMXExKhv374XvLdEp06dNGXKFOdjLy8vl/mjR49WYmKi5s6dq/z8fI0fP17PPvusXnvttWLnAK52hePbMkwCKjuLzSZLeLiM+Hgl//QThVugHJWqcLtw4UL5+flp48aN2rhxo8s8i8VC4RYAAAA4x4IFC8pkPZ07d1bnzp0v2sbLy0thYWHnnbd//36tWbNGixcvVuyZD98TJkzQQw89pDFjxiiCG88Al1SQnq7sw4cl0eMWVwdLjRoy4uN16rfflJ+aKs/gYLMjAVeFUhVuv//++7LOAQAAAKCMbNy4Ue3atVNQUJDatm2rf/7zn6pSpYokacuWLQoKCnIWbSWpffv2slqt2rZtm2699dZib8dut5d5drifwteZ1/v/S925UzIMedesKWtgoPO5sdlsMhyOEo0DWtjWXZdzGIbzX3fPatZyZmyzPJdzGIYsgYHyq19fWQcOKGn1aoXfeWext4mKj78DZaskz2OpCrcAAAAASmbQoEEXHRJh/vz5ZbKdTp066dZbb1WtWrV05MgRvf766xo2bJgWLlwom82mpKQkVa1a1WUZDw8PBQcHKzExsUTb2r59e5lkRsXA632W1atlkZQTHq7ff/9d0un3UfPmzZWQkKCC7Oxir8onN1cRkpKSkpSXmem2yyWcOCGfvLwKkbW8l6tIWUu7nIevr0JvvlmHDxxQ/PLliq9RQyrBMD+oHPg7UP5KVbi91I0Tzh5PCwAAAIDUuHFjl8cFBQXatWuX9u7dq169epXZdrp37+78f0xMjGJiYtS1a1dnL9yyFBsbK5vNVqbrhPux2+3avn07r/dZdn/yiXIl1bvxRgW3aOEyLzw8XI7c3GKvyyMwUJIUGhoqx5n/u9NyDsNQwokTCo+IkFdQkFtnNWs5M7ZZnss5DEMpaWmq0ratjn70kRypqarv5cX4zlcR/g6UrcLnszhKVbhNS0tzeVxQUKC9e/cqLS1Nbdu2Lc0qAQAAgEpt/Pjx553+9ttvKysr64ptt3bt2qpSpYoOHTqkdu3aKTQ0VCkpKS5tCgoKlJqaesFxcS/EZrPxAe4qwut9Wl5KinKPH5csFgU1aVLkObFYrbJYrcVeX2Fbd13OeuZyeqvF4vZZzVrOjG2W53KFx4DNx0dV27dX0qpVSvnxR4U0a1bs7aJy4O9A+StV4XbGjBlFpjkcDk2cOFG1a9e+7FAAAADA1eKuu+5Sv379NHbs2Cuy/uPHj+vUqVPOomzLli2VlpamHTt2qGnTppKk9evXy+FwqBkfwoFLSt+5U5LkV6+ePPz9TU4DlK/QLl2UtGqVTm3erPxTp+QZEmJ2JKBSK9lXSBdbkdWqBx54QPPmzSurVQIAAACV3pYtW+Tl5VXs9pmZmdq1a5d27dolSTp69Kh27dql+Ph4ZWZm6uWXX9bvv/+uo0ePat26dRoxYoSioqLUqVMnSVKDBg3UqVMnPfPMM9q2bZs2bdqkyZMnq3v37oqIiLgi+whUJul//CFJCmzSxOQkQPnzq1NH/g0bSna7klevNjsOUOmV6c3Jjhw5ooKCgrJcJQAAAFApPPbYYy6PDcNQYmKiduzYoREjRhR7PTt27NDgwYOdjwvvL9G7d29NnDhRf/75pz777DOlp6crPDxcHTp00KhRo1yKw6+++qomT56sIUOGyGq1qlu3bpowYcJl7iFQ+RmG4exxy/ieuFqF3nyzMvftU9KPPyqiR48SDysBoPhKVbg99+ZjhSedP/74o3r37l0mwQAAAIDKJPCcm8BYLBbVq1dPI0eOVMeOHYu9njZt2mjPnj0XnD9nzpxLriMkJESvvfZasbcJ4LTc48eVf/KkLB4eCrjmGrPjAKao0qaNjn74ofISE5W+Y4eCGGYHuGJKVbj948ylIYWsVquqVq2qcePGqW/fvmUSDAAAAKhMzu38AKDiKext63/NNbJ6e5ucBjCH1dtbVTt0UOKKFUr84QcKt8AVVKrC7YIFC8o6BwAAAHBV2LFjh/bv3y9Juuaaa9SEcTKBCoPxbYHTQrt0UeKKFUrdvFl5J0/Kq0oVsyMBldJljXGbkpKiAwcOSJLq16+vqlWrlkkoAAAAoLJJTk7Wv/71L23cuFFBQUGSpLS0NLVp00ZvvPEG59KAmzMcDqWfuSkg49viaudbq5b8o6OV+eefSv7pJ9Xo1cvsSEClVKoRpLOysvTUU0+pY8eOuv/++3X//ferU6dOGj9+vLKzs8s6IwAAAFDhTZ48WZmZmfrqq6+0ceNGbdy4UV9++aUyMjL0wgsvmB0PwCVkHz4se0aGrD4+8q9Xz+w4gOlCb75ZkpT8448yHA6T0wCVU6kKt1OnTtWvv/6qd955R7/99pt+++03/fe//9Wvv/6qqVOnlnVGAAAAoMJbs2aNnnvuOTVo0MA5rWHDhnruuee0evVqE5MBONf5ilCF49sGNGoki8dlXbwKVApVbrhBtoAA5SUnK/X3382OA1RKpfprs3z5ck2bNk1t2rRxTuvcubO8vb31z3/+U5MmTSqzgAAAAEBl4HA45OnpWWS6h4eHHPRUAtyKxWpVwsqVcuTmOqcl//TTmZkWHf/qqyLL2AIDFXbjjeUVETCd1ctL1W68UQlff63EFSsU0qqV2ZGASqdUPW5zcnIUGhpaZHq1atWUk5Nz2aEAAACAyqZt27Z68cUXdeLECee0EydOaMqUKWrXrp2JyQCcjyM31/ljz85WXkKCJMmzShWXeYU/xllFXuBqEda1q2SxKH3HDuXEx5sdB6h0SlW4bdGihaZNm6bcs/4w5eTkaPr06WrRokVZZQMAAAAqjWeffVYZGRm65ZZb1LVrV3Xt2lW33HKLMjIy9Mwzz5gdD8BF5KekyLDbZfHykseZmwsCkLzDwhTcsqUkKXHFCpPTAJVPqYZKGD9+vB588EHdeOONatSokSRp9+7d8vLy0nvvvVemAQEAAIDKoEaNGlq6dKnWrl2rAwcOSJIaNGig9u3bm5wMwKXkJSZKOl2kslgsJqcByp/V01OGwyGLtWj/v7Bbb1Xq5s1K/vln1bznHtl8fYu0udCyAC6uVIXbmJgYfffdd1q2bJnzpLNHjx7q2bOnfHx8yjQgAAAAUJGtW7dOkydP1qJFixQQEKAOHTqoQ4cOkqT09HR1795dkyZNUuvWrU1OCuBCcs8Ubr3CwkxOApjDarOdd+xnSTIMQx5BQSpIS9NfM2cqIDradVlvb4V37VqecYFKo1SF23fffVfVqlXTPffc4zJ98eLFSklJ0UMPPVQm4QAAAICKbt68ebrnnnsUEBBQZF5gYKD69++vuXPnUrgF3JSjoED5KSmSKNwChWM6n8uvXj2lbd2qzD//lG+dOvRMB8pIqfqpL1y4UPXr1y8y/ZprrtEnn3xy2aEAAACAymLPnj3q1KnTBed36NBBO3fuLMdEAEoiPzlZMgxZfX1l8/c3Ow7glnxq15bFw0P2jAznjfwAXL5SFW4TExMVdp5vGqtWrarEM5eQAAAAAJCSkpLk4XHhC908PDyUcqY3HwD3w/i2wKVZPT3lGxUlSco6M6QmgMtXqsJtjRo1tHnz5iLTN23apPDw8MsOBQAAAFQWERER2rt37wXn79mz57ydIgC4B8a3BYrHr149SVLu8eMqyMw0OQ1QOZSqcNuvXz+99NJL+vTTTxUXF6e4uDgtXrxYU6ZMKTLuLQAAAHA169y5s9566y3lnmdMwJycHL399tu6+eabTUgG4FIceXkqOHVKEoVb4FI8AgPldaYzH71ugbJRqpuTPfjggzp16pQmTZqk/Px8SZK3t7cefPBBPfzww2UaEAAAAKjIHnnkEX333Xe67bbbNHDgQNU70yPpwIED+uijj2S32zV8+HCTUwI4n8JhEmyBgbL5+pqcBnB/fg0aKC8hQdmHDimgcWNZLzJUEIBLK9U7yGKx6N///rdGjBih/fv3y8fHR3Xr1pWXl1dZ5wMAAAAqtNDQUH3yySeaOHGiXn/9dRmGIen0OXXHjh317LPPKjQ01OSUAM7n7PFtAVyad0SEbP7+smdmKufIEefwCQBK57K++vD391ezZs3KKgsAAABQKUVGRmrWrFlKTU3VoUOHJElRUVEKDg42ORmAi2F8W6BkLBaL/OrXV/r27crcv1++deuaHQmo0Eo1xm15OnHihEaPHq02bdqoWbNm6tmzp7Zv3+6cbxiG3nrrLXXs2FHNmjXTAw88oIMHD7qs49SpU3ryySfVqlUrtW7dWuPHj1cmA2UDAACgnAUHB6tZs2Zq1qwZRVvAzdmzsmTPyJAkedErHig236goWTw8ZE9PV15CgtlxgArNrQu3qampGjBggDw9PTVr1ix99dVXGjt2rMtJ7qxZs7RgwQJNnDhRixYtkq+vr4YOHepy84fRo0dr3759mjt3rmbOnKnffvtNzz77rBm7BAAAAACoAHJPnJAkeYSEyMqwgECxWT095RsVJUnK3LfP5DRAxebWhdtZs2apevXqmjJlipo1a6batWurY8eOqlOnjqTTvW3nz5+vRx55RF27dlWjRo30yiuvKCEhQStXrpQk7d+/X2vWrNELL7yg5s2bq3Xr1powYYK++uornTjzhxgAAAAAgLPlnukpyPi2QMn5NWggScpLSFD+qVPmhgEqMLe+vd/333+vjh07auTIkfr1118VERGh++67T/fcc48k6ejRo0pMTFT79u2dywQGBqp58+basmWLunfvri1btigoKEixsbHONu3bt5fVatW2bdt06623FjuP3W4v1X7YbLZSLYeKobTHxeXgmKq8OJ5Q1sr7mOJ4qtxKczyZ8XsNAC6XYRjKO9PRh/FtgZLz8PeXd82ayo2PV+aff5odB6iw3Lpwe+TIEX388cf6+9//ruHDh2v79u164YUX5Onpqd69eyvxzEDx1apVc1muWrVqSkpKkiQlJSWpatWqLvM9PDwUHBzsXL64zh5bt7h8fX3VpEmTEi+HimPPnj3Kzs4ut+1xTFVuHE8oa+V5THE8VX7l/TsKAMySe+KE7FlZksUir3M+bwIoHv+GDZUbH6+sgweVn5oqT8Z2B0rMrQu3hmGoadOmeuKJJyRJTZo00d69e/XJJ5+od+/e5Z4nNjaWnkQoIiYmxuwIqEQ4nlDWOKZQlkpzPNnt9lJ9+Q0AZkrfuVOS5Fm1qiwebv2xGXBbnlWryrNKFeWfPKmkVatUo08fsyMBFY5b/wUKCwtTgzPjohSqX7++li9f7pwvScnJyQoPD3e2SU5OVqNGjSRJoaGhSklJcVlHQUGBUlNTncsXl81mo3CLIjgmUJY4nlDWOKZQljieAFwt0v/4Q5LkfdbnTAAlY7FY5NewoVJ//VWJq1YpokcPbvQHlJBb35ysVatW+uuvv1ymHTx4UJGRkZKkWrVqKSwsTOvWrXPOz8jI0NatW9WyZUtJUsuWLZWWlqYdO3Y426xfv14Oh0PNmjUrh70AAAAAAFQUhsPhLNwyvi1weXxq1pTNz08FaWk6uX692XGACsetC7dDhgzR1q1bNXPmTB06dEjLli3TokWLdN9990k6/e3N4MGD9c4772jVqlXas2ePxowZo/DwcHXt2lWS1KBBA3Xq1EnPPPOMtm3bpk2bNmny5Mnq3r27IiIizNw9AAAAAICbyT5yRPaMDFk8PORZpYrZcYAKzWK1yv+aayRJJ779VoZhmJwIqFjceqiEZs2aafr06Xr99dc1Y8YM1apVS+PHj9ddd93lbDNs2DBlZ2fr2WefVVpamq677jrNnj1b3t7ezjavvvqqJk+erCFDhshqtapbt26aMGGCGbsEAAAAAHBjhePbeoWFyWJ1675OQIXg16CBMnbvVs6RI0rfuVNBTZuaHQmoMNy6cCtJN998s26++eYLzrdYLBo1apRGjRp1wTYhISF67bXXrkQ8AAAAAEAlUli49eYKTaBMWL28VO3GG5W4YoUSvvmGwi1QAnx9CAAAAACAJEdBgTJ275YkeVevbnIaoPIIv+02yWJR2rZtyj561Ow4QIVB4RYAAAAAAEmZ+/bJkZcnj6AgeQQHmx0HqDS8IyIU0rq1JOnE11+bnAaoOCjcAgAAAACg/z9MQuC118pisZicBqhcIu68U5J0cu1a5aWkmJwGqBgo3AIAAAAAICl9xw5Jpwu3AMqWf8OGCoiJkWG3K2H5crPjABUChVsAAAAAwFXPnpWlzAMHJElBFG6BKyKiRw9JUtL338uelWVyGsD9UbgFAAAAAFz10nfvlhwOeVevLq/QULPjAJVSULNm8omMlCMnR0k//GB2HMDtUbgFAAAAAFz1GCYBuDIsNpsMh+P0/61W51i3CcuXy1FQcNFlC5cDrlYeZgcAAAAAAMBshTcmC2ra1OQkQOVisdlksVqVsHKlHLm5Mux2WX19lX/ypA6+84786tc/73JWb2+Fd+1azmkB90KPWwAAAADAVS0vJUU58fGSxaKAxo3NjgNUSo7c3NOF24IC+Z8p1mbs2iV7To5z3rk/wNWOwi0AAAAA4KqW/scfkiS/evXk4e9vchqg8vOtV08WDw8VpKcr9/hxs+MAbovCLQAAAADgquYc35ZhEoByYfX0lF+9epKkzL17TU4DuC8KtwAAAACAq5ZhGP9/fFtuTAaUG78GDSSLRfnJycpLSTE7DuCWKNwC/6+9+w6PotzbOP7d3fROGhB6KAmQBAIoAqGIIIqiAsd2FAsI4hHBDi+iSEfUA4IFBEVAEBWUI4JwQERAUHqVIkVagBQgPdkku+8fMXuMAUwgZFLuz3XtJZl5ntl7dsfs5LfPPCMiIiIiIpVWZmws2RcvYnJxwbNBA6PjiFQaFnd33GvVAjTqVuRyVLgVERERERGRSit/mgSvsDDMLi4GpxGpXDwaNgQgKzaWnNRUg9OIlD0q3IqIiIiIiEilpWkSRIzj7OODa9WqgEbdilyKCrciIiIiIiJSKdlzckjZvx8AbxVuRQzh2agRABknTpCbmWlwGpGyRYVbERERERERqZTSjh7FlpmJxcsL99q1jY4jUik5BwTgXKUK2GykHz1qdByRMkWFWxEREREREamU8qdJ8G7aFJNZfx6LGMFkMuH5x1y36UePYsvJMTiRSNmhTyYRERERERGplJL/uDGZ5rcVMZZrSAgWT0/s2dlk/P670XFEygwVbkVERERERKTSyUlLI+3wYQC8IyIMTiNSuf151G3a4cPYbTaDE4mUDSrcioiIiIiISKWT8uuvYLPhGhKCa1CQ0XFEKj332rUxu7piy8gg89Qpo+OIlAkq3IqIiIiIiEilk7xrFwC+kZEGJxERAJPFgkf9+gCkHTqE3W43OJGI8VS4FRERERERkUrFbreTvHs3AD7NmhmcRkTyeYSGYnJyIiclhazYWKPjiBhOhVsRERERERGpVDJPnSL7wgVMLi54hYUZHUdE/mB2dsajXj0AUvfvNziNiPFUuBUREREREZFKJemPaRK8GzfG7OJicBoR+TOPBg3AbMaakEDqwYNGxxExlAq3IiIiIiIiUqk4pkmIijI4iYj8lcXNDffatQE4++23BqcRMZYKtyIiIiIiIlJp5GZkkHboEKD5bUXKKs8GDQBI3rmTjJMnDU4jYhwVbkVERERERKTSSPn1V+y5ubgGB+NWtarRcUTkEpy8vXGrWROAc8uXG5xGxDgq3IqIiIiIiEil4ZgmQaNtRco0r8aNATi/aRPWhASD04gYQ4VbERERERERqRTsdrvmtxUpJ1wCAvBu0gRyczm3YoXRcUQMocKtiIiIiEg5smXLFgYOHEhMTAxhYWGsXr26wHq73c4777xDTEwMUVFRPPbYY/z+++8F2ly8eJEXXniBFi1a0KpVK4YPH05aWlop7oWIMTJjY7EmJGBydsYrPNzoOCLyN6reeScAiT/8QE5KisFpREqfCrciIiIiIuVIeno6YWFhjBw58pLrZ86cybx583j99df54osvcHd3p1+/fmRlZTnavPjiixw+fJjZs2czffp0tm7dymuvvVZauyBimPzRtl5hYVjc3AxOIyJ/xzsiAvc6dbBZrcSvWmV0HJFSp8KtiIiIiEg50rFjR5577jm6du1aaJ3dbmfu3Lk89dRTdOnShfDwcCZNmkRcXJxjZO6RI0dYv349Y8eOpVmzZrRq1YoRI0awbNkyzp07V9q7I1KqNE2CSPliMpkco27jVq0iNzPT4EQipcvJ6AAiIiIiIlIyTp06RXx8PG3btnUs8/b2plmzZuzYsYM77riDHTt24OPjQ2RkpKNN27ZtMZvN7N69+5IF4cvJzc0t0fxSNuW/z+X9/c7NyiL1wAEAvCIirrg/FosFu82G3WYr8vbz21a0fja73fHfsp7VqH5GPGdp9ss/Bq7m+a72Of/cz6dFC1yCgrDGxxO/di1BxfickpJRUT4HyorivI4q3IqIiIiIVBDx8fEABAQEFFgeEBBAwh935E5ISMDf37/AeicnJ3x9fR39i2rPnj3XkFbKm/L0fpvNZiKaNsXZxcWxLPXQIew5ObgEBuJRsyYmk+mK24iPjyc7Pb3Iz+mWlUVV8v4fsxZjzujy0i/u3DncrNZykbW0+5WnrFfdr0oVuIp+1/KcTu7uVAf27d9PTkQEph9+4PQ333Da3x8slmJlkJJRnj4HKgoVbkVERERE5KpERkZi0R/PFV5ubi579uwpd++3xWLh3H//i+2P+Z2Ttm8HwMnHh7PffnvZfk7e3gR16kRQUJCjb1E4eXsDEBgYiO2Pf1eEfja7nbhz5wiuWhUXH58yndWofkY8Z2n2s9ntJFutV/V815LV7OoKQEREBLZGjdi/bRs5ycnUzsqiyp+uLJHrr7x+DpRV+a9nUahwKyIiIiJSQQQFBQGQmJhIcHCwY3liYiLh4eFA3h/O58+fL9AvJyeHpKQkR/+islgs+gOuEimP77c9Oxt7djYAWWfOAOASFORYdrk+ACazGZO56LeFyW9b0fqZ/7hc3WwylfmsRvUz4jlLs5/5T9MbGPHaWCwWLO7uBHfrRuyXXxK3fDkBMTF/O2peSl55/Bwo73RzMhERERGRCqJmzZoEBQWxadMmx7LU1FR27dpFdHQ0ANHR0SQnJ7N3715Hm59//hmbzUaUbtgkFVROaiq5aWlgMuFSzC8oRKRsCLzlFsxubmSeOkXyrl1GxxEpFSrcioiIiIiUI2lpaezfv5/9+/cDeTck279/P7GxsZhMJh555BE++OADvv/+ew4ePMjLL79McHAwXbp0AaB+/fq0b9+eV199ld27d7Nt2zbGjBnDHXfcQdWqVY3cNZHrJuvsWQBcAgMxOzsbnEZEroaTpyeBnTsDcO4K052IVCSaKkFEREREpBzZu3cvjzzyiOPnCRMmANCzZ08mTpxI//79ycjI4LXXXiM5OZmWLVsya9YsXP+YKxDgrbfeYsyYMTz66KOYzWZuvfVWRowYUer7IlJa8qdJcK1WzeAkInItgrt1I37lSlIPHiT10CG8GjUyOpLIdaXCrYiIiIhIOdK6dWsOHjx42fUmk4khQ4YwZMiQy7bx8/Pj7bffvh7xRMocm9WKNTERANfq1Q1OIyLXwsXfH/927Uhct45zy5apcCsVnqZKEBERERERkQor69w5sNtx8vbGydPT6Dgico2q3nEHmEwkbd9OxunTRscRua5UuBUREREREZEKK39+W422FakY3EJC8G3ZEoBzy5YZnEbk+lLhVkRERERERCoku82WN+IWzW8rUpFUu+MOAC5s3OiYCkWkIlLhVkRERERERCoka3w89uxszC4uOPv7Gx1HREqIZ4MGeIWHY8/NJW7FCqPjiFw3KtyKiIiIiIhIhZT5x/yXrtWqYTKZDE4jIsVhsliw22yXXV+1Rw8AEn74gZzU1ALrrtRPpDxxMjqAiIiIiIiISEmz2+1kxsYCmt9WpDwyWSyYzGbiVq/GlpVVaL3dbsfJz4+cixc59v77eDdtCoDZ1ZXgLl1KO67IdaERtyIiIiIiIlLhZJ46RW5qKpjNuAQHGx1HRK6SLSvrkg+71YpngwYApB48SG5ammOdSEWhwq2IiIiIiIhUOBe3bAHANTgYs5MuNhWpiNxq1MDi4YHdaiX9xAmj44iUuHJVuP3www8JCwtj3LhxjmVZWVmMGjWK1q1bE01vtwMAAE0JSURBVB0dzTPPPENCQkKBfrGxsQwYMIBmzZrRpk0b3njjDXJycko7voiIiIiIiJSSi1u3AuAWEmJwEhG5XkxmMx4NGwKQ/ttvmttWKpxyU7jdvXs3CxcuJCwsrMDy8ePH88MPPzBlyhTmzZtHXFwcgwYNcqzPzc3lySefJDs7m4ULFzJx4kS+/vprpk6dWtq7ICIiIiIiIqUg69w5Mk6eBJNJ89uKVHAetWtjcnEhNz3dcUNCkYqiXBRu09LSeOmllxg7diy+vr6O5SkpKSxevJhhw4bRpk0bIiIiGD9+PDt27GDnzp0AbNiwgcOHD/Pmm2/SuHFjOnbsyJAhQ5g/fz5Wq9WgPRIREREREZHrJX+0rUtwMGYXF4PTiMj1ZHJywrN+fQDSfvsNu91ucCKRklMuCrejR4+mY8eOtG3btsDyvXv3kp2dXWB5/fr1CQkJcRRud+7cSaNGjQgMDHS0iYmJITU1lcOHDxcrR25u7lU9pGK72uPiWh5Scel4kpKm40lKko4LESkv8gu37jVrGpxEREqDR2goJouFnKQkss6eNTqOSIkp8zO0L1u2jF9//ZVFixYVWpeQkICzszM+Pj4FlgcEBBAfH+9o8+eiLeD4Ob9NUe3Zs6dY7QHc3d1p0qRJsftJ+XHw4EEyMjJK7fl0TFVsOp6kpJXmMaXjqeIr7d9RIiJXw3rhAml/DNJxU+FWpFIwu7jgXrcu6UeOkPrrr0bHESkxZbpwe+bMGcaNG8fHH3+Mq6ur0XGIjIzEYrEYHUPKmL/OuyxyLXQ8SUnTMSUl6WqOp9zc3Kv68ltE5GolbdsGgGeDBljc3bFlZRmcSERKg2eDBqQfPYo1Pp60w4fxbNDA6Egi16xMF2737dtHYmIivXr1cizLzc1ly5YtzJ8/n48++ojs7GySk5MLjLpNTEwkKCgIyBtdu3v37gLbTUhIAHC0KSqLxaLCrRSiY0JKko4nKWk6pqQk6XgSkfLgwubNAPi1aoVmuhSpPCweHrjXqkXGiROcXbaM+kOGGB1J5JqV6Tlub7rpJpYuXcqSJUscj4iICHr06OH4t7OzM5s2bXL0OXr0KLGxsTRv3hyA5s2bc+jQIRITEx1tNm7ciJeXFw307YuIiIiIiEiFkX3xIqkHDgDgd+ONBqcRkdLm2bAhkDfyPjM21uA0IteuTI+49fLyolGjRgWWeXh44Ofn51jeu3dvJk6ciK+vL15eXowdO5bo6GhH4TYmJoYGDRrw8ssv89JLLxEfH8+UKVN46KGHcNHdRUVERERERCqMC1u2gN2OR/36uBbzCksRKf+cfHxwq1GDzNOnObdsGXX69zc6ksg1KdMjboti+PDhdOrUicGDB/Pwww8TGBjItGnTHOstFgvTp0/HbDZz//3389JLL3HPPfcwePBgA1OLiIiIiIhISbv4yy8AVGnd2uAkImIUr8aNATj/009Yz583OI3ItSnTI24vZd68eQV+dnV1ZeTIkYwcOfKyfWrUqMHMmTOvdzQRERERERExiPX8eVIPHQJUuBWpzFwCA/EKCyP14EHiVq6k5oMPGh1J5KqV+xG3IiIiIiIiIhc3bwa7Hc9GjXDx9zc6jogYqOqddwKQsGYNOWlpBqcRuXoq3IqIiIiIiEi5d0HTJIjIH3yaNcOtZk1smZkkfP+90XFErpoKtyIiIiIiIlKuZSUkkHb4MJhMVLnxRqPjiIjBTCaTY9Rt3MqV2KxWgxOJXB0VbkVERERERKRcu/DzzwB4hYfj7OdnbBgRKRP8W7fGJSCAnORkEtetMzqOyFVR4VZERERERETKLbvdzvkNGwDwb9vW4DQiUlaYnJwIvv12AM599x12m83gRCLFp8KtiIiIiIiIlFsZx4+Tefo0Jmdn/G64weg4IlKGBHTsiMXLC2tcHBe3bTM6jkixqXArIiIiIiIi5db5n34CwDc6GidPT4PTiEhZYnFzI+iWWwA4t2wZdrvd4EQixaPCrYiIiIiIiJRL9txczm/aBIB/u3YGpxGRsiioa1dMzs6kHzlC2qFDRscRKRYVbkVERERERKRcSt63j5ykJCxeXvhGRRkdR0TKIGdfX8cXO+eWLzc4jUjxqHArIiIiIiIi5VL+NAn+N92EycnJ4DQiUlZV7d4dgKTt28k8c8bgNCJFp8KtiIiIiIiIlDu5GRkkbd0KaJoEEbkyt+rV8W3RAtCoWylfVLgVERERERGRcufCzz9js1pxrV4dj/r1jY4jImWEyWLBbrMVWp4/6vb8Tz+RnZR0yb6X6idiJF1LIiIiIiIiIuVOwtq1AAR27IjJZDI2jIiUGSaLBZPZTNzq1diyshzL7XY7zgEBZCcmcuz99/H5y7zYZldXgrt0Ke24IlekEbciIiIiIiJSrqSfOEH60aOYLBb8Y2KMjiMiZZAtK6vAw2614vnH6Py0334jJy2tUBuRskaFWxERERERESlXEv8YbevbogXOvr7GhhGRcsM1JASLpyf27Gwyjh83Oo7I31LhVkRERERERMoNm9XK+Z9+AiCwUydjw4hIuWIymfBs0ACA9MOHNaetlHkq3IqIiIiIiEi5cXHrVnLT03EJCMA7IsLoOCJSzrjXro3JxYXc9HSyzpwxOo7IFalwKyIiIiIiIuVGwg8/ABDQoQMms/6kFZHiMTk54REaCuTNdWu32w1OJHJ5+pQTERERERGRciHj5ElSDxwAs5kATZMgIlfJMzQUzGayL1wgOzHR6Dgil6XCrYiIiIiIiJQL8atWAeDXsiUu/v4GpxGR8srs6op7nTpA3qhbkbJKhVsREREREREp83LS0hw3JQu69VaD04hIeZd/k7Kss2fJSU42OI3IpalwKyIiIiIiImVe4o8/YrNaca9VC6+wMKPjiEg55+TlhWv16gCkHT5scBqRS1PhVkRERERERMo0u81G/OrVQN5oW5PJZHAiEakIPBs2BPLmz87NyDA4jUhhKtyKiIiIiIhImZa0cyfW+Hgsnp74t2ljdBwRqSBcAgJw9vcHm01z3UqZpMKtiIiIiIiIlGlxy5cDENCxI2ZXV4PTiEhFkj/qNu3wYXIzMw1OI1KQCrciIiIiIiJSZqUcOEDqwYOYnJwIvu02o+OISAXjWr06Fk9P7FYriT/+aHQckQKcjA4gIiIiIiIicjn5o23da9fm/MaNRepj8fYmqEOH6xlLRCoIk8mEZ8OGJO/cSdyKFQR16YLJYjE6lgigEbciIiIiIiJSRmWcPEnSjh0AeISGYsvKKtLDnpVlcHIRKU/ca9fG7OqKNSGBC5s3Gx1HxEGFWxERERERESmTzi1bBoBbrVo4eXsbnEZEKiqTxeKY6/bc0qXY7XaDE4nkUeFWREREREREypysuDjOb9oEgFfjxganEZGKzrNhQ8xubgVG+osYTYVbERERERERKXPOfP012Gx4R0bi4u9vdBwRqeDMrq4EdekCwNn//EejbqVMUOFWREREREREypSM06c5/9NPAIT07m1wGhGpLIJvuw2TiwvpR4+Ssnev0XFEVLgVERERERGRsuXM4sVgt+PbsiWe9esbHUdEKglnX1+Cbr4ZgDNLlmjUrRhOhVsREREREREpM9J//52LW7aAyaTRtiJS6oLvuAOTkxNphw6ReuCA0XGkklPhVkRERERERMqM2C+/BKDKTTfhXquWwWlEpLJxqVKFgI4dgby5bkWMpMKtiIiIiIiIlAlJO3eSvHs3WCxU12hbETFI1TvvBIuFlH37SDt82Og4UompcCsiIiIiIiKGs+XkcGr+fACCb70Vt6pVDU4kIpWVa2AgAe3aAXBGo27FQCrcioiIiIiIiOHiV64k6+xZnHx9qd6zp9FxRKSSq9qjB5hMJO/cSfrvvxsdRyopFW5FRERERETEUNkXL3JmyRIAatx3HxZ3d2MDiUil51atGlVuugnQXLdiHBVuRURERERExFCnFizAlpmJR2go/jExRscREQGg2l13AXBx61bSjx83OI1URircioiIiIhUINOmTSMsLKzA47bbbnOsz8rKYtSoUbRu3Zro6GieeeYZEhISDEwsld3FrVu5sGkTmEzUevRRTGb9mSoiZYN7zZqOUbexixYZnEYqI30iioiIiIhUMA0bNmTDhg2Ox4IFCxzrxo8fzw8//MCUKVOYN28ecXFxDBo0yMC0UpnlpKZy4pNPAKh6xx14hoYaG0hE5C+q9+oFZjPJO3eSeuiQ0XGkknEyOoCIiIiIiJQsi8VCUFBQoeUpKSksXryYt956izZt2gB5hdzu3buzc+dOmjdvXqznyc3NLYm4Usblv8/X4/0+OW8eOUlJuIaEEHzXXZd8DovFgt1mw26zFXm7+W2L2+9a+lbUfja73fHfsp7VqH5GPGdp9ss/Bq7m+a72OY3s99ffQ87BwfjHxHB+3TpOf/EF9YcNw2QyFXm7FcH1/ByojIrzOqpwKyIiIiJSwRw/fpyYmBhcXV1p3rw5L7zwAiEhIezdu5fs7Gzatm3raFu/fn1CQkKuqnC7Z8+eEk4uZVmJv9+HD2PauBG7yURm+/bs/vXXQk2cnJxo1qwZcXFx5GRkFHnTbllZVAUSEhKwpqUVK9bV9q3o/eLOncPNai0XWUu7X3nKetX9qlSBq+hnSNar7Ofk7k51YO/eveTk5BRc2bAh/PQTaQcPsuubb6BOnSJvtyLR537pU+FWRERERKQCiYqKYsKECdSrV4/4+Hjee+89HnroIZYuXUpCQgLOzs74+PgU6BMQEEB8fHyxnysyMhKLxVJS0aWMys3NZc+ePSX6fmfFxXFoxgxsQPDttxNy++1XbB8cHIwtK6vI23fy9gYgMDAQ2x//vt59K2o/m91O3LlzBFetissfvzvKalaj+hnxnKXZz2a3k2y1XtXzlXbWa+lndnUFICIi4pLrT588ScJ//4vH9u007NGjUs3HfT0+Byqz/NezKFS4FRERERGpQDp27Oj4d3h4OM2aNePmm2/mu+++w83NrUSfy2Kx6A+4SqSk3m9bdjYnPvgAW0YGng0bUvPeezH9zXZNZnOxiiT5bYvb71r6VtR+5j8uHzebTGU+q1H9jHjO0uxn/tN0A5Xhtbnc77nqd9/N+XXryDh+nKTNmwlo167I264o9Llf+irP1wMiIiIiIpWQj48PdevW5cSJEwQGBpKdnU1ycnKBNomJiZecE1fkeji9YAHpx45h8fKi3qBBmJw0nkhEyj5nHx+q3XUXALFffontj1HIIteTCrciIiIiIhVYWloaJ0+eJCgoiIiICJydndm0aZNj/dGjR4mNjS32/LYiVyNhzRriV68GoO7Agbj4+xucSESk6IK7dcMlIIDsxETiVqwwOo5UAircioiIiIhUIG+88QabN2/m1KlTbN++nUGDBmE2m7nzzjvx9vamd+/eTJw4kZ9//pm9e/cyfPhwoqOjVbiV6y55zx5OzJkDQPXevfFt1szgRCIixWN2cSHk3nsBOLt0KdlJSQYnkoquTBduZ8yYQe/evYmOjqZNmzb861//4ujRowXaZGVlMWrUKFq3bk10dDTPPPMMCQkJBdrExsYyYMAAmjVrRps2bXjjjTcK3yFQRERERKQCOHv2LM8//zy33XYbzz77LH5+fnzxxRf4/zGycfjw4XTq1InBgwfz8MMPExgYyLRp0wxOLeWJ/U/zXRZVxqlTHJ02DWw2/Nu1o9rdd1+HZCIi11+VNm3wqFcPW2YmsV9+aXQcqeDK9GRCmzdv5qGHHiIyMpLc3Fz+/e9/069fP5YtW4aHhwcA48eP58cff2TKlCl4e3szZswYBg0axMKFC4G8O7U9+eSTBAYGsnDhQuLi4hg6dCjOzs48//zzRu6eiIiIiEiJmzx58hXXu7q6MnLkSEaOHFlKiaSiMZnNxK1ejS0rq0jtc1JTSVyzBltGBl5hYdTu1w+TyXSdU4qIXB8ms5maDz/MoTFjSPzxRwI7dcKzQQOjY0kFVaZH3H700Uf06tWLhg0bEh4ezsSJE4mNjWXfvn0ApKSksHjxYoYNG0abNm2IiIhg/Pjx7Nixg507dwKwYcMGDh8+zJtvvknjxo3p2LEjQ4YMYf78+Vg1kbSIiIiIiEix2bKyivTIvniRxDVryE1Pxy0khNAhQzA7OxsdX0Tkmng1aoR/TAwAJ+fOvaorEUSKokyPuP2rlJQUAHx9fQHYu3cv2dnZtG3b1tGmfv36hISEsHPnTpo3b87OnTtp1KgRgYGBjjYxMTG8/vrrHD58mCZNmhT5+XNzc68qt8Viuap+Uj5c7XFxLXRMVVw6nqSklfYxpeOpYrua48mI32siUjbkZmVxfsMGctPTsXh60mDYMJy8vY2OJSJSImo88ABJ27eTfuwYCT/8QNAttxgdSSqgclO4tdlsjB8/nhYtWtCoUSMAEhIScHZ2xsfHp0DbgIAA4uPjHW3+XLQFHD/ntymqPXv2FDu3u7t7sYrDUv4cPHiQjIyMUns+HVMVm44nKWmleUzpeKr4Svt3lIiUX7kZGXlF29RUzO7uBNx8My5VqhgdS0TkskwWC3abDZO5aBenO/v6Ur1XL059+imxX36JX6tWOP8x0FCkpJSbwu2oUaP47bffWLBggWEZIiMjNZJICgkLCzM6glQgOp6kpOmYkpJ0NcdTbm7uVX35LSLlV05aGhd++onctDTM7u74x8Tg5OVldCwRkSsyWSzFnsPbbrPhXKUK2RcucGr+fOr961/XOaVUNuWicDt69GjWrl3Lp59+SrVq1RzLAwMDyc7OJjk5ucCo28TERIKCghxtdu/eXWB7CQkJAI42RWWxWFS4lUJ0TEhJ0vEkJU3HlJQkHU8i8ndykpM5v3EjtowMLJ6eVGnXDidPT6NjiYgUWf4c3UXle8MNJKxaxYVNm6hy0034tWhxHdNJZVOmb05mt9sZPXo0q1atYs6cOdSqVavA+oiICJydndm0aZNj2dGjR4mNjaV58+YANG/enEOHDpGYmOhos3HjRry8vGigu/6JiIiIiIiUCGtCAonr1uUVbb288G/fXkVbEanwXPz9Cb79dgBOfvIJuenpBieSiqRMF25HjRrFN998w9tvv42npyfx8fHEx8eTmZkJgLe3N71792bixIn8/PPP7N27l+HDhxMdHe0o3MbExNCgQQNefvllDhw4wPr165kyZQoPPfQQLi4uBu6diIiIiIhIxZB5+jTnf/oJe3Y2zv7+BHTogMXd3ehYIiKlIqRXL1yrViX7wgVOL1xodBypQMr0VAmfffYZAH369CmwfMKECfTq1QuA4cOHYzabGTx4MFarlZiYGEaOHOloa7FYmD59Oq+//jr3338/7u7u9OzZk8GDB5fejoiIiIiIiFRQaUeOkPLH9HSu1avj16oVJqcy/aemiEiJMru6UrtfP34bP56EH37At0ULfP8YUChyLcr0p+nBgwf/to2rqysjR44sUKz9qxo1ajBz5sySjCYiIiIiIlKp2e12UvftI+233wBwr1cPn2bNMJlMBicTESl93o0bE9ytG3ErV3J85kwajx+Ps6+v0bGknCvTUyWIiIiIiIhI2WPPzSVp2zZH0darSRMVbUWk0gu57z7catQgJzmZEx99hN1uNzqSlHMq3IqIiIiIiEiR5WZkkLhuHZknT4LJhE+LFniFhV2xaGuyWLDbbKWYUkSk9JldXKj71FOYnJxI2rGDhO+/NzqSlHNleqoEERERERERKTuyL17k8FtvYT13DpPFgl/r1rhWrfq3/UwWCyazmbjVq7FlZRX5+Sze3gR16HAtkUVESpVHnTqE3Hcfpxcs4NT8+Xg2aIBH3bpGx5JySiNuRURERERE5G9lxcVxcMwYMo4fx+zqin/79kUq2v6ZLSurWA97MYq8IiJlRXC3bvhGR2PPyeHo1KnkpKUZHUnKKRVuRURERERE5Mri4jg8dizWuDhcgoMJ7NIF5ypVjE4lIlImmcxm6jz5JC6BgVjj4zn+4Yea71auigq3IiIiIiIiclmpBw/CokXkJCfjXrs2Ya++ipO3t9GxRETKNCdPT0IHD86b73b7ds7+5z9GR5JySIVbERERERERuaSL27dz9K23MFmteDZqRMPhw3H28zM6lohIueBRrx61Hn0UgDOLF3Nx61aDE0l5o8KtiIiIiIiIFJK4YQNH33kHe3Y29tBQQl98ESdPT6NjiYiUK4GdOhF0660A/P7BB6QfP25wIilPVLgVERERERGRAhLWrOH4jBlgs1GlXTss99yD2cXF6FgiIuVSzX/+E++ICGxWK0cmT8Z64YLRkaScUOFWRERERESkErLbbJdcHrdqFSdmzwYgqGtX6g4YQPPoaCwWS2nGExGpMEwWC/UGDcK1WjWyExM58tZb5GZkGB1LygEnowOIiIiIiIhI6TOZzcStXo0tK8uxLPXAAZJ37gTAMywMJ39/zi5bRlxcHMHBwTj5+hLUoYNBiUVEyi8nT08avPQSB0ePJuPECY6+8w71X3wRs5NKc3J5GnErIiIiIiJSSdmyshyP5N27/1e0bdQIr8aNsVut2LKyyMnIwJaVhf1PRV4REckbTXu5Kxj+yjU4mAYvvIDZ1ZWUffs4Pn06tpyc65xQyjOV9UVERERERCoxu91O6oEDpB04AIBX48Z4hYcbnEpEpHwwWSyXvILhSvxuuonz69Zx4ZdfMDk7U6d/f0xmja2UwlS4FRERERERqaTsdjupv/5K2qFDAHg1bYpXo0YGpxIRKX/yr14oChd/f/xuuIGLW7ZwfsMGTE5O1H78cRVvpRAdESIiIiIiIpWQ3W4nedcuR9HWOzJSRVsRkVLiVqMGVW66CUwmEteu5eTcudjtdqNjSRmjwq2IiIiIiEglY7fbOT1/vmN6BO+oKDwbNDA4lYhI5eJepw51BgwAk4mE77/n1Pz5Kt5KASrcioiIiIiIVCJ2u51T8+YRt3IlAD7NmuFZv77BqUREKqeAmBhq9+0LQPzKlZxeuFDFW3HQHLciIiIiIiKVhN1m4+ScOSSsWQMmE76tWuFes6bRsUREKrXATp2w5+Rwcs4c4pYvx261UrNPH815KyrcioiIiIiIVAZ2m40Ts2eTuHYtmEzUeeIJslNSinwzHRERuX6CunQB4OTcucSvXk1OWhp1BgzA7KTSXWWm0r2IiIiIiEgFZ7fZOD5r1v+KtgMGENChg9GxREQqNZPFgt1mc/wc1KULdZ96CiwWLmzaxNHJky/75dqf+0nFpbK9iIiIiIhIBWbPzeX4zJmc/+knMJmo+9RT+LdpY3QsEZFKz2SxYDKbiVu9ukCB1j8mhgsbNpC8ezf7hg0joEMHzC4ujvVmV1eC/xihKxWbRtyKiIiIiIhUUDarlaNTp+YVbc1m6j39tIq2IiJljC0rq8DDxd+fKu3aYXJ2JjshgYTVq8m+eLFAG6kcVLgVERERERGpgHLS0jg8aRJJ27djcnYm9JlnqNK6tdGxRESkCFwCAvBv3x6zmxs5yckk/vgj2RcvGh1LSpkKtyIiIiIiIhVM9sWL/DZuHKkHD2J2d6fBSy/h16qV0bFERKQYnH198e/QAYu3N7aMDM6vW0dmbKzRsaQUqXArIiIiIiJSgWSeO8fB0aPJOHkSJ19fGr3yCt6NGxsdS0REroKTpycBHTviEhyMPTeXi7/8Qsqvv2K3242OJqVAhVsREREREZEKIv333zk0ejTW+Hhcg4MJe+01POrUMTqWiIhcA7OzM1XatMEjNBSAlN27OT5jBrbsbIOTyfXmZHQAERERERERuXbnf/6Z4zNnYrdaca9ThwYvvYSzr6/RsUREpASYzGZ8mjXDydub5N27Of/TT2SdO0e9QYNwCQgwOp5cJxpxKyIiIiIiUo7ZbTZOf/EFv7/3HnarFZ+oKBoNH66irYhIBeQRGkpAx45YPDxIO3yY/SNGkLRrl9Gx5DpR4VZERERERKScyklL48jkyZxbuhSA4O7dqf/CC1g8PAxOJiIi14trtWqEjxmDe9265KamcuSttzj95ZfYc3ONjiYlTFMliIiIiIiIlEOZZ89ydPLkvDuMWyz43XADTj4+nPvuu7/ta/H2JqhDh1JIKSIi14NrcDBhr77KqQULSPj+e8598w1phw5R91//wqVKFaPjSQnRiFsREREREZFy5sIvv3Bw5EgyY2Mxu7sT0L49btWrY8vKKtLDnpVl9C6IiMg1Mru4UPuxx6j79NOY3dxIPXCAAyNGcHH7dqOjSQnRiFsREREREZFyIjcjg5Pz5nF+/XoAPBs2xKtJE0xmjckREams/G+6CY86dTg2bRoZJ09ydPJk/Nu1o+bDD+Pk5WV0PLkG+nQXEREREREpB9KOHOHAiBF5RVuTiWr33EOj4cOxuLsbHU1EREqRyWLBbrMVWOZWvTphr79OcPfuYDJx/qef+HXYsEKjb//aT8o2jbgVEREREREpw+w2G+e+/ZbYr76C3FycAwKo99RTeIWFGR1NREQMYLJYMJnNxK1eje0vU984+fgQeMstXPzlF3KSkjg6eTLuderg26IFTj4+BHfpYlBquRoq3IqIiIiIiJRRGSdPcuLjj0k7fBgAv9atqf344zh5ehqcTEREjJY/b/lfOXl7E3DzzaTu30/ab7+Rcfw4WWfO4NO8OUGdO2t6nXJEhVsREREREZEyxma1cvabbzj77beQm4vZzY1affrg3749JpPJ6HgiIlLGmSwWvCMicA0JIXn7dnJSUri4eTMHExOp9fDDeDZoYHREKQIVbkVERERERMqQlAMHOPHxx2SdOQOAb4sW1Hr0UVz8/Q1OJiIi5Y2Lvz8BnTuTfuQIqQcOkH7kCAdHjcLvxhsJue8+3KpWNTqiXIEKtyIiIiIiIgaz22zkpKQQu2gRiWvXAuDk60utRx/Fr1UrjbIVEZGrZjKb8WzYEI/69cm5cIHE9eu5uHkzF7dtI6B9e6rddReuQUFGx5RLUOFWRERERETEQLacHOJXriR28WLs2dkAeNSvj0+zZmTFxXFu+fJL9rN4exPUoUNpRhURkXLM4u5OjX/8g6Bu3Yj9/HOSd+8mce1aEtevJ6BdO4JuvRWPOnWMjil/osKtiIiIiIiIAex2O0k7dnB6wQKyzp0DwMnPD5+oKFwCAsBuv+RNZ/KZXVxKK6qIiFQgHrVr0+Cll0g9dIgzX39Nyt69JK5bR+K6dXiFhxN06634tWiByWIxOmqlp8KtiIiIiIhIKUs/dozTX3xByt69QN60CF5hYbiGhGhaBBERKRVejRrRcOhQUn/7jbiVK7m4ZQupBw6QeuAALoGBBN5yCwExMZi9vY2OWmmpcCsiIiIiIlJKMk6eJParr0jauhUAk5MTwbfdRrW77iJ+zZorjrAVERG5HrwaNsSrYUOs588T//33JKxZgzUhgdjPPyf2iy/wCg+HGjXIadgQi4+P0XErFRVuRURERERErrPMM2c489VXXPjlF7DbwWSiSps2hPTujWtwsNHxREREcPH3p8a991L97rs5v3EjievWkfbbb6Tu349p/35+/eEHfJo1w++GG/CJjMTZ19foyBWeCrciIiIiIiLXSfqxY5xbsYILmzblFWwBvxtvpHqvXrjXqGFwOhERqUxMFgt2mw2T2XzFdmYXFwI7dSKwUyey4uO58PPPnN+4kcxTp0javp2k7dvBZMKjXj18oqLwbdYMj9DQv92uFJ8KtyIiIiIiIiXIbrNxcds24lasIO3QIcdy3xYtqN6rl+7YLSIihjBZLJjMZuJWry7W1DwmV1eaTJhA6vHjJG/ZQtLOnWQcP0760aOkHz3K2SVLsHh54dWoEV7h4Xg3box77doq5JYAFW5FRERERERKQE5KCokbNhC/ahXW+Pi8hRYL/jfdRPBtt+FRt66h+URERABsWVnFK9zabAC416yJV506hPzjH2RfvEjy7t0k7dxJ8t695Kam/m80LmB2d8erUSM8GzTAIzQUz3r1cNJNzopNhVsREREREZGrZLNaSd6zh/MbNpC0Ywf23FwALF5eBHbuTFCXLrhUqWJwShERkauXP8WCxWJxLHP28yOgQwcCOnTAnpND+u+/k3LgAKkHDpB66BC2jAySd+0iedcuRx+XoKC8Im5oKB6hoXjUrYvFzc2IXSo3VLgVEREREREphpyUFJL37iVpxw6SduzAlpnpWOdety6u1arhVrMmZicnzm/c+Lfbs3h7E9Shw/WMLCIictXyp1g499//Ys/OvkJDE16NG+MZFkZOUhLZFy9iMptJP3aMrLNnscbHY42P5+Ivvzjau1atinvNmrjVrOn4r1u1akWej7eiU+FWRERERETkCrKTkkg7fJjUQ4dIPXCA9GPHHDcaA3D296dK69b4x8TgUbs2Z5cty7sM9Y/Rt3/H7OJyvaKLiIiUGFtW1pULt39i8fDAtWpVgrt2JW71anJSUsg+fx7r+fN5/01MxJaRQdbZs2SdPQtbt/6vs8mEk5cXHnXr4hIcjGvVqrgGB+Pi749zlSo4+fhUmoJupSrczp8/n48++oj4+HjCw8N59dVXiYqKMjqWiIiIiIghdH6cx263Y8vIIPuP0UFZZ8+SefYsmadPk3HiBNkXLhTq41arFj6RkVS54QbdSVtEROQKbFlZYLfjXKUKzlWqQP36AORmZpKTnFzoYc/Nzbu6Zc+eS2/QZMLZzw9nPz+cvL2xeHri5OmJxcMDi6dn3sPDw7HM7OaG2dUVyx//LU+f2ZWmcLt8+XImTJjAqFGjaNasGXPmzKFfv36sWLGCgIAAo+OJiIiIiJSq8nJ+nBUfT8KaNdizs7Hb7WCz5f3XbsdusxX++c9tbLa8ZeBoi93uaJ+bkUFOcjLZSUl/e+mnW/XqeIWF4dmoEd5NmuDi719Kr4CIiEjFZHFzw+LmhmtwsGNZ/pepNqsVz9BQsuLiyIqLwxoXR/aFC2QnJYHdnvfvS3yxWhQmFxcsrq55BV03N8e/vZs2pdqdd5bU7pWISlO4nT17Nvfddx+9e/cGYNSoUaxdu5bFixczYMAAg9OJiIiIiJSu8nJ+HP/f/xK3YkWpPJfZzQ1nPz9c/7gs0y0kBPfatXGvXVs3TxERESkFJpMJi4cHLoGBBHToUGh0rN1my/vS9cIFrBcukJOSQm56OrlpaeSmp5OTlkZuWhqZsbF50xZlZ2PPycGek+OY5shutZJjtUJKSoFtpx89StXu3cvUiNxKUbi1Wq3s27ePJ5980rHMbDbTtm1bduzY8bf97X+8sVartcAd9IrKYrHgHFgNu7n4faXscvYPIjc3l9wizl1WkiwWC241Q7A76ZiqKNyqVTX0ePKrVx2Ts46nisS3ZrAhx5TFYqF6gxAsLjqeKpLg2lf/Oyq/j/1P84GK8Yw+Py4Ov86dwd2dtKNHITcXTKa8B4DJhOkKP5ucnfEOD8f+53Vms+O/ZhcXLN7eOPn44OztjdnV1fG8FouFhA0bSDl+nJTjx4uU1eLpSUDr1thdXIp1zNudncnNzS21fsXta7PbsXh6YnN1LfWsZf21qQz9KtP7r+Pm0mx2O2aLRa9NCfcrT1ntLi55/Vxdsed/5l7H5wPAzQ2b3U7Cjz9is1qv3NbJCZOvL06+vrj+8Vkct2ZN3hQN+Vnyr8TJycGWm+so5tpzciAnB4Dgbt3I/uPf11Nxzo9N9kpwFn3u3Dk6dOjAwoULiY6OdiyfNGkSW7Zs4csvv7xif6vVyp7LzashIiIiIn8rMjISF92AqczQ+bGIiIiIsYpyflwpRtxeKycnJyIjIzHnfzsvIiIiIkVit9ux2Ww4Oem0syLR+bGIiIjI1SnO+XGlOIOuUqUKFouFxMTEAssTExMJDAz82/5ms1kjRERERESkwtD5sYiIiEjZV3Zm272OXFxcaNq0KZs2bXIss9lsbNq0qcClYSIiIiIilYHOj0VERETKvkox4hbg8ccfZ+jQoURERBAVFcWcOXPIyMigV69eRkcTERERESl1Oj8WERERKdsqTeG2e/funD9/nqlTpxIfH0/jxo2ZNWtWkS4FExERERGpaHR+LCIiIlK2mex2u93oECIiIiIiIiIiIiLyP5VijlsRERERERERERGR8kSFWxEREREREREREZEyRoVbERERERERERERkTJGhVspkj59+jBu3Ljr/jydO3fmk08+ue7PI2XH1RxbR44c4b777iMyMpK77777qp972LBh/Otf/7rq/lJ+/fLLL4SFhZGcnGx0FCkHvvrqK1q1alWsPn/3u02/f0RERERE5O+ocCsOw4YNIywsrNDj+PHjRkeTMurPx0zTpk3p3LkzkyZNIisrq8jbmDZtGkOGDCnW806bNg13d3dWrFihQn8l9tfjr23btjz++OMsWrQIm812xb7R0dFs2LABb2/vUkorpeH8+fOMHDmSTp06ERERQbt27ejXrx/btm27pu12796dlStXllBKEZGyacaMGfTu3Zvo6GjatGnDv/71L44ePVqgTVZWFqNGjaJ169ZER0fzzDPPkJCQYFBiuZ4+/PBDwsLCCnwJqfe/4jt37hwvvvgirVu3Jioqih49erBnzx7HervdzjvvvENMTAxRUVE89thj/P7778YFlhKVm5vLlClT6Ny5M1FRUXTp0oX33nsPu93uaKNjoPQ5GR1Aypb27dszYcKEAsv8/f0NSiPlQf4xk5OTw759+xg6dCgmk4mXXnqpSP39/PyK/ZwnTpygU6dO1KhRo9h9pWLJP/5sNhsJCQmsX7+ecePGsXLlSj744AOcnAp/zGVnZ+Pi4kJQUJABieV6euaZZ8jOzmbixInUqlWLxMRENm3axMWLF696m9nZ2bi5ueHm5lZyQUuA3W4nNzf3kse4iMjV2Lx5Mw899BCRkZHk5uby73//m379+rFs2TI8PDwAGD9+PD/++CNTpkzB29ubMWPGMGjQIBYuXGhweilJu3fvZuHChYSFhRVYrve/YktKSuLBBx+kdevWzJw5kypVqnD8+HF8fX0dbWbOnMm8efOYOHEiNWvW5J133qFfv34sX74cV1dXA9NLSZg5cyafffYZb7zxBg0aNGDv3r383//9H97e3jzyyCOONjoGSpdG3EoB+cWMPz8sFkuhdklJSbz88svccMMNNGvWjCeeeKLQtywrV67kjjvuICIigs6dO/Pxxx8XWJ+YmMjAgQOJioqic+fOfPPNN9dz1+Q6yT9mqlevTpcuXWjbti0bN24E4MKFCzz//PO0b9+eZs2a0aNHD7799tsC/f96OXHnzp2ZPn06//d//0d0dDSdOnXi888/d6wPCwtj3759vPfee4SFhTFt2jQAzpw5w5AhQ2jVqhU33ngjTz31FKdOnXL0y83NZcKECbRq1YrWrVszadKkAt8cSvmUf/xVrVqVpk2bMnDgQN5//33WrVvH119/DeQdMwsWLGDgwIE0b96c6dOnF5oqIf9S+NWrV3PrrbcSGRlJv379OHPmjJG7J8WQnJzM1q1befHFF7npppuoUaMGUVFRPPnkk9xyyy3A/46FJ554gqioKG655RZWrFjh2MapU6cICwtj+fLlPPzww0RGRrJ06dJCUyVMmzaNu+++myVLltC5c2datmzJc889R2pq6mXzrV27lpYtW172s85mszFjxgzHCIe77rqrQLb8Y/bHH3+kV69eREZGXvNIYhGRP/voo4/o1asXDRs2JDw8nIkTJxIbG8u+ffsASElJYfHixQwbNow2bdoQERHB+PHj2bFjBzt37jQ2vJSYtLQ0XnrpJcaOHVugYKf3v+KbOXMm1apVY8KECURFRVGrVi1iYmKoXbs2kPel8dy5c3nqqafo0qUL4eHhTJo0ibi4OFavXm1weikJO3bs4JZbbqFTp07UrFmT2267jZiYGHbv3g3oGDCKCrdyVYYNG8bevXv54IMP+Pzzz7Hb7QwYMIDs7GwA9u7dy7PPPkv37t1ZunQpgwYN4p133uGrr74qsI0zZ84wd+5cpk6dyoIFC0hMTDRql6QEHDp0iB07duDs7AyA1WqladOmfPjhh3z77bfcd999vPzyy45f/Jcze/ZsIiIiWLJkCf/85z95/fXXHZfqbdiwgYYNG9K3b182bNhA3759yc7Opl+/fnh6ejJ//nw+++wzPDw8eOKJJ7BarQB8/PHHfP3114wfP54FCxaQlJTEqlWrru8LIoZo06YN4eHh/Pe//3Use/fdd+natStLly6ld+/el+yXmZnJBx98wBtvvMFnn31GcnIyzz33XGnFlmvk4eGBh4cHq1evdvx/fynvvPMO3bp14z//+Q89evTg+eef58iRIwXavPXWWzzyyCMsX76cmJiYS27nxIkTfP/990yfPp0ZM2awZcsWZs6cecm2S5cu5fnnn+ett97irrvuumSbGTNmsGTJEkaNGsWyZct47LHHeOmll9i8eXOBdm+//TYvvPACy5cvLzQSSkSkJKWkpAA4ind79+4lOzubtm3bOtrUr1+fkJAQFe4qkNGjR9OxY8cC7zPo/a8M1qxZQ0REBIMHD6ZNmzbcc889fPHFF471p06dIj4+vsAx4O3tTbNmzdixY4cRkaWERUdH8/PPP3Ps2DEADhw4wLZt2+jQoQOgY8Aour5OCli7di3R0dGOn9u3b8/UqVMLtPn9999Zs2YNn332GS1atADy/sjt1KkTq1ev5vbbb2f27Nm0adOGp59+GoB69epx+PBhxzf5x44dY926dXz55ZdERUUBMG7cOLp3715KeyolJf+YycnJwWq1YjabefXVVwGoWrUq/fr1c7Tt06cPGzZs4LvvvnO875fSoUMHHnroIQD69+/PJ598wi+//EJoaKhjFLiHh4fjUvf//Oc/2Gw2xo0bh8lkAmDChAnccMMNbN68mZiYGObMmcOAAQO49dZbARg1ahQbNmy4Lq+JGC80NJSDBw86fr7zzjsLFGxPnjxZqE92djavvfYazZo1A2DixIl0796d3bt3X/F4lbLBycmJiRMn8uqrr7Jw4UKaNGnCjTfeSPfu3QkPD3e0u+2227j33nsBePbZZ9m4cSPz5s3j9ddfd7R59NFHHb8rLsdutzNhwgS8vLwAuOuuu9i0aVOhYv/8+fOZPHky06dP58Ybb7zktqxWKzNmzGD27NmOz+BatWqxbds2Pv/88wL9Bg8eTLt27Yr+woiIXAWbzcb48eNp0aIFjRo1AiAhIQFnZ2d8fHwKtA0ICCA+Pt6ImFLCli1bxq+//sqiRYsKrdP7X/GdPHmSzz77jMcff5yBAweyZ88exo4di7OzMz179nS8zwEBAQX6BQQEaK7jCmLAgAGkpqZy++23Y7FYyM3N5bnnnnMMPNAxYAwVbqWA1q1bF/jj1d3dvVCbI0eO4OTk5ChuAFSpUoV69eo5Ri0dPXrUcWlqvhYtWjB37lxyc3Md24iIiHCsr1+/fqETASn78o+ZjIwMPvnkEywWC926dQPypieYPn06K1as4Ny5c2RnZ2O1Wv92rsg/jyIzmUwEBgZecTT2gQMHOHHihOOLhHxZWVmcOHGClJQU4uPjCxyz+cefpkuomOx2u6OIDxT4XXM5Tk5OREZGOn7O/5105MgRFW7LiW7dutGpUye2bt3Kzp07Wb9+PbNmzWLs2LH06tULoMCXkwDNmzdn//79BZYV5XipUaOGo2gLEBwcXOj31MqVKzl//jwLFiy44jF0/PhxMjIy6Nu3b4Hl2dnZNG7cuMCyPx+jIiLXy6hRo/jtt99YsGCB0VGklJw5c4Zx48bx8ccfa57KSsputxMREcHzzz8PQJMmTfjtt99YuHAhPXv2NDidlIbvvvuOpUuX8vbbb9OgQQP279/PhAkTCA4O1jFgIBVupQB3d3fq1KljdAwpR/58zIwfP567776bL7/8knvvvZePPvqIuXPnMnz4cMLCwnB3d2f8+PGOKTUu56832zGZTFcssKanp9O0aVPeeuutQut0c73K6ciRI9SsWdPxc/5NVaTic3V1pV27drRr146nn36aV155hWnTpjkKt0VRlOPlUjcF++vvqSZNmrBv3z4WL15MZGRkgS8T/iw9PR3Imy6hatWqBda5uLgU+PlSX6iKiJSk0aNHs3btWj799FOqVavmWB4YGEh2djbJyckFBlskJibqhp8VwL59+0hMTCzweZmbm8uWLVuYP38+H330kd7/Ci4oKIj69esXWBYaGsrKlSsd6yHvPQ8ODna0SUxMLHB1k5RfkyZNYsCAAdxxxx1A3oCq2NhYZsyYQc+ePXUMGERz3Eqx1a9fn5ycHHbt2uVYduHCBY4dO0aDBg2AvF/w27dvL9Bv+/bt1K1bF4vFQmhoKDk5Oezdu9ex/ujRo44bBUn5ZDabefLJJ3nnnXfIzMxk+/bt3HLLLdx9992Eh4dTq1atQjexKwlNmzbl+PHjBAQEUKdOnQIPb29vvL29CQoKKnDM5uTkOG62IRXLpk2bOHTo0N9e6v5Xl/ud9NcTWClfGjRo4CiMAoXm4du1a9d1e49r1arF3Llz+f777xkzZsxl29WvXx8XFxdiY2ML/Q6rXr36dckmIvJXdrud0aNHs2rVKubMmUOtWrUKrI+IiMDZ2ZlNmzY5lh09epTY2FiaN29eymmlpN10000sXbqUJUuWOB4RERH06NHD8W+9/xVbixYtHHOb5vv999+pUaMGADVr1iQoKKjAMZCamsquXbsKXdEk5VNmZmahgQYWi8UxOEHHgDE04laKrW7dutxyyy28+uqrjBo1Ci8vL9566y2qVq3qmB6hb9++/OMf/+C9996je/fu7Ny5k/nz5zNy5Eggr7Dbvn17Ro4cyeuvv47FYmH8+PF/ewm9lH233XYbkyZNYv78+dSpU4eVK1eyfft2fH19mT17NgkJCSVeJOnRowcfffQRTz31FEOGDKFq1arExsayatUqnnjiCapVq8YjjzzCzJkzqVu3LvXq1eOTTz7RFwUVgNVqJT4+HpvNRkJCAuvXr2fGjBncfPPN3HPPPcXalrOzM2PGjGHEiBFYLBbGjBlD8+bNNU1COXHhwgWGDBlC7969CQsLw9PTk7179zJr1qwCU/esWLGCiIgIWrZsydKlS9m9ezfjxo27brnq1avH3LlzeeSRR7BYLLzyyiuF2nh5edG3b18mTJiA3W6nZcuWpKSksH37dry8vHRpmoiUilGjRvHtt9/y/vvv4+np6ZjL0NvbGzc3N7y9venduzcTJ07E19cXLy8vxo4dS3R0tAp3FYCXl5djPuN8Hh4e+Pn5OZbr/a/YHn30UR588EGmT5/O7bffzu7du/niiy8YPXo0kHcV5COPPMIHH3xAnTp1qFmzJu+88w7BwcF06dLF4PRSEm6++WamT59OSEiIY6qE2bNnO+4VomPAGCrcylWZMGEC48aNY+DAgWRnZ9OqVSs+/PBDnJ2dgbwRkFOmTGHq1Kl88MEHBAUFMXjw4AKX3kyYMIERI0bw8MMPExgYyJAhQwrdCE3KHycnJx5++GFmzZrFkiVLOHnyJP369cPd3Z377ruPLl26OO5SXFLc3d359NNPeeuttxg0aBBpaWlUrVqVNm3aOOag7Nu3L/Hx8QwdOhSz2Uzv3r3p2rVriWeR0rV+/XpiYmJwcnLCx8eH8PBwRowYQc+ePTGbi3dRiZubG/379+eFF17g3LlztGrV6roW9KRkeXp60qxZM+bMmcOJEyfIycmhWrVq3HvvvQwcONDR7plnnmH58uWMGjWKoKAgxxxe11NoaChz5syhT58+WCwWhg0bVqjNs88+i7+/PzNmzODUqVN4e3vTpEmTAtlFRK6nzz77DMi7meyfTZgwwXEOP3z4cMxmM4MHD8ZqtRITE+MYmCEVn97/ii0qKop3332Xf//737z33nvUrFmT4cOHO25MBXk3js7IyOC1114jOTmZli1bMmvWLM2LXEGMGDGCd955h1GjRjmmQ7j//vsdN50HHQNGMNl1Zx4REankvvrqK8aPH8/WrVuNjiLXUVhYGO+9955GBIiIiIiISLmgOW5FREREREREREREyhgVbkVERERERERERETKGE2VICIiIiIiIiIiIlLGaMStiIiIiIiIiIiISBmjwq2IiIiIiIiIiIhIGaPCrYiIiIiIiIiIiEgZo8KtiIiIiIiIiIiISBmjwq2IiIiIiIiIiIhIGaPCrYjIn0ybNo277767VJ5r2LBh/Otf/yqV5ypN1+s1/OWXXwgLCyM5ObnEty0iIiJSUYSFhbF69WqjY1RaxTnHr6h/D4hIyVHhVkQqpKs9Cerbty+ffPJJiWY5deoUYWFh7N+/v8DyV155hYkTJ5boc13JV199RVhYGLfffnuhdd999x1hYWF07ty5WNvUHwYiIiIipWPYsGGEhYURFhZG06ZNadu2LY8//jiLFi3CZrM52m3YsIEOHToYmLRk5J9D5z9at25N3759+fXXX0tk+3369GHcuHFXnefGG2/k4YcfZuvWrQXalfY5/rXQubxI2afCrYhUOlartdAyu91OTk4Onp6eVKlSpVRyeHt74+PjUyrPlc/Dw4Pz58+zY8eOAssXLVpESEhIqWYRERERkeJp3749GzZsYM2aNcycOZPWrVszbtw4nnzySXJycgAICgrCxcXF4KQl55NPPmHDhg3MmjWL9PR0+vfvb+gVWPl5Pv30U4KDg3nyySdJSEhwrDfiHF9EKi4VbkWkwuvTpw+jR49m3LhxtG7dmn79+jkuu//xxx/p1asXkZGRbNu2rdBl/jk5OYwdO5ZWrVrRunVr3nzzTYYOHVpgNO+6det48MEHHW2efPJJTpw44Vh/yy23AHDPPfcQFhZGnz59gMKjgq1WK2PHjqVNmzZERkby4IMPsnv3bsf6/MybNm2iV69eNGvWjAceeICjR48W+bWwWCzceeedLF682LHs7NmzbN68mTvvvLNQ+9WrV9OzZ08iIyO55ZZbePfddx1/FOSPzn366acvOVp3yZIldO7cmZYtW/Lcc8+Rmppa5H0F+PHHH+nWrRtRUVH06dOH06dPF3k/RURERCoiFxcXgoKCqFq1Kk2bNmXgwIG8//77rFu3jq+//hooOIrSarUyevRoYmJiiIyM5Oabb2bGjBmO7SUnJ/PKK69w00030aJFCx555BEOHDjgWH/ixAmeeuop2rZtS3R0NL1792bjxo0FMs2fP59bb72VyMhI2rZty+DBgx3rbDYbM2bMoHPnzkRFRXHXXXexYsWKYu2zn58fQUFBREZG8vLLL5OQkMCuXbsA2Lp1K//85z+JioqiY8eOjB07lvT09L/NNmzYMDZv3szcuXMdI2hPnTpVrDyNGjXiySefJDU11ZEnf9t/PsdfsWIFPXr0ICoqitatW/PYY48VyPhnu3fv5qabbuLDDz/82xz5f7csXLiQjh070qxZM4YMGUJKSkqBdosWLeKOO+4gIiKCmJgYRo8eDfz9ubyIlA0q3IpIpfD111/j7OzMZ599xqhRoxzL3377bV544QWWL19OWFhYoX4zZ85k6dKlTJgwgQULFpCamlrocqKMjAwef/xxFi9ezCeffILJZOLpp592XLL25ZdfAv/7dn7atGmXzDhp0iRWrlzJxIkT+frrr6lTpw5PPPEEFy9eLNBu8uTJDBs2jMWLF2OxWBg+fHixXovevXvz3XffkZGRAeRNodC+fXsCAgIKtNu6dStDhw7lkUceYfny5YwePZqvvvqK6dOnA3kngQATJkxgw4YNjp8h7yT/+++/Z/r06cyYMYMtW7Ywc+bMIu/rmTNnGDRoEDfffDNLlizh3nvv5e233y7WfoqIiIhUBm3atCE8PJz//ve/hdbNmzePNWvWMGXKFFasWMGbb75JjRo1HOuHDBlCYmIiM2fO5KuvvqJp06Y8+uijjnOy9PR0OnbsyCeffMLXX39N+/btGThwILGxsQDs2bOHcePGMXjwYFasWMGsWbNo1aqVY/szZsxgyZIljBo1imXLlvHYY4/x0ksvsXnz5qvaVzc3NwCys7M5ceIE/fv359Zbb+Wbb75h8uTJbNu2jTFjxvxttldeeYXo6Gjuu+8+NmzYwIYNG6hevXqxsmRmZrJkyRIAnJ2dL9kmLi6OF154gd69e7N8+XLmzp1L165dsdvthdpu2rSJvn378txzzzFgwIAiZThx4gTfffcd06dPZ9asWezfv5/XX3/dsX7BggWMHj2a++67j6VLl/L+++9Tu3Zt4Mrn8iJSdjgZHUBEpDTUrVuXl19+2fFzfHw8AIMHD6Zdu3aX7ffpp58yYMAAunbtCsBrr73GunXrCrTp1q1bgZ/Hjx9PmzZtOHz4MI0aNcLf3x/437fzl5Kens7ChQuZMGECHTt2BGDMmDH89NNPLFq0iCeeeMLR9rnnnuPGG28EYMCAAQwYMICsrCxcXV2L9Fo0adKEWrVqsXLlSu6++26+/vprhg0bxsmTJwu0e/fddxkwYAA9e/YEoFatWgwZMoQ333yTQYMGOfbLx8en0H7Z7XYmTJiAl5cXAHfddRebNm3iueeeK9K+fvbZZ9SuXZthw4YBEBoayqFDhwoUf0VEREQkT2hoKAcPHiy0/MyZM9SpU4eWLVtiMpkKFG23bt3K7t272bRpk2NqhaFDh7J69WpWrlzJ/fffT3h4OOHh4Y4+zz77LKtXr2bNmjU8/PDDnDlzBnd3dzp16oSXlxc1atSgSZMmQN5o3xkzZjB79myio6OBvPPJbdu28fnnnzvOZ4sqOTmZ999/Hw8PD6Kiopg8eTI9evTgscceA/LO91955RX69OnD66+/fsVs3t7eODs74+bmdtnz88t54IEHMJvNZGRkYLfbadq0KW3atLlk2/j4eHJycujatavjtb/UYJFVq1bx8ssvM27cOLp3717kLFlZWUyaNImqVasCMGLECJ588kmGDRtGUFAQH3zwAY8//jiPPvqoo09UVBTAFc/lRaTsUOFWRCqFpk2bXnJ5ZGTkZfukpKSQkJDgOLmBvKkGmjZtWuAGEL///jtTp05l165dXLhwwfEN+pkzZ2jUqFGR8p04cYLs7GxatGjhWObs7ExUVBRHjhwp0PbPJ3v5J1mJiYnFmqO2d+/eLF68mOrVq5ORkUHHjh359NNPC7Q5cOAA27dvd4ywBcjNzSUrK4uMjAzc3d0vu/0aNWo4irYAwcHBJCYmFnlfjxw5UuB1B2jevHmR909ERESkMrHb7ZhMpkLLe/bsSd++fbntttto3749nTp1IiYmBoCDBw+Snp5O69atC/TJzMx0TPuVlpbGu+++y9q1a4mPjyc3N5fMzEzHiNu2bdsSEhJCly5daN++Pe3bt6dr1664u7tz/PhxMjIy6Nu3b4HtZ2dn07hx4yLvW36hND09nVq1ajFlyhQCAwM5cOAABw8eZOnSpQVeB5vNxqlTp66Y7VpMnjyZ0NBQfvvtN958800mTpx42RG34eHhtGnThh49ehATE0NMTAzdunXD19fX0Wb37t2sXbuWqVOn0qVLl2JlqV69uqNoCxAdHY3NZuPYsWOYzWbi4uIuW1QWkfJBhVsRqRQud4J2rSduAAMHDqRGjRqMHTuW4OBgbDYbd955J9nZ2de87Utxcvrfr+78E/Q/F5KLokePHrz55pu8++673HXXXQW2mS89PZ1nnnmGW2+9tdC6vxvde6ntXeqSMBERERG5dkeOHKFmzZqFljdt2pTvv/+edevWsXHjRp599lnatm3L1KlTSUtLIygoiHnz5hXq5+3tDcAbb7zBxo0bGTp0KLVr18bNzY3Bgwc7znO9vLz4+uuv2bx5Mxs2bGDq1Km8++67LFq0yDGP64wZMwoUF4Fi3Txt8uTJNGjQAD8/vwI3/UpPT+eBBx5w3D/iz6pXr46Li8tls13LzcOqV69O3bp1qVu3Ljk5OQwaNIhvv/32kvtksViYPXs227dv56effmLevHlMnjyZL774glq1agF5o5D9/PxYtGgRHTt2vGwRuLiKejWeiJRtmuNWROQyvL29CQwMZM+ePY5lubm5/Prrr46fL1y4wLFjx3jqqado06YN9evXJykpqcB28k++cnNzL/tctWvXxtnZme3btzuWZWdns2fPHho0aFBSu+Tg5+dH586d2bx5M717975kmyZNmnDs2DHq1KlT6GE25318ODs7X3G/LqUo+1q/fv0CrztQ4KYPIiIiIpJn06ZNHDp06JJftkNecbV79+6MHTuWyZMns3LlSi5evEjTpk1JSEjAYrEUOtfLv4x+x44d9OzZk65duxIWFkZgYGChG8Y6OTnRtm1bXn75Zb755htOnz7Nzz//TP369XFxcSE2NrbQ9oszn2z16tWpXbt2oWJrkyZNOHz48CXPVfOLqJfLBnnnscUd/PBXt912GxaLhQULFly2jclkomXLlgwePJglS5bg7Oxc4J4ZVapUYc6cOZw4cYJnn322WIM/zpw5w7lz5xw/79y5E7PZTL169RzTQ2zatOmy/a/mXF5ESpdG3IqIXMHDDz/MjBkzqF27NqGhoXz66ackJSU5Rrr6+vri5+fH559/TlBQELGxsYVuohUQEICbmxvr16+nWrVquLq6OkYx5PPw8ODBBx9k0qRJ+Pr6EhISwqxZs8jMzOQf//jHddm3iRMnMnLkSKpUqXLJ9U8//TQDBw4kJCSEbt26YTabOXDgAIcOHeK5554DcJwMtmjRAhcXlwKXfV1OUfb1gQce4OOPP+aNN97g3nvvZd++fY47JYuIiIhUVlarlfj4eGw2GwkJCaxfv54ZM2Zw8803c8899xRqP3v2bIKCgmjcuDFms5kVK1YQFBSEj48Pbdu2pXnz5jz99NO89NJL1K1bl7i4OH788Ue6dOlCZGQkderUYdWqVXTu3BmTycSUKVMKFDt/+OEHTp48yQ033ICPjw8//vgjNpvNUTjs27cvEyZMwG6307JlS1JSUti+fTteXl6O+yhcrf79+3P//fczevRo7r33Xtzd3Tl8+DAbN27ktddeu2I2yDuP3bVrF6dOncLDwwM/Pz/H4ISiMplM9OnTh3fffZf777+/0NV8u3btYtOmTbRr146AgAB27drF+fPnCQ0NLdAuICCAOXPm8Mgjj/DCCy/w73//+5JXsP2Vq6srw4YNY+jQoaSmpjJ27Fhuv/12x3RqzzzzDCNHjiQgIIAOHTqQlpbG9u3bHaOUr+ZcXkRKlwq3IiJX0L9/fxISEhg6dCgWi4X77ruPmJgYLBYLAGazmcmTJzN27FjuvPNO6tWrx4gRIwpcsuXk5MSIESN47733mDp1Kq1atbrkJWkvvvgidrudl19+mbS0NCIiIpg1a9Z1O4Fyc3Nz3Jn3Utq3b8/06dN57733mDlzJk5OToSGhnLvvfc62gwdOpSJEyfy5ZdfUrVqVdasWVOk5/67fQ0JCWHatGlMmDCBTz/9lKioKJ577jmGDx9+bTstIiIiUo6tX7+emJgYnJyc8PHxITw8nBEjRtCzZ89LFh09PT2ZNWsWx48fx2w2ExkZyYcffuho++GHHzJlyhT+7//+jwsXLhAYGEirVq0IDAwEYNiwYQwfPpwHHniAKlWq0L9/f9LS0hzb9/b2ZtWqVbz77rtkZWVRp04d3n77bRo2bAjk3czM39+fGTNmcOrUKby9vWnSpAkDBw685tciPDycefPmMWXKFP75z38CedMO5N/c6++y9e3bl2HDhnHHHXeQmZnJ999/f8npJv5Oz549mTJlCp9++in9+/cvsM7Ly4stW7YwZ84cUlNTCQkJYdiwYY4b9P5ZUFAQc+bMoU+fPrz44ou8/fbbjr85Lqd27dp07dqV/v37k5SURKdOnRg5cmSBbFlZWXzyySdMmjQJPz8/brvtNsf6qz2XF5HSY7Jr0kERkSKz2Wzcfvvt3H777Tz77LNGxxERERERkUpo2rRprF69mv/85z9GRxGR60gjbkVEruD06dP89NNP3HDDDVitVubPn8/p06fp0aOH0dFEREREREREpAJT4VZE5ArMZjNfffUVb7zxBna7nUaNGjF79mzq169vdLRC7rjjDmJjYy+5btSoUdx1112lnEhERERE5NJee+01li5desl1PXr0YPTo0ZU6z9+d24tI5aCpEkREKojTp0+Tk5NzyXUBAQF4eXmVciIRERERkUtLTEwkNTX1kuu8vLwICAio1Hl0bi8ioMKtiIiIiIiIiIiISJlT+LaTIiIiIiIiIiIiImIoFW5FREREREREREREyhgVbkVERERERERERETKGBVuRURERERERERERMoYFW5FREREREREREREyhgVbkVERERERERERETKGBVuRURERERERERERMqY/wc68TGR1RauGw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AutoShape 4" descr="data:image/png;base64,iVBORw0KGgoAAAANSUhEUgAABW4AAAPdCAYAAAAauvH/AAAAOnRFWHRTb2Z0d2FyZQBNYXRwbG90bGliIHZlcnNpb24zLjEwLjAsIGh0dHBzOi8vbWF0cGxvdGxpYi5vcmcvlHJYcgAAAAlwSFlzAAAPYQAAD2EBqD+naQABAABJREFUeJzs3Xl4TOf///FXMkmIXSR2Ys1EiIgtlpBaqhS1FR9L1FZbVVtVlNZWtZQulpbatypqabVVPqVfWqWWorQi9pJqK7GTVJKZ8/vDL/PpiCWJiZnwfFxXrmvOfe458z7vmcOdd+65j5thGIYAAAAAAAAAAC7D3dkBAAAAAAAAAADsUbgFAAAAAAAAABdD4RYAAAAAAAAAXAyFWwAAAAAAAABwMRRuAQAAAAAAAMDFULgFAAAAAAAAABdD4RYAAAAAAAAAXAyFWwAAAAAAAABwMRRuAQAAAAAAAMDFULgFIEnatWuXzGazNm7c6OxQ0iQuLk6DBg1SWFiYzGazFi1a5OyQkAYNGzbU8OHDnR0GAACAQzGWxsPAWBp4/Hg4OwDgcbJ27Vq9/vrr8vLy0ubNm1WoUCG7/ZGRkbp06ZK++uorJ0WYdUycOFE//PCDBg4cKF9fX1WqVOmufc1m8x3bfX199eOPP2ZWiA8sMjJSu3fvtm1ny5ZN/v7+ateunbp16yZ3d/725mzR0dH68MMPdejQIcXFxSlfvnwqV66cGjZsqMjISGeHBwDAI4WxtOMwlmYs7SrOnDmjefPm6ccff9T58+fl6empgIAANWvWTB07dlT27NmdHSLgVBRuASdITEzUnDlz9Oabbzo7lCzrp59+UqNGjdSrV6809a9bt65atWpl15YVBgGFCxfW4MGDJcn2i8jEiRN16dIlvfLKK06O7vG2b98+devWTUWLFlX79u3l5+enP//8U7/88ouWLFlC4RYAgEzCWPrBMZZmLO0Ktm7dqpdeekleXl5q1aqVAgIClJSUpJ9//llTpkzR8ePH9dZbbzk7TMCpKNwCTlChQgWtWrVKffr0STVT4FEXHx+vHDlyPPBxLly4oDx58qS5f6lSpVINNh+U1WpVUlKSsmXL5tDj/lvu3Lnt4u7UqZOaNWumpUuXatCgQTKZTJn22hnhqPfXVdzrfGbPnq3cuXNr9erVqT6LFy5ceBjhAQDwWGIszVg6rRhLO9e9zufs2bN65ZVXVLRoUS1evFgFCxa07evSpYt+//13bd269a7HfhifH8AV8N0AwAn69u0rq9WquXPn3rNfTEyMzGaz1q5dm2qf2WzWjBkzbNszZsyQ2WzWqVOnNGTIEFWrVk21atXSBx98IMMw9Oeff6p///6qWrWq6tatqwULFtzxNa1Wq9577z3VrVtXVapUUb9+/fTnn3+m6vfLL7+oV69eqlatmkJCQtS1a1f9/PPPdn1SYjp+/LheffVV1ahRQ507d77nOZ89e1aDBg1SzZo1FRISog4dOtj9h7127VqZzWYZhqFPPvlEZrP5rl/fSqv58+frP//5j8LCwlS5cmW1bdv2juuTmc1mjRs3TuvXr1fz5s0VHBysH374wRbT3r17NX78eNWqVUvVq1fXqFGjlJiYqKtXr2ro0KGqUaOGatSooXfeeUeGYWQo1mzZsqlSpUq6ceNGquLgF198obZt26py5cqqWbOmXnnllbu+d88//7xq1KihKlWqqGXLllq8eLFdn507d6pz586qUqWKqlevrv79++vEiRN2fe71/hqGoY8++kj169dXSEiIIiMjdezYsVSxJCUlaebMmWrSpImCg4MVFhamTp063fdrdyk537Nnj0aNGqWwsDBVrVpVQ4cO1ZUrV1L137Ztm+18QkND1adPn1TxDB8+XKGhoTpz5oyef/55hYaGasiQIXeN4cyZMypXrtwdf+kpUKBAqra0vD979+7VoEGD9MQTT6hSpUqKiIjQhAkT9M8//9j1i42N1euvv6769eurUqVKCg8PV//+/RUTE2PX75NPPlHz5s1tfcaOHaurV6/a9YmMjFSLFi10/PhxRUZGKiQkRPXq1bvvv08AADgLY+m7Yyx9b4ylb3GFsfS8efMUHx+vt99+265om8Lf31/PPfecbftunx9JOnz4sHr37q2qVasqNDRUzz33nA4cOPBA5wy4CmbcAk5QvHhxtWrVSqtWrdLzzz/v0JkCr7zyisqWLatXX31V27Zt06xZs5QvXz6tWLFCtWrV0pAhQ/Tll19q8uTJCg4OVo0aNeyeP2vWLLm5uen555/XhQsXtHjxYnXv3l1ffPGF7etQO3fu1PPPP69KlSpp4MCBcnNz09q1a/Xcc89p+fLlqly5st0xX3rpJfn7++uVV1655yArLi5O//nPf5SQkKDIyEjlz59f69atU//+/TV9+nQ9+eSTtsHa0KFD7/iVrbu5efOmLl68aNeWK1cueXl5acmSJWrYsKFatmyppKQkff3113rppZf08ccf64knnrB7zk8//aRvvvlGXbp0Uf78+VWsWDFbIWz8+PHy9fXViy++qF9++UUrV65U7ty5tX//fhUpUkSvvPKKvv/+e82fP18BAQFq3bp1mmK/3R9//CE3Nze7guGsWbM0bdo0NWvWTM8++6wuXryoZcuWqUuXLvr8889tfX/88Uf17dtXBQsWVLdu3eTr66sTJ05o69attoHRjh079Pzzz6t48eIaOHCg/vnnHy1btkydOnXS2rVrVbx4cbt47vT+Tps2TbNmzVJERIQiIiL022+/qWfPnkpKSrJ77syZM/Xxxx+rffv2qly5sq5fv65ff/1Vv/32m+rWrXvfXIwbN0558uTRwIEDderUKX366ac6d+6cli5dKjc3N0nS559/ruHDhys8PFxDhgxRQkKCPv30U3Xu3Fnr1q2zO5/k5GTbL1HDhg2751cAixUrpv379+vo0aMKCAi4Z5xpfX82btyof/75R506dVK+fPl08OBBLVu2TH/99ZemT59uO96LL76o48ePq2vXripWrJguXryoH3/8UX/++aftfGbMmKGZM2eqTp066tSpky0/hw4d0qeffipPT0/b8a5cuaLevXvrySefVLNmzbRp0yZNnTpVAQEBioiIuO/7AADAw8RY+s4YS6cNY+n/ceZY+v/+7/9UokQJVa1a9b5xprjT5+fYsWPq0qWLcubMqd69e8vDw0MrV65UZGSkli1bppCQkHSfM+BSDAAPzZo1a4yAgADj4MGDxpkzZ4ygoCDjrbfesu3v2rWr0bx5c9v22bNnjYCAAGPNmjWpjhUQEGBMnz7dtj19+nQjICDAePPNN21tycnJRv369Q2z2Wx8/PHHtvYrV64YlStXNoYNG2Zr++mnn4yAgACjXr16xrVr12ztGzZsMAICAozFixcbhmEYVqvVaNKkidGzZ0/DarXa+iUkJBgNGzY0evTokSqmwYMHpyk/b7/9thEQEGDs2bPH1nb9+nWjYcOGRoMGDQyLxWJ3/mPHjk3TcQMCAu74k5LXhIQEu/6JiYlGixYtjG7duqU6TmBgoHHs2DG79pT39facdOzY0TCbzcaoUaNsbSnvSdeuXe8bd9euXY2mTZsaFy5cMC5cuGCcOHHCmDx5shEQEGD06dPH1i8mJsaoUKGCMWvWLLvnR0dHG0FBQbb25ORkWy6vXLli1/ffcbdq1cqoXbu2cenSJVtbVFSUERgYaAwdOtTWdrf398KFC0bFihWNPn362B33vffeMwICAuw+d88884zduaRVSs7btGljJCYm2trnzp1rBAQEGJs3bzYM49bnp3r16sYbb7xh9/zY2FijWrVqdu3Dhg0zAgICjKlTp6Yphu3btxsVKlQwKlSoYHTs2NF45513jB9++MEuHsNI+/tjGKk/i4ZhGB9//LFhNpuNP/74wzCMW9dvQECAMW/evLvGlvIe9OzZ0+66WbZsmREQEGCsXr3a1ta1a1cjICDAWLduna3t5s2bRt26dY0XX3wxTbkAAOBhYCx9b4yl7TGWvjtnj6WvXbtmBAQEGP37909zzHf7/AwYMMCoWLGicebMGVvb33//bYSGhhpdunRJ9zkDroalEgAnKVGihJ555hmtWrVK58+fd9hxn332Wdtjk8mkSpUqyTAMu/Y8efKodOnSOnv2bKrnt27dWrly5bJtN23aVH5+ftq2bZskKSoqSqdPn1bLli116dIlXbx4URcvXlR8fLxq166tPXv2yGq12h3zP//5T5pi37ZtmypXrqzq1avb2nLmzKmOHTvqjz/+0PHjx9OWhDto1KiRFi5caPcTHh4uyf7GCleuXNG1a9dUrVo1HT58ONVxatSooXLlyt3xNZ599lm7v9JWrlw5Ve5T3pM75f5OTp48qdq1a6t27dpq1qyZ5s+fr4YNG2rixIm2Pt9++62sVquaNWtmez8uXrwoX19f+fv7a9euXZJufYUoJiZG3bp1S/X1/pS4z58/r6ioKLVp00b58uWz7Q8MDFSdOnVsn4N/u/393bFjh5KSktS1a1e7fPz7q04p8uTJo2PHjun06dNpysftOnbsaDdztFOnTvLw8LDFuWPHDl29elXNmze3y427u7tCQkJsufm3Tp06pem169atqxUrVqhhw4Y6cuSI5s2bp169eql+/frasmWLrV9a3x/J/rMYHx+vixcvKjQ0VIZh2D6P2bNnl6enp3bv3n3Xr3WlvAe33zG5ffv2ypUrV6r3MUeOHHYzbry8vBQcHJzmzykAAA8bY+nUGEunxlj63pw1lr5+/bqkW5/P9Lj982OxWPTjjz+qcePGKlGihK29YMGCatGihX7++Wfba6X1nAFXw1IJgBMNGDBA69ev15w5c/TGG2845JhFixa1286dO7eyZcsmHx+fVO2XL19O9Xx/f3+7bTc3N/n7++uPP/6QJNugYNiwYXeN4dq1a8qbN69t+/avA93NuXPnUn2VRZLKlClj23+/r6TfTeHChVWnTp077vu///s/zZo1S1FRUUpMTLS13+mrMvc6lzvlXpKKFCmSqj2t6ygVK1ZM48ePl9Vq1ZkzZzR79mxdunTJbhH+06dPyzAMNWnS5I7H8PC49U99ygD3Xjk8d+6cJKl06dKp9pUtW1bbt29PdZOB23OScoxSpUrZtfv4+Nh9LiRp0KBBGjBggJ566ikFBAQoPDxcrVq1UmBg4F1j/LfbP685c+aUn59fqs/rnQa6kux+sZJu5apw4cJpem3p1i8UM2fOVGJioo4cOaLNmzdr0aJFeumll/T555+rXLlyaX5/pFu5mz59ur777rtUn5GUQaeXl5eGDBmiyZMnq27dugoJCdETTzyh1q1by8/Pz3Yc6X/XTgovLy+VKFHClp8UhQsXTvV5z5s3r6Kjo9OcCwAAHjbG0vYYS6fGWPrenDWWTnnejRs30hRnittzdfHiRSUkJNw131arVX/++afKly9va7/fOQOuhsIt4ET/ninQp0+fVPvvtsaOxWK56zH/Pbsuxd3ulmpkYFH/lOcMHTpUFSpUuGOf2+8c6sp3+ty7d6/69++vGjVqaPTo0fLz85Onp6fWrFmjr776KlX/e63TdKfc36s9LXLkyGE3SK5ataratm2r999/3/YLitVqlZubm+bOnXvH9zqz70z7IO9vjRo19O2332rLli368ccftXr1ai1evFhjx45V+/btHzi2lM/rO++8Yytq/tvt+fLy8srQ++Xl5aXKlSurcuXKKlWqlF5//XVt3LhRAwcOTPP7Y7FY1KNHD9t6s2XKlFGOHDn0999/a/jw4Xazb7p3766GDRtq8+bN2r59u6ZNm6Y5c+Zo8eLFCgoKSnf8rnZHZQAA0oKxtPMxln5wj+NYOleuXCpYsOAdb7h2L/f6/ACPKgq3gJP1799f69evv+NdcVP+onr7XeBT/gqbGX7//Xe7bcMw9Pvvv9vuNpvyFZRcuXLd9a/uGVW0aFGdOnUqVfvJkydt+x1t06ZNypYtm+bPny8vLy9b+5o1axz+Wo4QGBioZ555RitWrFDPnj1VtGhRlSxZUoZhqHjx4nf8a3OKlPfu6NGjd33vUnJ8t/chf/789x28phzj9OnTdl9Zunjx4h1nR+TLl0/t2rVTu3btdOPGDXXt2lUzZsxI02Dz999/V61atWzbN27cUGxsrOrXry/pf+dcoEABh39e76ZSpUqSZPvaZlrfn6NHj+r06dOaPHmy3c027nZX4JIlS6pnz57q2bOnTp8+rdatW2vBggWaOnWq7T04efKk3XuQmJiomJiYh5YLAAAyG2Pp/2EsfX+Mpe05cyzdoEEDrVy5Uvv371doaGiGjuHj4yNvb++75tvd3T3VjO37nTPgaljjFnCykiVL6plnntHKlSsVGxtrty9XrlzKnz+/9u7da9e+fPnyTIvn888/t1sHaOPGjXb/kVWqVEklS5bUggUL7vjVltvvNpseEREROnjwoPbv329ri4+P16pVq1SsWLG7rof1IEwmk9zc3OxmXsTExNitUepqevfureTkZC1cuFCS1KRJE5lMJs2cOTPVzA/DMHTp0iVJUsWKFVW8eHEtWbIk1S8wKc8rWLCgKlSooM8//9yuz9GjR/Xjjz8qIiLivvHVqVNHnp6eWrZsmV08ixcvTtU3JbYUOXPmVMmSJe2+ZncvK1eutLu77qeffqrk5GTb57VevXrKlSuXPv7441R34ZUe7PP6008/3XGmTcr6WClfS0zr+5MyO+HffQzD0JIlS+yek5CQoJs3b9q1lSxZUjlz5rTlLeU9WLp0qd3xVq9erWvXrqXpfQQAICtgLP0/jKXThrH0/zhzLN27d2/lyJFDb7zxhuLi4lLtP3PmzB3P+d9MJpPq1q2rLVu2KCYmxtYeFxenr776StWqVUu1nMP9zhlwNcy4BVxAv3799MUXX+jUqVN26+9It24mNGfOHI0cOVKVKlXS3r177/gXRUfJmzevOnfurLZt2+rChQtavHix/P391aFDB0m3ikvjx4/X888/rxYtWqht27YqVKiQ/v77b+3atUu5cuXS7NmzM/Taffr00ddff63nn39ekZGRyps3rz7//HPFxMRoxowZD/Q1qbuJiIjQwoUL1bt3b7Vo0UIXLlzQ8uXLVbJkSZdd37NcuXKKiIjQ6tWrNWDAAJUsWVIvv/yy3n33Xf3xxx9q3LixcubMqZiYGG3evFkdOnRQr1695O7urjFjxqh///5q3bq12rZtKz8/P508eVLHjx/X/PnzJd366t7zzz+vjh076tlnn9U///yjZcuWKXfu3Bo4cOB94/Px8VHPnj318ccfq2/fvoqIiNDhw4f1/fffK3/+/HZ9mzdvrpo1a6pixYrKly+fDh06pE2bNqlr165pykVSUpK6d++uZs2a6dSpU1q+fLmqVaumRo0aSbr1C9uYMWM0dOhQtW3bVk8//bR8fHx07tw5bdu2TVWrVtWoUaPS+Q7cMn78eCUkJOjJJ59UmTJllJSUpH379umbb75RsWLF1LZtW0lK8/tTpkwZlSxZUpMnT9bff/+tXLlyadOmTal+MTh9+rS6d++upk2bqly5cjKZTNq8ebPi4uLUvHlz23vQt29fzZw5U71791bDhg1t+QkODtYzzzyToXMGAMAVMZa+hbF02jCW/h9njqVLliypqVOn6pVXXtHTTz+tVq1aKSAgQImJidq/f782btxoG0/fy8svv6wdO3aoc+fO6ty5s0wmk1auXKnExES99tpr6T5nwNVQuAVcgL+/v5555hmtW7cu1b4XXnhBFy9e1KZNm/TNN9+ofv36mjdvnmrXrp0psfTr10/R0dGaM2eObty4odq1a2v06NHy9va29QkLC9PKlSv10UcfadmyZYqPj5efn58qV66sjh07Zvi1fX19tWLFCk2ZMkXLli3TzZs3ZTabNXv2bD3xxBMOOLvUateurbfffltz587VhAkTVLx4cQ0ZMkR//PGHyw42JalXr17aunWrli1bphdffFF9+vRRqVKltGjRIn344YeSbt1Eom7dumrYsKHtefXq1dPixYv14YcfasGCBTIMQyVKlLD9MiHd+iv/vHnzNH36dE2fPl0eHh6qUaOGXnvtNbuva93Lyy+/LC8vL61YsUK7du1S5cqVtWDBAvXt29euX2RkpL777jv9+OOPSkxMVNGiRfXyyy+rV69eaXqdUaNG6csvv9T06dOVlJSk5s2b64033rBb065ly5YqWLCg5syZo/nz5ysxMVGFChVS9erV0zQYvJuhQ4dq48aN2rZtm+0v90WLFlXnzp3Vv39/u7sNp+X98fT01OzZszV+/Hh9/PHHypYtm5588kl16dJFrVq1sh2rcOHCat68uXbu3Kn169fLZDKpTJky+uCDD/TUU0/Z+r344ovy8fHRsmXLNHHiROXNm1cdOnTQ4MGD7e6kCwBAVsdY+hbG0mnHWPoWZ46lJalRo0Zav3695s+fry1btujTTz+Vl5eXzGazhg8fbpfXuylfvrw++eQTvfvuu/r4449lGIYqV66sKVOm3PFmfWk5Z8CVuBkZWVEdAAAnWrt2rV5//XWtXr1awcHBzg4HAAAAyDIex7H043jOeDSwxi0AAAAAAAAAuBgKtwAAAAAAAADgYijcAgAAAAAAAICLYY1bAAAAAAAAAHAxzLgFAAAAAAAAABfj4ewAsgKr1ark5GS5u7vLzc3N2eEAAABkGYZhyGq1ysPDQ+7uzBl4VDA+BgAAyJj0jI8p3KZBcnKyDh065OwwAAAAsqzg4GB5eXk5Oww4CONjAACAB5OW8TGF2zRIqX4HBwfLZDI5ORoAAICsw2Kx6NChQ8y2fcSkvJ9BQUEU5B9AyvXB7xkPhjw6Bnl0DPLoGOTRMcijYzg6j+kZH1O4TYOUr3+ZTCY+6AAAABnA1+kfLYyPHYs8OgZ5dAzy6Bjk0THIo2OQR8dwdB7TMj5m6gMAAAAAAAAAuBgKtwAAAADgJN7e3s4O4ZFAHh2DPDoGeXQM8ugY5DFrY6kEAAAAABnC1y4fjMlkUlBQkLPDyPLIo2OQR8cgj45BHh2DPKad1bDK3c315rdSuAUAAACQIf899J0uxF9ydhgAAAAZ5pMzv54OedLZYdwRhVsAAAAAGXIp/rLOX41zdhgAAACPJNebAwwAAAAAAAAAjzkKtwAAAAAAAADgYijcAgAAAAAAAICLoXALAAAAAAAAAC6Gwi0AAAAAAAAAuBgKtwAAAAAAAADgYijcAgAAAAAAAICLoXALAAAAAAAAAC6Gwi0AAAAAAAAAuBgKtwAAAAAAAADgYijcAgAAAAAAAICLoXALAAAAAAAAAC6Gwq2TWKxWZ4eAxxCfOwAAAAAAgKzBw9kBPK5M7u6aNGOtzvwR5+xQ8JgoWcxXw19s6+wwAAAAAAAAkAYUbp3ozB9xOn7qL2eHAQAAgCwsJiZGjRo10ueff64KFSo4OxwAAAA4iFOXStizZ4/69eun8PBwmc1mbd682W6/2Wy+48+8efNsfRo2bJhq/5w5c+yOc+TIEXXu3FnBwcGKiIjQ3LlzH8r5AQAAAA9q+PDhtnFuxYoV1bBhQ73zzju6efOmJKlIkSLavn27ypcv7+RIAQAA4EhOnXEbHx8vs9msdu3aaeDAgan2b9++3W77+++/18iRI/XUU0/ZtQ8aNEgdOnSwbefMmdP2+Pr16+rVq5dq166tsWPH6ujRoxoxYoTy5Mmjjh07OviMAAAAAMerV6+eJk6cqOTkZP32228aNmyY3Nzc9Nprr8lkMsnPz8/ZIQIAAMDBnFq4jYiIUERExF333z4A3bJli8LCwlSiRAm79pw5c951sLp+/XolJSVpwoQJ8vLyUvny5RUVFaWFCxemu3BrsVjS1f9eTCaTw44FpIcjP8cAANwP/+84hpeXl228W6RIEdWpU0c7duyQdOelEo4dO6apU6dqz549MgxDFSpU0KRJk1SyZElJ0meffaYFCxYoJiZGxYoVU2RkpLp06eKckwMAAMAdZZk1buPi4rRt2zZNmjQp1b65c+dq1qxZKlKkiFq0aKHu3bvLw+PWqR04cEDVq1eXl5eXrX94eLjmzp2rK1euKG/evGmO4dChQw9+IpK8vb0VFBTkkGMB6RUdHa2EhARnhwEAADLo6NGj2r9/v4oWLXrH/X///be6du2qmjVravHixcqVK5f27dun5ORkSbcmNkybNk2jRo1ShQoVFBUVpTfffFM5cuRQmzZtHuapAAAA4B6yTOF23bp1ypkzp5o0aWLXHhkZqaCgIOXNm1f79+/Xe++9p9jYWL3++uuSbhV8ixcvbvccX19f2770FG6Dg4OZKYssz2w2OzsEAMBjxGKxOOyP34+zrVu3KjQ0VMnJyUpMTJS7u7vefPPNO/b95JNPlCtXLr333nvy9PSUJJUuXdq2f8aMGRo+fLhtXF2iRAkdP35cK1eupHALAADgQrJM4XbNmjVq2bKlsmXLZtfeo0cP2+PAwEB5enpq9OjRevXVV+1m2TqCyWSicIssj88wAABZT1hYmMaMGaOEhAQtWrRIJpMp1X0fUkRFRal69eq2ou2/xcfH68yZMxo5cqRd4Tc5OVm5c+fOtPgBAACQflmicLt3716dOnVKH3zwwX37hoSEKDk5WTExMSpTpox8fX0VFxdn1ydlO2XmLQAAAODKvL295e/vL0maMGGCWrVqpc8++0zt27dP1Td79ux3PU58fLwk6a233lJISIjdPnd3dwdGDAAAgAeVJUZnq1evVsWKFRUYGHjfvlFRUXJ3d1eBAgUkSVWqVNHevXuVlJRk67Njxw6VLl06XcskAAAAAK7A3d1dffv21bRp0/TPP/+k2m82m1ONf1P4+vqqYMGCOnv2rPz9/e1+br8BMAAAAJzLqYXbGzduKCoqSlFRUZJu3RE3KipK586ds/W5fv26Nm7ceMfZBPv379eiRYt05MgRnT17VuvXr9fEiRP1zDPP2IqyLVu2lKenp0aOHKljx45pw4YNWrJkid0SCwAAAEBW0rRpU7m7u+uTTz5Jta9Lly66fv26Bg8erEOHDun06dP6/PPPdfLkSUnSoEGDNGfOHC1ZskSnTp1SdHS01qxZo4ULFz7s0wAAAMA9OHWphF9//VXdunWzbU+cOFGS1KZNG02aNEmS9PXXX8swDLVo0SLV8728vLRhwwbNnDlTiYmJKl68uLp3725XlM2dO7fmz5+vcePGqW3btsqfP78GDBigjh07ZvLZAQAAAJnDw8NDXbt21bx581S/fn27ffnz59fixYs1ZcoURUZGyt3dXRUqVFC1atUkSe3bt1f27Nk1f/58vfPOO8qRI4cCAgL03HPPOeNUAAAAcBduhmEYzg7C1VksFh04cEBVqlRx6I2dBgyfo+On/nLY8YB7KVe6sD6a1MfZYQAAHjOZNY6Cc6W8r9E3T+qvq7HODgcAACDDCubxVdc6He6639Hj2fQcL0uscQsAAAAAAAAAjxMKtwAAAAAAAADgYijcAgAAAAAAAICLoXALAAAAAAAAAC6Gwi0AAAAAAAAAuBgKtwAAAAAAAADgYijcAgAAAAAAAICLoXALAAAAAAAAAC6Gwi0AAAAAAAAAuBgKtwAAAAAAAADgYijcAgAAAAAAAICLoXALAAAAAAAAAC7Gw9kBAAAAAMia8ufIJ6sMZ4cBAACQYT458zs7hLuicAsAAAAgQ5oEN5TJZHJ2GAAAAA/Ealjl7uZ6CxO4XkQAAAAAsgSLxeLsELI0i8Wiw4cPk8cHRB4dgzw6Bnl0DPLoGOQx7VyxaCtRuAUAAAAAp0lISHB2CI8E8ugY5NExyKNjkEfHII9ZG4VbAAAAAAAAAHAxFG4BAAAAAAAAwMVQuAUAAAAAAAAAF0PhFoDLsFitzg4BjyE+dwAAAAAAV+Th7AAAIIXJ3V0jPl+jk3Fxzg4Fj4kyvr6a0Lqds8MAAAAAACAVCrcAXMrJuDgd+etPZ4cBAAAAAADgVCyVAAAAAABO4u3t7ewQHgnk0THIo2OQR8cgj45BHrM2ZtwCAAAAyBCTyeTsELI0k8mkoKAgZ4eR5ZFHxyCPjkEeHYM8OkZ682g1rHJ3Y46nK6FwCwAAACBDVu76Vn9eveDsMAAAwAMqlMdHXes0c3YYuA2FWwAAAAAZcv7aJf1xKdbZYQAAADySmP8MAAAAAAAAAC6Gwi0AAAAAAAAAuBgKtwAAAAAAAADgYijcAgAAAAAAAICLoXALAAAAAAAAAC6Gwi0AAAAAAAAAuBgKtwAAAAAAAADgYijcAgAAAAAAAICLoXALAAAAAAAAAC6Gwi0AAAAAAAAAuBgKtwAAAAAAAADgYijcAgAAAAAAAICLoXALAAAAAAAAAC6Gwi0AAADggsxmszZv3uzsMAAAAOAkFG4BAACATPTpp58qNDRUycnJtrYbN26oYsWKioyMtOu7a9cumc1mnTlz5qHEFhMTI7PZrKioqIfyegAAAEg7CrcAAABAJgoLC1N8fLx+/fVXW9vevXvl6+urX375RTdv3rS179q1S0WLFlXJkiWdESoAAABcCIVbAAAAIBOVKVNGfn5+2r17t61t9+7datSokYoXL64DBw7YtYeFhdm2L126pBdeeEEhISFq0qSJtmzZYnfso0ePqnfv3goNDVWdOnX02muv6eLFi7b933//vTp16qTq1asrLCxMffv2tZvN26hRI0lS69atZTabU80ABgAAgPNQuAUAAAAyWVhYmHbt2mXb3rVrl2rWrKkaNWrY2v/55x/98ssvdoXbmTNnqlmzZlq/fr3q16+vIUOG6PLly5Kkq1ev6rnnnlNQUJBWr16tefPm6cKFC3r55Zdtz09ISFCPHj20Zs0aLVq0SG5ubnrhhRdktVolSZ999pkkadGiRdq+fbtmzJiRyZkAAABAWjm1cLtnzx7169dP4eHhd7z5wvDhw2U2m+1+evXqZdfn8uXLevXVV1W1alVVr15dI0aM0I0bN+z6HDlyRJ07d1ZwcLAiIiI0d+7cTD83AAAAIEWtWrW0b98+JScn6/r164qKirIVblNm4u7fv1+JiYl2hds2bdqoRYsW8vf31+DBgxUfH6+DBw9KkpYtW6agoCANHjxYZcuWVVBQkCZMmKBdu3bp1KlTkqSnnnpKTZo0kb+/vypUqKAJEybo6NGjOn78uCTJx8dHkpQvXz75+fkpX758DzErAAAAuBcPZ754fHy8zGaz2rVrp4EDB96xT7169TRx4kTbtpeXl93+IUOGKDY2VgsXLlRSUpJGjBihUaNG6d1335UkXb9+Xb169VLt2rU1duxYHT16VCNGjFCePHnUsWPHzDs5AAAA4P+rWbOm4uPjdejQIV29elWlSpWSj4+PatSooddff103b97U7t27VaJECRUtWtT2PLPZbHucI0cO5cqVy7YUwpEjR7Rr1y6Fhoamer0zZ86odOnSOn36tKZPn65ffvlFly5dkmEYkqQ///xTAQEBmXzWAAAAeBBOLdxGREQoIiLinn28vLzk5+d3x30nTpzQDz/8oNWrVys4OFiS9MYbb6hPnz4aOnSoChUqpPXr1yspKUkTJkyQl5eXypcvr6ioKC1cuDDdhVuLxZKu/vdiMpkcdiwgPRz5OXY0rgs4iytfF0BWx/V1i7+/vwoXLqxdu3bpypUrqlGjhiSpUKFCKlKkiPbt26ddu3apVq1ads/z9PS023Zzc7MtcxAfH68GDRpoyJAhqV4vZfzcr18/FStWTOPHj1fBggVltVrVokULJSUlZcZpAgAAwIGcWrhNi927d6t27drKkyePatWqpZdffln58+eXdOvrZHny5LEVbSWpTp06cnd318GDB/Xkk0/qwIEDql69ut1M3fDwcM2dO1dXrlxR3rx50xzLoUOHHHJO3t7eCgoKcsixgPSKjo5WQkKCs8NIhesCzuSq1wWAR0tYWJh2796tK1eu2C3/Vb16dX3//fc6ePCgOnXqlObjVaxYUZs2bVKxYsXk4ZF6WH/p0iWdOnVK48ePV/Xq1SVJe/futeuTUhimwA4AAOB6XLpwW69ePT355JMqXry4zp49q/fee0/PP/+8Vq5cKZPJpLi4ONu6XCk8PDyUN29excbGSpLi4uJUvHhxuz6+vr62fekp3AYHBzMjEFnev79yCeAWrgsg81gsFof98TurCwsL07hx45ScnKyaNWva2mvWrKlx48YpKSnJbn3b++ncubNWrVqlwYMHq3fv3sqXL59+//13bdiwQePHj1fevHmVL18+rVy5Un5+fjp37pxtObEUBQoUUPbs2fXDDz+ocOHCypYtm3Lnzu2wcwYAAEDGuXThtnnz5rbHKTcna9y4sW0W7sNmMpko3CLL4zMMpMZ1AeBhCAsL0z///KMyZcrYJhJIUo0aNXTjxg2VLl1aBQsWTPPxChUqpE8//VRTp05Vr169lJiYqKJFi6pevXpyd3eXm5ub3n//fY0fP14tWrRQ6dKl9cYbbygyMtJ2DA8PD73xxhv68MMPNX36dFWvXl1Lly516HkDAAAgY1y6cHu7EiVKKH/+/Pr9999Vu3Zt+fr62m7OkCI5OVlXrlyxrevl6+uruLg4uz4p2/8eMAMAAACZqXjx4oqOjk7VXqxYsTu236nt9qUOSpUqpZkzZ971NevUqaMNGzbc87jt27dX+/bt7xk7AAAAHj53ZweQHn/99ZcuX75sK8qGhobq6tWr+vXXX219fvrpJ1mtVlWuXFmSVKVKFe3du9fuBgw7duxQ6dKl07VMAgAAAAAAAAA8LE4t3N64cUNRUVGKioqSJMXExCgqKkrnzp3TjRs3NHnyZB04cEAxMTHauXOnBgwYIH9/f9WrV0+SVLZsWdWrV09vvvmmDh48qJ9//llvvfWWmjdvrkKFCkmSWrZsKU9PT40cOVLHjh3Thg0btGTJEvXo0cNp5w0AAAAAAAAA9+LUpRJ+/fVXdevWzbY9ceJESVKbNm00ZswYHT16VJ9//rmuXbumggULqm7dunrppZfk5eVle87UqVP11ltv6bnnnpO7u7uaNGmiN954w7Y/d+7cmj9/vsaNG6e2bdsqf/78GjBggDp27PjwThQAAAAAAAAA0sGphduwsLA7rt2VYv78+fc9Rr58+VLdHfd2gYGBWr58ebrjAwAAAAAAAABnyFJr3AIAAAAAAADA44DCLQAAAAAAAAC4GAq3AAAAAAAAAOBiKNwCAAAAAAAAgIuhcAsAAAAAAAAALobCLQAAAAAAAAC4GAq3AAAAAAAAAOBiKNwCAAAAAAAAgIvxcHYAAAAAALKmgrnzy2JYnR0GAAB4QIXy+Dg7BNwBhVsAAAAAGdIx7EmZTCZnhwEAABzAaljl7saX810J7wYAAACADLFYLM4OIUuzWCw6fPgweXxA5NExyKNjkEfHII+Okd48UrR1PbwjAAAAAOAkCQkJzg7hkUAeHYM8OgZ5dAzy6BjkMWujcAsAAAAAAAAALobCLQAAAAAAAAC4GAq3AAAAAAAAAOBiKNwCAAAAAAAAgIuhcAsAAAAAAAAALobCLQAAAAAAAAC4GAq3AAAAAOAk3t7ezg7hkUAeHYM8OgZ5dAzyCEgezg4AAAAAQNZkMpmcHUKWZjKZFBQU5Owwsjzy6Bjk0THIo2NkpTxarVa5uzMvEpmDwi0AAACADJn73UadvRjn7DAAAHCKoj4F9MKTLZwdBh5hFG4BAAAAZMifly7qdNx5Z4cBAADwSGIuNwAAAAAAAAC4GAq3AAAAAAAAAOBiKNwCAAAAAAAAgIuhcAsAAAAAAAAALobCLQAAAAAAAAC4GAq3AAAAAAAAAOBiKNwCAAAAAAAAgIuhcAsAAAAAAAAALobCLQAAAAAAAAC4GAq3AAAAAAAAAOBiKNwCAAAAAAAAgIuhcAsAAAAAAAAALobCLQAAAAAAAAC4GAq3AAAAAAAAAOBiKNwCAAAAWVxMTIzMZrOioqKcHQoAAAAchMItAAAA4ATDhw+X2WzWqFGjUu0bO3aszGazhg8fnqZjFSlSRNu3b1f58uUdHSYAAACchMItAAAA4CRFihTRhg0b9M8//9jabt68qa+++kpFixZN83FMJpP8/Pzk4eGRGWECAADACSjcAgAAAE4SFBSkIkWK6L///a+t7b///a+KFCmiChUq2Nq+//57derUSdWrV1dYWJj69u2rM2fO2PbfvlRCymze23927dolSUpMTNTkyZNVr149ValSRe3bt7ftAwAAgGugcAsAAAA4Ubt27bR27Vrb9po1a9S2bVu7PgkJCerRo4fWrFmjRYsWyc3NTS+88IKsVusdjzly5Eht377d9tOtWzcVKFBAZcqUkSSNGzdO+/fv1/vvv6/169eradOm6t27t06fPp1p5wkAAID0oXALAAAAONEzzzyjn3/+WX/88Yf++OMP7du3T88884xdn6eeekpNmjSRv7+/KlSooAkTJujo0aM6fvz4HY+ZO3du+fn5yc/PT/v379fKlSs1Y8YM+fn56dy5c1q7dq2mTZum6tWrq2TJkurVq5eqVatmV0AGAACAc7EIFgAAAOBEPj4+euKJJ7Ru3ToZhqEnnnhCPj4+dn1Onz6t6dOn65dfftGlS5dkGIYk6c8//1RAQMBdj3348GENHTpUb775pqpVqyZJOnr0qCwWi5o2bWrXNzExUfny5XPsyQEAACDDKNwCAAAATtauXTuNGzdOkjR69OhU+/v166dixYpp/PjxKliwoKxWq1q0aKGkpKS7HjM2Nlb9+/fXs88+q/bt29va4+PjZTKZtGbNGplMJrvn5MiRw0FnBAAAgAfl1KUS9uzZo379+ik8PFxms1mbN2+27UtKStKUKVPUsmVLValSReHh4Ro6dKj+/vtvu2M0bNgw1U0X5syZY9fnyJEj6ty5s4KDgxUREaG5c+c+lPMDAAAA0qJevXpKSkpScnKywsPD7fZdunRJp06dUv/+/VW7dm2VLVtWV65cuefxbt68qQEDBqhMmTJ6/fXX7fZVqFBBFotFFy9elL+/v92Pn5+fw88NAAAAGePUGbfx8fEym81q166dBg4caLfvn3/+0eHDh9W/f38FBgbq6tWrevvtt9W/f/9Ua28NGjRIHTp0sG3nzJnT9vj69evq1auXateurbFjx+ro0aMaMWKE8uTJo44dO2buCQIAAABpYDKZ9M0339ge/1vevHmVL18+rVy50rZG7bvvvnvP440aNUp//vmnFi9erIsXL9odq3Tp0mrZsqWGDh2q4cOHq0KFCrp06ZJ27twps9msJ554wuHnBwAAgPRzauE2IiJCERERd9yXO3duLVy40K7tzTffVPv27XXu3DkVLVrU1p4zZ867zg5Yv369kpKSNGHCBHl5eal8+fKKiorSwoULKdwCAADAZeTKleuO7e7u7nr//fc1fvx4tWjRQqVLl9Ybb7yhyMjIux5rz549io2N1dNPP23XvmTJEoWFhWnixImaNWuWJk2apPPnzytfvnyqUqUKRVsAAAAXkqXWuL1+/brc3NyUJ08eu/a5c+dq1qxZKlKkiFq0aKHu3bvLw+PWqR04cEDVq1eXl5eXrX94eLjmzp2rK1euKG/evGl+fYvF4pgTUeqZFMDD4sjPsaNxXcBZXPm6ALI6rq+7mzRp0j33f/TRR7bHderU0YYNG+z2R0dH2x4XL17cbvu7776757E9PT01aNAgDRo0KD0hAwAA4CHKMoXbmzdvaurUqWrevLndbITIyEgFBQUpb9682r9/v9577z3Fxsba1vKKi4tT8eLF7Y7l6+tr25eewu2hQ4cccCaSt7e3goKCHHIsIL2io6OVkJDg7DBS4bqAM7nqdQEAAAAAeHxlicJtUlKSXnrpJRmGobFjx9rt69Gjh+1xYGCgPD09NXr0aL366qt2s2wdITg4mBmByPLMZrOzQwBcDtcFkHksFovD/vgNAAAAPE5cvnCblJSkl19+WefOndPixYvvuvZXipCQECUnJysmJkZlypSRr6+v4uLi7PqkbKfMvE0rk8lE4RZZHp9hIDWuCwAAAACAq3F3dgD3klK0/f3337Vo0SLlz5//vs+JioqSu7u7ChQoIEmqUqWK9u7dq6SkJFufHTt2qHTp0ulaJgEAAAAAAAAAHhanFm5v3LihqKgoRUVFSZJiYmIUFRWlc+fOKSkpSYMGDdKvv/6qqVOnymKxKDY2VrGxsUpMTJQk7d+/X4sWLdKRI0d09uxZrV+/XhMnTtQzzzxjK8q2bNlSnp6eGjlypI4dO6YNGzZoyZIldkssAAAAAAAAAIArcepSCb/++qu6detm2544caIkqU2bNho4cKDtbritWrWye96SJUsUFhYmLy8vbdiwQTNnzlRiYqKKFy+u7t272xVlc+fOrfnz52vcuHFq27at8ufPrwEDBqhjx44P4QwBAAAAAAAAIP2cWrgNCwtTdHT0Xfffa58kVaxYUatWrbrv6wQGBmr58uXpjg8AAAAAAAAAnMGl17gFAAAAAAAAgMcRhVsAAAAAAAAAcDEUbgEAAAAAAADAxVC4BQAAAAAAAAAXQ+EWAAAAAAAAAFyMh7MDAAAAAJA1Fcnvo2TD6uwwAABwiqI+BZwdAh5xFG4BAAAAZMjzDZvKZDI5OwwAAJzGarXK3Z0vtCNz8MkCAAAAkCEWi8XZIWRpFotFhw8fJo8PiDw6Bnl0DPLoGFkpjxRtkZn4dAEAAACAkyQkJDg7hEcCeXQM8ugY5NExyCNA4RYAAAAAAAAAXA6FWwAAAAAAAABwMRRuAQAAAAAAAMDFULgFAAAAAAAAABdD4RYAAAAAAAAAXAyFWwAAAAAAAABwMRRuAQAAAMBJvL29nR3CI4E8OgZ5dAzy6BjkEZA8nB0AAAAAgKzJZDI5O4QszWQyKSgoyNlhZHnk0THIo2OQR8e4Xx4tVqtM7sxFxKOPwi0AAACADHn/q690Oi7O2WEAAB4jJQoU0LDWrZ0dBvBQULgFAAAAkCF/XLyo43/95ewwAAAAHknMKwcAAAAAAAAAF0PhFgAAAAAAAABcDIVbAAAAAAAAAHAxFG4BAAAAAAAAwMVQuAUAAAAAAAAAF0PhFgAAAAAAAABcDIVbAAAAAAAAAHAxFG4BAAAAAAAAwMVQuAUAAAAAAAAAF0PhFgAAAAAAAABcDIVbAAAAAAAAAHAxFG4BAAAAAAAAwMVQuAUAAAAAAAAAF0PhFgAAAAAAAABcDIVbAAAAIJPFxsbqrbfeUqNGjVSpUiVFRESoX79+2rlzZ5qeP2PGDLVq1SpVu9ls1ubNmx0dLgAAAFyAh7MDAAAAAB5lMTEx6tSpk/LkyaOhQ4cqICBAycnJ2r59u8aOHauNGzc6O0QAAAC4IGbcAgAAAJlo7NixcnNz02effaannnpKpUuXVvny5dWjRw+tWrVKknTu3Dn1799foaGhqlq1ql566SXFxcVJktauXauZM2fqyJEjMpvNMpvNWrt2rRo2bChJeuGFF2Q2m23bkrR8+XI1btxYlSpV0lNPPaXPP//cLiaz2azPPvtML7zwgkJCQtSkSRNt2bLl4SQEAAAAaULhFgAAAMgkly9f1g8//KAuXbooR44cqfbnyZNHVqtVAwYM0JUrV7R06VItXLhQZ8+e1SuvvCJJevrpp9WzZ0+VL19e27dv1/bt2/X0009r9erVkqSJEydq+/bttu1vv/1WEyZMUI8ePfTll1/qP//5j0aMGKGffvrJ7rVnzpypZs2aaf369apfv76GDBmiy5cvZ25CAAAAkGYslQAAAABkkjNnzsgwDJUpU+aufXbu3KmjR49qy5YtKlKkiCTpnXfeUfPmzXXw4EFVrlxZOXLkkMlkkp+fn+152bNnl3Sr+Pvv9vnz56tNmzbq0qWLJKl06dI6cOCAFixYoFq1atn6tWnTRi1atJAkDR48WEuXLtXBgwdVv359xyUAAAAAGcaMWwAAACCTGIZx3z4nTpxQ4cKFbUVbSSpXrpzy5MmjkydPpvs1T548qapVq9q1Va1aVSdOnLBrM5vNtsc5cuRQrly5dPHixXS/HgAAADIHhVsAAAAgk/j7+8vNzS1DBdjM5unpabft5uYmq9XqpGgAAABwOwq3AAAAQCbJly+fwsPD9cknnyg+Pj7V/qtXr6ps2bL666+/9Oeff9rajx8/btsn3Sqy3qmo6unpKYvFYtdWpkwZ7du3z65t3759KleunCNOCQAAAA8JhVsAAAAgE40ePVpWq1Xt27fXpk2bdPr0aZ04cUJLlixRx44dVadOHQUEBGjIkCH67bffdPDgQQ0dOlQ1a9ZUcHCwJKlYsWKKiYlRVFSULl68qMTERFv7zp07FRsbqytXrkiSevfurXXr1mn58uU6ffq0Fi5cqG+//VY9e/Z0Wg4AAACQfhRuAQAAgExUokQJrV27VmFhYZo8ebJatGihHj16aOfOnRozZozc3Nz00UcfKU+ePOratau6d++uEiVK6P3337cd46mnnlK9evXUrVs31a5dW1999ZUkadiwYdqxY4eeeOIJtWnTRpLUuHFjjRgxQgsWLFCLFi20YsUKTZgwQWFhYU45fwAAAGSMh7MDAAAAAB51BQsW1KhRozRq1Kg77i9atKhmzZp11+d7eXlp+vTpqdobNmyohg0bpmrv3LmzOnfufNfjRUdHp2rbu3fvXfsDAADg4XPqjNs9e/aoX79+Cg8Pl9ls1ubNm+32G4ahadOmKTw8XJUrV1b37t11+vRpuz6XL1/Wq6++qqpVq6p69eoaMWKEbty4YdfnyJEj6ty5s4KDgxUREaG5c+dm9qkBAAAAAAAAQIY5tXAbHx8vs9ms0aNH33H/3LlztXTpUo0ZM0arVq2St7e3evXqpZs3b9r6DBkyRMePH9fChQs1e/Zs7d27124mw/Xr19WrVy8VLVpUa9eu1dChQzVz5kytXLky088PAAAAAAAAADIiQ4Xbbt266erVq6nar1+/rm7duqX5OBEREXrllVf05JNPptpnGIaWLFmi/v37q3HjxgoMDNQ777yj8+fP22bmnjhxQj/88IPGjx+vkJAQVa9eXW+88Ya+/vpr/f3335Kk9evXKykpSRMmTFD58uXVvHlzRUZGauHChRk5dQAAAAAAAADIdBla43b37t1KSkpK1X7z5k39/PPPDxyUJMXExCg2NlZ16tSxteXOnVshISHav3+/mjdvrv379ytPnjy2u+1KUp06deTu7q6DBw/qySef1IEDB1S9enV5eXnZ+oSHh2vu3Lm6cuWK8ubNm+aYLBaLQ85Nkkwmk8OOBaSHIz/HjsZ1AWdx5esCyOq4vgAAAICMSVfh9siRI7bHx48fV2xsrG3barXqhx9+UKFChRwSWMqxCxQoYNdeoEABxcXFSZLi4uLk4+Njt9/Dw0N58+a1PT8uLk7Fixe36+Pr62vbl57C7aFDh9J3Enfh7e2toKAghxwLSK/o6GglJCQ4O4xUuC7gTK56XQAAAAAAHl/pKty2bt1abm5ucnNz03PPPZdqf/bs2fXGG284LDhXExwczIxAZHlms9nZIQAuh+sCyDwWi8Vhf/wGAAAAHifpKtxu2bJFhmGocePG+uyzz+xmu3p6eqpAgQIOK2z6+flJki5cuKCCBQva2i9cuKDAwEBJt2bOXrx40e55ycnJunLliu35vr6+thm6KVK2U2beppXJZKJwiyyPzzCQGtcFkHWcPHlSy5Yt04kTJyRJZcuWVdeuXVWmTBknRwYAAAA4VrpuTlasWDEVL15cR44cUXBwsIoVK2b7KViwoEN/8S1evLj8/Py0c+dOW9v169f1yy+/KDQ0VJIUGhqqq1ev6tdff7X1+emnn2S1WlW5cmVJUpUqVbR37167NXl37Nih0qVLp2uZBAAAADjXpk2b1LJlS/32228KDAxUYGCgDh8+rJYtW2rTpk3ODg8AAABwqAzdnEySTp8+rV27dunChQuyWq12+wYOHJimY9y4cUNnzpyxbcfExCgqKkp58+ZV0aJF1a1bN82aNUv+/v4qXry4pk2bpoIFC6px48aSbs2wqFevnt58802NHTtWSUlJeuutt9S8eXPbWrstW7bUhx9+qJEjR+r555/XsWPHtGTJEr3++usZPXUAAAA4wZQpU9SnTx+99NJLdu3Tp0/XlClT9NRTTzkpMgAAAMDxMlS4XbVqlcaMGaP8+fPL19dXbm5utn1ubm5pLtz++uuv6tatm2174sSJkqQ2bdpo0qRJev7555WQkKBRo0bp6tWrqlatmubNm6ds2bLZnjN16lS99dZbeu655+Tu7q4mTZrYrbObO3duzZ8/X+PGjVPbtm2VP39+DRgwQB07dszIqQMAAMBJYmNj1bp161TtzzzzjObPn//wAwIAAAAyUYYKt7NmzdLLL7+sPn36PNCLh4WFKTo6+q773dzc9NJLL6WaVfFv+fLl07vvvnvP1wkMDNTy5cszHCcAAACcr2bNmtq7d6/8/f3t2n/++WdVr17dSVEBAAAAmSNDhdsrV66oWbNmjo4FAAAAuKuGDRtq6tSp+u233xQSEiJJ+uWXX7Rx40a9+OKL2rJli61vo0aNnBUmAAAA4BAZKtw2bdpU27dvV6dOnRwdDwAAAHBHY8eOlSQtX7481bepUvZJt761FRUV9VBje1wV8/FR0m33uwAAIDOVKFDA2SEAD02GCrf+/v6aNm2afvnlFwUEBMjDw/4w/163FgAAAHCEI0eOODsE3OaVFi1kMpmcHQYA4DFjsVplcnd3dhhApstQ4XblypXKkSOHdu/erd27d9vtc3Nzo3ALAAAAPAYsFguF2wdgsVgUHR0ts9lMHh8AeXQM8ugY5NEx7pdHirZ4XGSocPvdd985Og4AAADgvnbv3q0FCxboxIkTkqSyZcuqd+/e3JwMWVZCQoKzQ3gkkEfHII+OQR4dgzwCEn+iAAAAQJbwxRdfqEePHsqePbsiIyMVGRmp7Nmzq3v37vryyy+dHR4AAADgUBmacfv666/fc//EiRMzFAwAAABwN7Nnz9Zrr72m7t2729q6deumhQsX6qOPPlLLli2dFxwAAADgYBmacXv16lW7n4sXL2rXrl369ttvde3aNUfHCAAAAOjs2bNq0KBBqvaGDRsqJibGCREBAAAAmSdDM24//PDDVG1Wq1VjxoxRiRIlHjgoAAAA4HZFihTRzp075e/vb9e+Y8cOFSlSxElRAQAAAJkjQ4XbO3F3d1f37t3VrVs3Pf/88446LAAAACBJ6tGjh8aPH6+oqCiFhoZKkvbt26d169Zp5MiRTo4OAAAAcCyHFW6lW19fS05OduQhAQAAAElS586d5efnpwULFmjjxo2SpDJlyuj9999X48aNnRwdAAAA4FgZKtzefvMxwzAUGxurrVu3qk2bNg4JDAAAAEiRnJys2bNn69lnn9Wnn37q7HAAh/H29nZ2CI8E8ugY5NExyCMAR8lQ4fbw4cN22+7u7vLx8dHw4cPVrl07hwQGAAAApPDw8ND8+fPVunVrZ4eCfzGZTM4OIUszmUwKCgpydhhZHnl0DPLoGOTxwVisVpnc3Z0dBuAyMlS4Xbp0qaPjAAAAAO6pVq1a2rNnj4oXL+7sUPD/vf3Zeh3/67yzwwAAPAJKFfTTuM5tnR0G4FIeaI3bixcv6uTJk5JurS/m4+PjkKAAAACA29WvX1/vvvuujh49qooVK6b6KmqjRo2cFNnj60xsnKL/+MvZYQAAADySMlS4jY+P11tvvaUvvvhCVqtV0q2vA7Rq1Upvvvkm67kAAADA4caOHStJWrhwYap9bm5uioqKetghAQAAAJkmQ4XbSZMmac+ePZo1a5aqVasmSfr55581fvx4TZo0yTaoBgAAABzlyJEjzg4BAAAAeGgytOLzpk2b9PbbbysiIkK5cuVSrly5FBERobfeekubNm1ydIwAAAB4jO3cuVNPP/20rl+/nmrftWvX1Lx5c+3du9cJkQEAAACZJ0OF23/++Ue+vr6p2gsUKKB//vnngYMCAAAAUixevFgdOnRQrly5Uu3LnTu3OnbseMflEwAAAICsLEOF2ypVqmj69Om6efOmre2ff/7RzJkzVaVKFUfFBgAAACg6Olr16tW76/66devqt99+e4gRAQAAAJkvQ2vcjhgxQr1791b9+vUVGBgo6daaY15eXlqwYIFDAwQAAMDjLS4uTh4edx+2enh46OLFiw8xIgAAACDzZahwazab9d///ldffvmlTp48KUlq0aKFWrZsqezZszs0QAAAADzeChUqpGPHjsnf3/+O+6Ojo+Xn5/eQowIAAAAyV4YKtx9//LEKFCigDh062LWvXr1aFy9eVJ8+fRwSHAAAABAREaFp06apXr16ypYtm92+f/75RzNmzFCDBg2cFB0AAACQOTK0xu3KlStVpkyZVO3ly5fXihUrHjgoAAAAIEX//v11+fJlPfXUU5o7d642b96szZs3a86cOWratKkuX76sfv36OTtMAAAAwKEyNOM2Njb2jl9H8/HxUWxs7AMHBQAAAKTw9fXVihUrNGbMGL333nsyDEOS5ObmpvDwcI0aNUq+vr5OjhIAAABwrAwVbosUKaJ9+/apRIkSdu0///yzChYs6JDAAAAAgBTFihXT3LlzdeXKFf3++++SJH9/f+XNm9fJkQEAAACZI0OF2/bt22vChAlKTk5WrVq1JEk7d+7UlClT1LNnT4cGCAAAAKTImzevKleu7OwwAAAAgEyXocJt7969dfnyZY0dO1ZJSUmSpGzZsql3797q27evQwMEAAAAAAAAgMdNhgq3bm5ueu211zRgwACdOHFC2bNnV6lSpeTl5eXo+AAAAAD8fw0bNlS3bt3UvXt3Z4cCAACATJahwm2KnDlz8lU1AAAAII2GDx+udevWSZI8PT1VpEgRtWrVSv369ZOHxwMNzQEAAPCIYXQIAAAAPET16tXTxIkTlZiYqG3btmncuHHy9PRkyTEAAADYcXd2AAAAAMDjxMvLS35+fipWrJg6d+6sOnXq6LvvvlNkZKTefvttu74DBgzQ8OHD73gcwzA0Y8YMPfHEE6pUqZLCw8M1fvx42/7ExERNnjxZ9erVU5UqVdS+fXvt2rXLtv+PP/5Qv379VKNGDVWpUkXNmzfXtm3bMuekAQAAkG7MuAUAAACcKFu2bLp8+XK67xexadMmLVq0SO+9957Kly+vuLg4HTlyxLZ/3LhxOn78uN5//30VLFhQ3377rXr37q0vv/xSpUqV0rhx45SUlKRly5YpR44cOn78uHLkyOHo0wMAAEAGUbgFAAAAnMAwDO3cuVPbt29X165d9euvv6br+X/++ad8fX1Vp04deXp6qmjRorb7T5w7d05r167V//3f/6lQoUKSpF69eumHH37Q2rVrNXjwYJ07d05PPfWUzGazJKlEiRKOPUEAAAA8EAq3AAAAwEO0detWhYaGKikpSYZhqEWLFnrxxRfTvcZt06ZNtXjxYjVu3Fj16tVTRESEGjRoIA8PDx09elQWi0VNmza1e05iYqLy5csnSerWrZvGjBmj7du3q06dOmrSpIkCAwMddZoAAAB4QBRuAQAAgIcoLCxMY8aMkaenpwoWLCgPj1tDcjc3NxmGYdc3OTn5rscpUqSINm7cqB07dmjHjh0aO3as5s+fr6VLlyo+Pl4mk0lr1qyRyWSye17Kcgjt27dXeHi4tm7dqh9//FFz5szRsGHDFBkZ6eAzBgAAQEZQuAUAAAAeIm9vb/n7+6dq9/HxUWxsrG3bYrHo2LFjCgsLu+uxsmfProYNG6phw4bq3LmzmjVrpqNHj6pChQqyWCy6ePGiqlevftfnFylSRJ06dVKnTp307rvvatWqVRRuAQAAXASFWwAAAMAF1KpVS5MmTdLWrVtVokQJLVq0SFevXr1r/7Vr18pisSgkJETe3t5av369smfPrqJFiyp//vxq2bKlhg4dquHDh6tChQq6dOmSdu7cKbPZrCeeeEJvv/226tevr1KlSunq1avatWuXypYt+xDPGAAAAPdC4RYAAABwAe3atdORI0c0bNgwmUwmde/e/Z6zbfPkyaM5c+Zo0qRJslqtCggI0OzZs5U/f35J0sSJEzVr1ixNmjRJ58+fV758+VSlShU98cQTkiSr1apx48bpr7/+Uq5cuVSvXj29/vrrD+NUAQAAkAYUbgEAAICHZNKkSXfd5+npqTFjxmjMmDF37fPdd9/ZHjdu3FiNGze+5/EGDRqkQYMG3XH/m2++ef+AAQAA4DTuzg4AAAAAAAAAAGCPwi0AAAAAAAAAuBgKtwAAAAAAAADgYijcAgAAAAAAAICLcfmbkzVs2FB//PFHqvbOnTtr9OjRioyM1O7du+32dezYUePGjbNtnzt3TmPGjNGuXbuUI0cOtW7dWq+++qo8PFz+9AEAAAAAAAA8hly+crl69WpZLBbb9rFjx9SjRw81bdrU1tahQwe7u+V6e3vbHlssFvXt21e+vr5asWKFzp8/r2HDhsnT01ODBw9+OCcBAAAAAAAAAOng8oVbHx8fu+05c+aoZMmSqlmzpq0te/bs8vPzu+Pzt2/fruPHj2vhwoXy9fVVhQoV9NJLL2nq1KkaOHCgvLy8MjV+AAAAAAAAAEgvly/c/ltiYqLWr1+vHj16yM3Nzdb+5Zdfav369fLz81ODBg00YMAA26zbAwcOKCAgQL6+vrb+4eHhGjNmjI4fP66goKA0v/6/Z/4+KJPJ5LBjAenhyM+xo3FdwFlc+boAsjquLwAAACBjslThdvPmzbp27ZratGlja2vRooWKFi2qggULKjo6WlOnTtWpU6c0c+ZMSVJcXJxd0VaSbTs2NjZdr3/o0KEHPINbvL2901UwBhwpOjpaCQkJzg4jFa4LOJOrXhcAAAAAgMdXlircrlmzRvXr11ehQoVsbR07drQ9NpvN8vPzU/fu3XXmzBmVLFnSoa8fHBzMjEBkeWaz2dkhAC6H6wLIPBaLxWF//AYAAAAeJ1mmcPvHH39ox44dmjFjxj37hYSESJJ+//13lSxZUr6+vjp48KBdn7i4OEm667q4d2MymSjcIsvjMwykxnUBAAAAAHA17s4OIK3Wrl2rAgUK6Iknnrhnv6ioKEn/K8pWqVJFR48e1YULF2x9duzYoVy5cqlcuXKZFi8AAAAAAAAAZFSWmHFrtVq1du1atW7dWh4e/wv5zJkz+vLLLxUREaF8+fIpOjpaEydOVI0aNRQYGCjp1o3IypUrp6FDh+q1115TbGysPvjgA3Xp0kVeXl7OOiUAAAAAAAAAuKssUbjdsWOHzp07p3bt2tm1e3p6aufOnVqyZIni4+NVpEgRNWnSRAMGDLD1MZlMmj17tsaMGaOOHTvK29tbbdq00aBBgx72aQAAAACPlJJ+vkq0WJ0dBgDgEVCqYPqWswQeB1micBseHq7o6OhU7UWKFNGyZcvu+/xixYpp7ty5mREaAAAA8Nga2f4Z1gkHADiMxWqVyT3LrOoJZDquBgAAAAAZYrFYnB1ClmaxWHT48GHy+IDIo2OQR8cgjw+Goi1gjysCAAAAAJwkISHB2SE8EsijY5BHxyCPAByFwi0AAAAAAAAAuBgKtwAAAAAAAADgYijcAgAAAAAAAICLoXALAAAAAAAAAC6Gwi0AAAAAAAAAuBgKtwAAAAAAAADgYijcAgAAAICTeHt7OzuERwJ5dAzy6BjkEYCjeDg7AAAAAABZk8lkcnYIWZrJZFJQUJCzw8jyyKNjkEfHyIw8WqxWmdyZdwc8jijcAgAAAMiQUUvW6egf550dBgA8ssoU8dPkXu2dHQYAJ6FwCwAAACBDTv99QVFn/3R2GAAAAI8k5toDAAAAAAAAgIuhcAsAAAAAAAAALobCLQAAAAAAAAC4GAq3AAAAAAAAAOBiKNwCAAAAAAAAgIuhcAsAAAAAAAAALobCLQAAAAAAAAC4GAq3AAAAAAAAAOBiKNwCAAAAAAAAgIuhcAsAAAAAAAAALobCLQAAAAAAAAC4GAq3AAAAAAAAAOBiKNwCAAAAAAAAgIuhcAsAAABkATNmzFCrVq2cHQYAAAAeEgq3AAAAeOzExsZq/PjxevLJJxUcHKw6deroP//5j5YvX66EhARnh/fQxMTEyGw2KyoqytmhAAAA4DYezg4AAADcndWwyt2Nv7Pi4XrUP3dnz55Vp06dlDt3br3yyisym83y8vJSdHS0Vq1apUKFCqlRo0apnpeUlCRPT08nRAwAAIDHEYVbAABcmLubuxb/ukR/xf/t7FDwmCico5Ceq9TN2WFkqjFjxshkMmnNmjXKkSOHrb1EiRJq3LixDMOQJJnNZo0ePVrff/+9fvrpJ/Xq1Usvvviili9frgULFuivv/5SsWLF1L9/f7Vu3VrSrRmsjRo10ueff64KFSpIkq5evaoaNWpoyZIlCgsL065du9StWzctWrRIU6ZM0YkTJ1ShQgVNmDBBZcqUscUzZ84cLVq0SAkJCWrWrJl8fHzszmP48OG6evWqqlWrpoULFyopKUlPP/20RowYYSswm81mffjhh2rcuLHtedWrV9eIESPUtm1bW4E6Jf6aNWtq6dKljk04AAAAMoTCLQAALu6v+L8Vcy3G2WEAj4RLly7pxx9/1ODBg+2Ktv/m5uZmezxz5ky9+uqrGjlypEwmk7799ltNmDBBr7/+uurUqaOtW7dqxIgRKly4sGrVqpWuWN5//30NHz5cPj4+Gj16tEaMGKEVK1ZIkjZs2KAZM2Zo1KhRqlatmr744gstXbpUJUqUsDvGrl275Ofnp8WLF+vMmTN65ZVXVKFCBXXo0CFNMXz22Wdq3769Fi1apHLlyjGjGAAAwIVQuAUAAMBj48yZMzIMQ6VLl7ZrDwsLU2JioiSpc+fOeu211yRJLVq0ULt27Wz9Bg8erDZt2qhLly6SpNKlS+vAgQNasGBBugu3r7zyimrWrClJ6tOnj/r06aObN28qW7ZsWrJkiZ599lm1b9/e1nfnzp26efOm3THy5s2rUaNGyWQyqWzZsoqIiNDOnTvTXLhNmcWbL18++fn5pSt+AAAAZK5Hd/EyAAAAII1Wr16tzz//XOXKlbMVcCWpUqVKdv1OnjypqlWr2rVVrVpVJ06cSPdrms1m2+OUoumFCxckSSdOnFBISIhd/ypVqqQ6Rrly5WQymeyOk3IMAAAAZG3MuAUAAMBjo2TJknJzc9OpU6fs2lOWIMiePbtd+92WU7gbd/db8yJS1smVpOTk5Dv29fD431A8ZXkGq9Wartf79zFSjvPv1759+17xAAAAwLUw4xYAAACPjfz586tu3bpatmyZ4uPj0/38MmXKaN++fXZt+/btU7ly5ST9b+mB2NhY2/6oqKh0v07ZsmX1yy+/2LXdvp0WPj4+On/+vG379OnTSkhIsG2nrGlrsVjSfWwAAABkLgq3AAAAeKyMHj1aFotF7dq104YNG3TixAmdPHlSX3zxhU6ePGm39MDtevfurXXr1mn58uU6ffq0Fi5cqG+//VY9e/aUdGvGbpUqVTRnzhydOHFCu3fv1gcffJDuGLt166Y1a9ZozZo1OnXqlKZPn65jx46l+zi1atXSJ598osOHD+vQoUMaPXq03Q3IChQooOzZs+uHH35QXFycrl27lu7XAAAAQOagcAsAAIDHSsmSJbVu3TrVqVNH7777rlq1aqV27dpp2bJl6tmzp1566aW7Prdx48YaMWKEFixYoBYtWmjFihWaMGGCwsLCbH0mTJggi8Witm3basKECXr55ZfTHePTTz+tAQMGaMqUKWrbtq3OnTunTp06pfs4w4YNU5EiRdSlSxcNGTJEPXv2tFsOwsPDQ2+88YZWrlypevXqacCAAel+DQAAAGQON+P2Ra+QisVi0YEDB1SlSpV7zsBIrwHD5+j4qb8cdjzgXsqVLqyPJvVxdhj39Z95H+vIX386Oww8JgILF9GK3n2dHcZ9Td49RTHXYpwdBh4TxXMX17CarznseJk1joJzpbyv7327V7+c4t8nAMgsFUoU0WdvPH5/VGP84Bjk0TEcncf0HI8ZtwAAAAAAAADgYijcAgAAAAAAAICLoXALAAAAAAAAAC6Gwi0AAAAAAAAAuBgKtwAAAAAAAADgYijcAgAAAAAAAICLoXALAAAAAAAAAC7GpQu3M2bMkNlstvtp2rSpbf/Nmzc1duxYhYWFKTQ0VC+++KLi4uLsjnHu3Dn16dNHISEhql27tiZPnqzk5OSHfSoAAAAAAAAAkGYezg7gfsqXL6+FCxfatk0mk+3xhAkTtG3bNn3wwQfKnTu33nrrLQ0cOFArVqyQJFksFvXt21e+vr5asWKFzp8/r2HDhsnT01ODBw9+6OcCAAAAAAAAAGnh0jNupVuFWj8/P9uPj4+PJOnatWtas2aNhg8frtq1a6tSpUqaMGGC9u/frwMHDkiStm/fruPHj2vKlCmqUKGCIiIi9NJLL+mTTz5RYmKiE88KAAAAAAAAAO7O5Wfc/v777woPD1e2bNlUpUoVvfrqqypatKh+/fVXJSUlqU6dOra+ZcuWVdGiRXXgwAFVqVJFBw4cUEBAgHx9fW19wsPDNWbMGB0/flxBQUHpisVisTjsvP49cxh4mBz5OXY0rgs4C9cFkJqjrgtXvr4AAAAAV+bShdvKlStr4sSJKl26tGJjY/Xhhx+qS5cu+vLLLxUXFydPT0/lyZPH7jkFChRQbGysJCkuLs6uaCvJtp3SJz0OHTqUwTOx5+3tne6iMeAo0dHRSkhIcHYYqXBdwJm4LoDUXPW6AAAAAB4XLl24jYiIsD0ODAxUSEiIGjRooG+++UbZs2d/6PEEBwcz8wlZntlsdnYIgMvhugBSc9R1YbFYHPbHb7ieUoUKKDGZWdUAkFnKFPFzdggAnMilC7e3y5Mnj0qVKqUzZ86oTp06SkpK0tWrV+1m3V64cEF+frf+YfP19dXBgwftjhEXFydJtj7pYTKZKNwiy+MzDKTGdQGkxnWBtBjXrQ2fFQDIZBarVSZ3l79FEYBMkKWu/Bs3bujs2bPy8/NTpUqV5OnpqZ07d9r2nzx5UufOnVOVKlUkSVWqVNHRo0d14cIFW58dO3YoV65cKleu3MMOHwAAAHiksIbxg7FYLDp8+DB5fEDk0THIo2NkRh4p2gKPL5eecTt58mQ1aNBARYsW1fnz5zVjxgy5u7urRYsWyp07t9q1a6dJkyYpb968ypUrl8aPH6/Q0FBb4TY8PFzlypXT0KFD9dprryk2NlYffPCBunTpIi8vL+eeHAAAAIDHHmtJOwZ5dAzy6BjkEYCjuHTh9q+//tLgwYN1+fJl+fj4qFq1alq1apV8fHwkSSNGjJC7u7sGDRqkxMREhYeHa/To0bbnm0wmzZ49W2PGjFHHjh3l7e2tNm3aaNCgQc46JQAAAAAAAAC4L5cu3L7//vv33J8tWzaNHj3arlh7u2LFimnu3LmODg0AAAAAAAAAMg0LpQAAAAAAAACAi6FwCwAAAAAAAAAuhsItAAAAAAAAALgYCrcAAAAAAAAA4GIo3AIAAACAk3h7ezs7hEcCeXQM8ugY5BGAo3g4OwAAAAAAWZPJZHJ2CFmayWRSUFCQs8PI8sijY5BHx0hPHi1Wq0zuzKcDcHcUbgEAAABkyOiP1+jomb+dHQYAZDllihXUpBc7OjsMAC6Owi0AAACADDl9Lk5Rp885OwwAAIBHEnPyAQAAAAAAAMDFULgFAAAAAAAAABdD4RYAAAAAAAAAXAyFWwAAAAAAAABwMRRuAQAAAAAAAMDFULgFAAAAAAAAABdD4RYAAAAAAAAAXAyFWwAAAAAAAABwMRRuAQAAAAAAAMDFULgFAAAAAAAAABdD4RYAAAAAAAAAXAyFWwAAAAAAAABwMRRuAQAAAAAAAMDFULgFAAAAshiz2azNmzffdf+uXbtkNpt19epVSdLatWtVvXp12/4ZM2aoVatWtu3hw4drwIABmRcwAAAA0s3D2QEAAAAAsBcbG6vZs2dr69at+vvvv1WgQAFVqFBBzz33nGrXrn3f54eGhmr79u3KnTt3ml5v5MiRMgzjQcMGAACAA1G4BQAAAFxITEyMOnXqpDx58mjo0KEKCAhQcnKytm/frrFjx2rjxo33PYaXl5f8/PzS/JppLfACAADg4WGpBAAAAMCFjB07Vm5ubvrss8/01FNPqXTp0ipfvrx69OihVatW2fpdunRJL7zwgkJCQtSkSRNt2bLFtu/2pRLuh6USAAAAXA+FWwAAAMBFXL58WT/88IO6dOmiHDlypNqfJ08e2+OZM2eqWbNmWr9+verXr68hQ4bo8uXLDzFaAAAAZCYKtwAAAICLOHPmjAzDUJkyZe7bt02bNmrRooX8/f01ePBgxcfH6+DBgw8hSgAAADwMFG4BAAAAF5GeG4SZzWbb4xw5cihXrly6ePFiZoQFAAAAJ6BwCwAAALgIf39/ubm56eTJk/ft6+npabft5uYmq9WaWaEBAADgIaNwCwAAALiIfPnyKTw8XJ988oni4+NT7U/rzcYAAACQ9VG4BQAAAFzI6NGjZbVa1b59e23atEmnT5/WiRMntGTJEnXs2NHZ4QEAAOAh8XB2AAAAAAD+p0SJElq7dq1mz56tyZMn6/z58/Lx8VHFihU1ZswYZ4cHAACAh4TCLQAAAOBiChYsqFGjRmnUqFF33B8dHZ2qbe/evbbHYWFhdn3atm2rtm3b2rZffPFFvfjii7btSZMmOSJsAAAAOBBLJQAAAAAAAACAi6FwCwAAAAAAAAAuhsItAAAAAAAAALgYCrcAAAAAAAAA4GIo3AIAAAAAAACAi6FwCwAAAAAAAAAuhsItAAAAAAAAALgYCrcAAAAAAAAA4GIo3AIAAAAAAACAi6FwCwAAAAAAAAAuhsItAAAAAAAAALgYCrcAAAAAAAAA4GJcunD78ccfq127dgoNDVXt2rU1YMAAnTx50q5PZGSkzGaz3c+oUaPs+pw7d059+vRRSEiIateurcmTJys5OflhngoAAAAAAAAApJmHswO4l927d6tLly4KDg6WxWLRe++9p169eunrr79Wjhw5bP06dOigQYMG2ba9vb1tjy0Wi/r27StfX1+tWLFC58+f17Bhw+Tp6anBgwc/1PMBAAAAHiWlivoqMdni7DAAIMspU6ygs0MAkAW4dOF2/vz5dtuTJk1S7dq19dtvv6lGjRq29uzZs8vPz++Ox9i+fbuOHz+uhQsXytfXVxUqVNBLL72kqVOnauDAgfLy8kpzPBaL4walJpPJYccC0sORn2NH47qAs3BdAKk56rpw5esLD25s33b8OwUAGWSxWmVyd+kvQgNwMpcu3N7u2rVrkqS8efPatX/55Zdav369/Pz81KBBAw0YMMA26/bAgQMKCAiQr6+vrX94eLjGjBmj48ePKygoKM2vf+jQIQecxa0Zwel5XcCRoqOjlZCQ4OwwUuG6gDNxXQCpuep1AddisVgo3D4Ai8Wi6Ohomc1m8vgAyKNjkEfHSE8eKdoCuJ8sU7i1Wq2aMGGCqlatqoCAAFt7ixYtVLRoURUsWFDR0dGaOnWqTp06pZkzZ0qS4uLi7Iq2kmzbsbGx6YohODiY/8CQ5ZnNZmeHALgcrgsgNUddFxaLxWF//AYeRfyBxDHIo2OQR8cgjwAcJcsUbseOHatjx45p+fLldu0dO3a0PTabzfLz81P37t115swZlSxZ0qExmEwmCrfI8vgMA6lxXQCpcV0AAAAAzpUl5uWPGzdOW7du1eLFi1W4cOF79g0JCZEk/f7775Juza6Ni4uz65Oyfbd1cQEAAAAAAADAmVy6cGsYhsaNG6dvv/1WixcvVokSJe77nKioKEn/K8pWqVJFR48e1YULF2x9duzYoVy5cqlcuXKZEzgAAAAAAAAAPACXXiph7Nix+uqrr/TRRx8pZ86ctjVpc+fOrezZs+vMmTP68ssvFRERoXz58ik6OloTJ05UjRo1FBgYKOnWjcjKlSunoUOH6rXXXlNsbKw++OADdenSRV5eXs48PQAAAAAAAAC4I5cu3H766aeSpMjISLv2iRMnqm3btvL09NTOnTu1ZMkSxcfHq0iRImrSpIkGDBhg62symTR79myNGTNGHTt2lLe3t9q0aaNBgwY91HMBAAAAAAAAgLRy6cJtdHT0PfcXKVJEy5Ytu+9xihUrprlz5zoqLAAAAAAAAADIVC69xi0AAAAAPMq8vb2dHcIjgTw6BnkEANfi0jNuAQAAALguk8nk7BCyNJPJpKCgIGeHkeWRR8e4Ux4tVqtM7sz3AgBnoXALAAAAIEPe+mCljp3609lhAMgEpUsW0vihXZ0dBgA81ijcAgAAAMiQ32PO68iJP5wdBgAAwCOJ7zwAAAAAAAAAgIuhcAsAAAAAAAAALobCLQAAAAAAAAC4GAq3AAAAAAAAAOBiKNwCAAAAAAAAgIuhcAsAAAAAAAAALobCLQAAAAAAAAC4GAq3AAAAAAAAAOBiKNwCAAAAAAAAgIuhcAsAAAAAAAAALobCLQAAAAAAAAC4GAq3AAAAAAAAAOBiKNwCAAAAAAAAgIuhcAsAAAAAAAAALsbD2QEAAAAAD9vFixc1bdo0bdu2TXFxccqbN68CAwM1YMAAVatWzdnhAQAAABRuAQAA8Ph58cUXlZSUpEmTJqlEiRK6cOGCdu7cqcuXLzs1rsTERHl5eTk1BgAAALgGlkoAAADAY+Xq1avau3evhgwZolq1aqlYsWKqXLmy+vbtq0aNGikmJkZms1lRUVF2zzGbzdq1a5etbcuWLWrSpImCg4MVGRmpdevWyWw26+rVq5KkS5cuafDgwapXr55CQkLUsmVLffXVV3axREZGaty4cXr77bcVFhamXr16SZKOHTumvn37qmrVqgoNDVXnzp115swZSdLBgwfVo0cPhYWFqVq1auratat+++03u+OazWZ99tlneuGFFxQSEqImTZpoy5Ytdn2OHj2q3r17KzQ0VHXq1NFrr72mixcvOi7RAAAAeCAUbgEAAPBYyZEjh3LkyKHNmzcrMTExQ8c4e/asXnrpJTVq1EhffPGF/vOf/+j999+365OYmKiKFStqzpw5+uqrr9ShQwcNHTpUBw8etOu3bt06eXp66tNPP9XYsWP1999/q2vXrvLy8tLixYu1du1atWvXTsnJyZKkGzduqHXr1lq+fLlWrVolf39/9enTR9evX7c77syZM9WsWTOtX79e9evX15AhQ2wziq9evarnnntOQUFBWr16tebNm6cLFy7o5ZdfzlA+AAAA4HgslQAAAIDHioeHhyZNmqQ333xTK1asUFBQkGrWrKmnn35agYGBaTrGypUrVbp0aQ0bNkySVKZMGR09elSzZ8+29SlUqJBtBq10a3bt9u3b9c0336hy5cq29lKlSmno0KG27ffee0+5cuXSe++9J09PT0lS6dKlbftr165tF8tbb72l6tWra8+ePWrQoIGtvU2bNmrRooUkafDgwVq6dKkOHjyo+vXra9myZQoKCtLgwYNt/SdMmKCIiAidOnXK7vUAAADgHBRuAQAA8Nh56qmn9MQTT2jv3r06cOCAfvjhB82bN0/jx49XzZo17/v8U6dOqVKlSnZt/y7GSpLFYtHs2bO1ceNG/f3330pKSlJiYqKyZ89u169ixYp221FRUapevbqtaHu7uLg4ffDBB9q9e7cuXLggq9WqhIQEnTt3zq6f2Wy2Pc6RI4dy5cplWwrhyJEj2rVrl0JDQ1Md/8yZMxRuAQAAXACFWwAAADyWsmXLprp166pu3bp64YUXNHLkSM2YMUOffPKJJMkwDFvflGUK0mP+/PlasmSJRowYIbPZLG9vb02YMEFJSUl2/by9ve22by/s3m7YsGG6fPmyRo4cqaJFi8rLy0sdO3ZMddzbC79ubm6yWq2SpPj4eDVo0EBDhgxJdXw/P780nyMAAAAyD4VbAAAAQFK5cuW0efNm+fj4SJJiY2Nt+/59ozLp1tIF27Zts2s7dOiQ3fa+ffvUqFEjtWrVSpJktVp1+vRplS1b9p5xmM1mrVu3TklJSXecdbtv3z6NHj1aERERkqQ///xTly5dSuNZ3lKxYkVt2rRJxYoVk4cHvxIAAAC4Im5OBgAAgMfKpUuX1K1bN33xxRc6cuSIzp49q2+++Ubz5s1To0aNlD17dlWpUkVz5szRiRMntHv3bn3wwQd2x+jYsaNOnTqlKVOm6NSpU9qwYYPWrVsn6dbMVkny9/fXjh07tG/fPp04cUKjRo1SXFzcfePr0qWLrl+/rsGDB+vQoUM6ffq0Pv/8c508eVLSrTVx169frxMnTuiXX37RkCFD7jtL93adO3fWlStXNHjwYB08eFBnzpzRDz/8oNdff10WiyVdxwIAAEDmoHALAACAx0rOnDkVEhKixYsXq2vXrmrZsqWmTZum9u3ba9SoUZJu3ajLYrGobdu2mjBhgl5++WW7Y5QoUULTpk3Tt99+q2eeeUaffvqp+vXrJ0ny8vKSJPXv319BQUHq1auXIiMj5evrq8aNG983vvz582vx4sWKj49XZGSk2rZtq88++8w2+/btt9/WlStX1KZNGw0dOlSRkZEqUKBAunJQqFAhffrpp7JarerVq5datmypCRMmKHfu3HJ351cEAAAAV8D3ogAAAPBY8fLy0quvvqpXX331rn3Kli2rFStW2LVFR0fbbTdq1EiNGjWybc+aNUuFCxdWtmzZJEn58uXTRx99dM9Yli5desf2wMBAzZ8//477goKCtGbNGru2pk2b3jNWSdq7d6/ddqlSpTRz5sx7xgcAAADnoXALAAAAZMAnn3yi4OBg5c+fXz///LPmz5+vLl26ODssAAAAPCIo3AIAAAAZ8Pvvv2vWrFm6cuWKihYtqh49eqhv377ODgsAAACPCAq3AAAAQAaMGDFCI0aMcHYYAAAAeERx5wEAAAAAAAAAcDEUbgEAAAAAAADAxVC4BQAAAAAAAAAXQ+EWAAAAAAAAAFwMhVsAAAAAAAAAcDEUbgEAAAAAAADAxVC4BQAAAAAAAAAXQ+EWAAAAAAAAAFwMhVsAAAAAAAAAcDEezg4AAAAAQNbkX7ygEpMszg4DQCYoXbKQs0MAgMcehVsAAAAAGfLmyx1lMpmcHQaATGKxWmVy54u6AOAs/AsMAAAAIEMsFmbbPgiLxaLDhw+TxwdEHh3jTnmkaAsAzvVY/Sv8ySefqGHDhgoODlb79u118OBBZ4cEAAAA4DGWkJDg7BAeCeTRMcgjALiWx6Zwu2HDBk2cOFEvvPCC1q1bp8DAQPXq1UsXLlxwdmgAAAAAAAAAYOexWeN24cKF6tChg9q1aydJGjt2rLZu3ao1a9aoT58+93yuYRiSpMTERIet4WUymVS6pJ88PR6b2jmcrHjRArJYLC79FTKTyaQAPz958ZUsPCSlCmSN66KodxGZxBqSeDgKeRd06HWRcpyU8RQeDSnvp6v/G+rqUnJHDh8MeXQM8ugY5NExyKNjkEfHcHQe0zM+djMeg1F0YmKiqlSpounTp6tx48a29mHDhunq1auaNWvWfZ9/6NChzA4TAADgkRUcHCwvLy9nhwEHYXwMAADwYNIyPn4sZtxeunRJFotFBQoUsGsvUKCATp48ed/ne3h4KDg4WO7u7nJzc8usMAEAAB45hmHIarXKw+OxGHY+NhgfAwAAZEx6xseMoNPA3d2dGSIAAADA/8f4GAAAIPM9FgtJ5s+fXyaTKdWNyC5cuCBfX18nRQUAAAAAAAAAd/ZYFG69vLxUsWJF7dy509ZmtVq1c+dOhYaGOjEyAAAAAAAAAEjtsVkqoUePHho2bJgqVaqkypUra/HixUpISFDbtm2dHRoAAAAAAAAA2HlsCrdPP/20Ll68qOnTpys2NlYVKlTQvHnzWCoBAAAAAAAAgMtxMwzDcHYQAAAAAAAAAID/eSzWuAUAAAAAAACArITCLQAAAAAAAAC4GAq3AAAAAAAAAOBiKNzCJURGRurtt9/OlGMPHz5cAwYMsG0bhqE333xTNWvWlNlsVlRUVKa8LuAsabmeGjZsqEWLFj2cgAAXcPv/BXeSmf8XAQAAAEB6UbjFQ3GnX5g3btyo4OBgLViwIFNfe+TIkZo0aZJt+/vvv9e6des0e/Zsbd++XeXLl8/U1wfSY/jw4TKbzTKbzapYsaIaNmyod955Rzdv3nTo66xevVodO3Z06DGBzLBr1y7bNXGnn8jIyDQd5/b/CwA8mE8++UQNGzZUcHCw2rdvr4MHDzo7JJeyZ88e9evXT+Hh4TKbzdq8ebPdfsMwNG3aNIWHh6ty5crq3r27Tp8+bdfn8uXLevXVV1W1alVVr15dI0aM0I0bNx7iWTjXxx9/rHbt2ik0NFS1a9fWgAEDdPLkSbs+N2/e1NixYxUWFqbQ0FC9+OKLiouLs+tz7tw59enTRyEhIapdu7YmT56s5OTkh3kqTrV8+XK1bNlSVatWVdWqVdWxY0dt27bNtp8cZsycOXNkNpvt/uBLLu9vxowZqcZyTZs2te0nh2n3999/a8iQIQoLC1PlypXVsmVLHTp0yLaf/2fur2HDhnf8/WLs2LGSXOfzSOEWTvHZZ59pyJAhGjNmjHr27Jkpr2GxWGS1WpU7d27lyZPH1n727Fn5+fmpatWq8vPzk4eHR6a8PpBR9erV0/bt27V582aNGDFCK1eu1PTp0x36Gj4+PvL29nboMYHMEBoaqu3bt6f6GTdunNzc3NS5c+c0Hef2/wsAZNyGDRs0ceJEvfDCC1q3bp0CAwPVq1cvXbhwwdmhuYz4+HiZzWaNHj36jvvnzp2rpUuXasyYMVq1apW8vb3Vq1cvuz/UDhkyRMePH9fChQs1e/Zs7d27V6NGjXpYp+B0u3fvVpcuXbRq1SotXLhQycnJ6tWrl+Lj4219JkyYoP/7v//TBx98oKVLl+r8+fMaOHCgbb/FYlHfvn2VlJSkFStWaNKkSVq3bp3Dx1WurHDhwhoyZIjWrl2rNWvWqFatWnrhhRd07NgxSeQwIw4ePKgVK1bIbDbbtZPLtClfvrzdmG758uW2feQwba5cuaJOnTrJ09NTc+fO1ddff61hw4Ypb968tj78P3N/q1evtvssLly4UJJsf0xwmc+jATwEw4YNM/r3728YhmHMmTPHCA4ONv773//a9nft2tV46623jMmTJxs1atQw6tSpY0yfPt3uGAsWLDBatGhhhISEGPXr1zdGjx5tXL9+3bZ/zZo1RrVq1YzNmzcbzZo1MypUqGCcPXvW7rWHDRtmBAQE2H4aNGjwEM4eSLt/f15TDBw40GjdurVhGIZx8eJF45VXXjHCw8ONypUrGy1atDC+/PJLu/5du3Y1xo4da4wdO9aoWrWqUbNmTeP99983rFarrU+DBg2MhQsXZvr5AJnh+PHjRmhoqPHee+8ZhmEYycnJxuuvv240aNDACA4ONpo0aWIsWrTI7jm3X1s3btwwXnvtNaNKlSpG3bp1jfnz5xtdu3Y1xo8f/1DPBciKnn32WWPs2LG2bYvFYoSHhxsff/yxE6NyXQEBAca3335r27ZarUbdunWNefPm2dquXr1qVKpUyfjqq68Mw7j171xAQIBx8OBBW59t27YZZrPZ+Ouvvx5e8C7kwoULRkBAgLF7927DMG7lrGLFisY333xj65OSt/379xuGYRhbt241AgMDjdjYWFuf5cuXG1WrVjVu3rz5UON3JTVq1DBWrVpFDjPg+vXrRpMmTYwff/zRbtxALtNm+vTpxjPPPHPHfeQw7aZMmWJ06tTprvv5fyZjxo8fbzRu3NiwWq0u9Xlkxi0eqilTpuijjz7Sxx9/rCeffNJu37p165QjRw6tWrVKr732mj788EP9+OOPtv1ubm4aOXKkvvrqK02aNEk//fSTpkyZYneMf/75R3PnztX48eP11VdfqUCBAnb7R44cqUGDBqlw4cLavn27Vq9enXknCzjA0aNHtX//fnl6ekqSEhMTVbFiRc2ZM0dfffWVOnTooKFDh6b6iuq6detkMpn02WefaeTIkVq0aJE+++wzZ5wC4FBXr17VgAEDVLNmTb388suSJKvVqsKFC2vatGn6+uuv9cILL+j999/Xhg0b7nqcd955R3v27NFHH32k+fPna/fu3frtt98e0lkAWVdiYqJ+++031alTx9bm7u6uOnXqaP/+/U6MLOuIiYlRbGysXQ5z586tkJAQWw7379+vPHnyKDg42NanTp06cnd3f2yXpbh27Zok2WaU/frrr0pKSrLLY9myZVW0aFEdOHBAknTgwAEFBATI19fX1ic8PFzXr1/X8ePHH17wLsJisejrr79WfHy8QkNDyWEGjBs3ThEREXY5k/g8psfvv/+u8PBwNWrUSK+++qrOnTsniRymx3fffadKlSpp0KBBql27tlq3bq1Vq1bZ9vP/TPolJiZq/fr1ateundzc3Fzq88h3xPHQfP/999qyZYsWLVqk2rVrp9pvNptt085LlSqlZcuWaefOnapbt64kqXv37ra+xYsX18svv6zRo0drzJgxtvakpCSNGTNGgYGBd4whd+7cypkzp0wmk/z8/Bx3coADbd26VaGhoUpOTlZiYqLc3d315ptvSpIKFSqkXr162fpGRkZq+/bt+uabb1S5cmVbe5EiRTRixAi5ubmpTJkyOnr0qBYtWqQOHTo89PMBHMVqterVV1+VyWTS1KlT5ebmJkny9PTUoEGDbP1KlCihAwcOaOPGjXr66adTHefGjRtavXq1pkyZYvv/aNKkSYqIiHg4JwJkYZcuXZLFYkn1x/ECBQqkWn8UdxYbGytJd8xhytp5cXFx8vHxsdvv4eGhvHnz2p7/OLFarZowYYKqVq2qgIAASbdy5OnpmWoZnAIFCthyFBcXZ/cLtSTb9uOUx+joaP3nP//RzZs3lSNHDn344YcqV66coqKiyGE6fP311zp8+PAdJ//weUybypUra+LEiSpdurRiY2P14YcfqkuXLvryyy/JYTqcPXtWn376qXr06KF+/frp0KFDGj9+vDw9PdWmTRv+n8mAzZs369q1a2rTpo0k17qmKdzioTGbzbp06ZJmzJihypUrK2fOnKn2/5ufn5/dWmk7dvw/9u48zsb6///485wz+45ZMBhbM8jYUvaUpAV9LEkS+nykpOLzKR8kFamoT6v4pC8S2viISpvQQtkK2UKWbDOYjdnXc67fH8z5OcYyM8ZcZ8bjfrvNjXNd7+u6ntc515m5zuu8r/e1Vu+++64OHDigjIwM2e125ebmKjs72zlWp6enZ5H1ABVNmzZtNHHiRGVnZ+v999+XzWbTbbfdJul0T4mZM2fq22+/1YkTJ5Sfn6+8vDz5+Pi4rKN58+bOopYktWjRQnPnzpXdbpfNZivX/QHKyuuvv67ff/9d//vf/xQQEOAy78MPP9Snn36q+Ph45ebmKj8//4Jf4h05ckT5+flq3ry5c1pISIjq1at3RfMDAEpn0qRJ2rt3r8tYmCi+evXq6bPPPlN6erqWL1+usWPH6oMPPjA7VoVy7Ngxvfjii3rvvffk7e1tdpwK6+wvyRs1aqTmzZvr5ptv1jfffFPk8wwuzDAMNW3aVE888YQkqUmTJtq7d68++eQTZ+ERJfPpp5/qxhtvVEREhNlRimCoBJSbiIgILViwQCdOnNCDDz6ojIwMl/nn3iTMYrHIMAxJp7v6P/zww4qJidHbb7+tJUuWOAfNzs/Pdy7j4+PjUqwCKiJfX19FRUWpUaNGeumll7Rt2zbnMAdz5szR/Pnz9eCDD2r+/Pn67LPP1LFjR5f3AVAZffXVV3rvvff0+uuvq27dukXmvfzyy+rbt6/ee+89ffbZZ+rTpw/vC+AKqFKlimw2W5EbkSUnJxfpdYLzK7zq62LPYWhoqFJSUlzmFxQUKDU19aq7auz555/Xjz/+qHnz5ql69erO6aGhocrPz1daWppL++TkZOdzFBoaWuQO4IWPr6bn0cvLS1FRUWratKmefPJJNWrUSPPnz+c5LIGdO3cqOTlZffr0UZMmTdSkSRNt3LhRCxYsUJMmTXguSykoKEh169bV4cOHeQ5LICwsTA0aNHCZVr9+feewE/ydKZm4uDitXbtWd999t3OaOx2PFG5RriIjI/XBBx8oKSnpvMXbC9m5c6cMw9C4cePUokUL1atXTwkJCVc4LWA+q9Wqhx9+WG+99ZZycnK0efNm3XLLLfrb3/6mRo0aqXbt2jp48GCR5c4dl2jr1q2Kioqity0qpF27dunpp5/Wk08+qU6dOhWZv3nzZrVs2VIDBw5UkyZNFBUVpcOHD19wfbVr15anp6e2bt3qnJaamnre9xIAV15eXrr22mu1bt065zSHw6F169apZcuWJiarOGrVqqWwsDCX5zAjI0Nbt251PoctW7ZUWlqaduzY4Wyzfv16ORwOl6GRKjPDMPT8889rxYoVmjdvnmrXru0yv2nTpvL09HR5Hg8cOKD4+Hi1aNFC0ukrjv78888iV/EFBASoYcOG5bIf7sjhcCgvL4/nsATatm2rZcuW6bPPPnP+NG3aVD179nT+n+ey5DIzM3XkyBGFhYXxHJZAq1at9Ndff7lMO3jwoCIjIyXxd6aklixZomrVqummm25yTnOn45GhElDuatSooQULFmjw4MF68MEHNXv27EsuExUVpfz8fC1YsEBdunTRpk2b9Mknn5RDWsB8t99+u1555RV9+OGHioqK0vLly7V582YFBwdr7ty5SkpKKvKNa3x8vKZMmaL+/fvrjz/+0AcffKCxY8eatAdA6aWkpOjRRx/VDTfcoLvuuqvIeFE2m01RUVH67LPPtGbNGtWqVUuff/65tm/frlq1ap13nf7+/urbt6/+85//KCQkRNWqVdMbb7zBFRtAMf3973/X2LFj1bRpUzVr1kzz5s1Tdna2+vTpY3Y0t5GZmenyBdLRo0e1a9cuBQcHq2bNmho8eLDeeecdRUVFqVatWnrrrbcUHh6url27Sjp9A5ROnTrpmWee0aRJk5Sfn6/Jkyere/fubnkZ55UwadIkffnll/rvf/8rf39/5+//wMBA+fj4KDAwUH379tXUqVMVHBysgIAAvfDCC2rZsqXzQ3XHjh3VsGFDjRkzRv/+97+VmJioN998UwMHDpSXl5eJe1d+XnvtNd14442qUaOGMjMz9eWXX2rjxo2aM2cOz2EJBAQEOMdXLuTn56eQkBDndJ7LS3v55Zd18803q2bNmkpISNDbb78tq9WqHj16cDyWwJAhQzRgwADNnDlTd9xxh7Zt26ZFixbp+eefl3T66mX+zhSPw+HQkiVL1KtXL5erwN3peKRwC1NUr17dWbwdOnSo8vLyLtq+UaNGeuqppzRr1iy9/vrrat26tZ544gkKUbgqeHh46P7779fs2bP12Wef6ciRIxo6dKh8fX11zz33qGvXrs47LRfq1auXcnJy1K9fP9lsNg0ePFj9+/c3aQ+A0vvpp58UFxenuLg4dezYscj8yMhIffvtt9q1a5f+9a9/yWKxqHv37rrvvvu0evXqC653zJgxysrK0iOPPCJ/f3/9/e9/L/ZVIMDV7s4771RKSoqmTZumxMRENW7cWLNnz2aohLPs2LFDgwcPdj6eMmWKJKl3796aOnWqhg0bpuzsbD377LNKS0vTddddp9mzZ7uMnfnqq69q8uTJGjJkiKxWq7p166YJEyaU+76Y5eOPP5Z0+kasZ5syZYrzS4Lx48fLarVq5MiRysvLU8eOHfXcc88529psNs2cOVMTJ05U//795evrq969e7vc0LKyS05O1tixY5WQkKDAwEDFxMRozpw5zhtA8xyWHZ7LSzt+/LieeOIJnTp1SlWrVtV1112nRYsWOW+SxXNYPM2aNdP06dP1+uuva8aMGapVq5bGjx+vu+66y9mGvzPFs3btWsXHx6tv375F5rnL8WgxCgcRBQAAAAAAAAC4Bca4BQAAAAAAAAA3Q+EWAAAAAAAAANwMhVsAAAAAAAAAcDMUbgEAAAAAAADAzVC4BQAAAAAAAAA3Q+EWAAAAAAAAANwMhVsAAAAAAAAAcDMUbgEAAAAAAADAzVC4BYBykpKSoueee0433XSTmjZtqg4dOmjo0KHatGmT2dEAAAAASDp69KhiYmK0a9cus6MAgDzMDgAAV4vHH39c+fn5mjp1qmrXrq3k5GStW7dOp06dMjsaAAAAAABwM/S4BYBykJaWpt9++02jR49W27ZtFRkZqWbNmunhhx/WLbfc4mzz9NNPq23btmrVqpUGDx6s3bt3O9dx+PBhPfLII2rfvr1atmypvn37au3atS7b+fDDD9WtWzfFxsaqffv2GjlypHNeXl6eXnjhBbVr106xsbEaMGCAtm3b5py/YcMGxcTEaN26derTp4+aN2+ue++9VwcOHLjCzw4AAABwmsPh0KxZs3TrrbeqadOmuummm/TOO+9Ikvbs2aPBgwerWbNmatOmjZ555hllZmY6lx00aJBefPFFl/WNGDFC48aNcz7u0qWLZs6cqaeeekotW7bUTTfdpIULFzrnF56b9+rVSzExMRo0aNCV3F0AuCgKtwBQDvz8/OTn56eVK1cqLy/vvG1GjRql5ORkzZo1S0uWLNG1116rIUOGOHvkZmVlqXPnznr//fe1dOlSderUScOHD1d8fLwkafv27XrxxRc1cuRIffvtt5o9e7Zat27tXP8rr7yi5cuXa+rUqVq6dKmioqL04IMPFunx+8Ybb2jcuHH69NNPZbPZNH78+CvynAAAAADneu211zRr1iyNGDFCX3/9tV599VWFhoYqKytLQ4cOVXBwsBYvXqw333xTa9eu1eTJk0u8jblz56pp06b67LPPdN9992nixInOzgr/+9//JEnvv/++fv75Z7399ttlun8AUBIUbgGgHHh4eGjq1Kn67LPP1Lp1a9177716/fXXnT1qf/vtN23btk3Tpk1TbGys6tatq7FjxyooKEjLly+XJDVq1Ej33nuvoqOjVbduXf3zn/9UnTp19P3330uSjh07Jl9fX910002KjIxUkyZNNHjwYEmni76ffPKJxowZo86dO6thw4aaPHmyvL29tXjxYpes//rXv3TDDTeoYcOGeuihh7Rlyxbl5uaW47MFAACAq1FGRobmz5+vf//73+rdu7fq1Kmj1q1bq1+/fvryyy+Vl5enl19+WdHR0WrXrp2effZZff7550pKSirRdm688UYNHDhQUVFRGjZsmKpUqaINGzZIkqpWrSpJCgkJUVhYmEJCQsp6NwGg2BjjFgDKyW233aabbrpJv/32m37//XetWbNGs2fP1gsvvKDs7GxlZWWpTZs2Lsvk5OTo8OHDkqTMzExNnz5dP/74oxITE2W325WTk+Pscdu+fXvVrFlTXbt2VadOndSpUyfdeuut8vX11eHDh5Wfn69WrVo51+3p6almzZpp//79LtuMiYlx/j8sLEySlJycrJo1a16R5wUAAACQpAMHDigvL09t27YtMm///v2KiYmRn5+fc1qrVq3kcDj0119/KTQ0tNjbOft812KxKDQ0VMnJyZcXHgCuAAq3AFCOvL291aFDB3Xo0EGPPvqonn76ab399tsaMGCAwsLCtGDBgiLLBAYGSpJefvllrV27VmPHjlWdOnXk4+OjkSNHKj8/X5IUEBCgpUuXauPGjfr55581bdo0TZ8+vUiP2kvx8Pj/fxosFouk02ONAQAAAFeSt7f3ZS1vsVhkGIbLtIKCgiLtzj7fvdByAOAOGCoBAEzUsGFDZWVl6dprr1VSUpJsNpuioqJcfgov19qyZYt69+6tW2+9VTExMQoNDVVcXJzL+jw8PNS+fXuNGTNGX3zxheLi4rR+/XrVqVNHnp6e2rx5s7Ntfn6+tm/froYNG5brPgMAAADnU7duXfn4+Gj9+vVF5jVo0EB79uxRVlaWc9rmzZtltVpVr149SaeHOUhMTHTOt9vt2rt3b4kyeHp6OpcFALPR4xYAysHJkyc1atQo9e3bVzExMfL399eOHTs0e/Zs3XLLLWrfvr1atGihRx99VP/+979Vt25dJSQk6KefflLXrl0VGxurqKgorVixQl26dJHFYtGbb77p0hP2hx9+0JEjR3T99dcrKChIP/30kxwOh+rVqyc/Pz8NGDBAr7zyioKDg1WzZk3Nnj1bOTk5uvvuu018ZgAAAIDTvL29NWzYMP3nP/+Rp6enWrVqpZSUFO3du1c9e/bUtGnTNG7cOD322GNKSUnR5MmT9be//c05TELbtm01depU/fjjj6pdu7bef/99paWllShDtWrV5OPjozVr1qh69ery9vZ2XgEHAOWNwi0AlAN/f381b95c8+bN0+HDh1VQUKDq1aurX79+Gj58uCwWi/7v//5Pb775pp566imdPHlSoaGhat26tfNEdNy4cRo/frzuvfdeValSRcOGDVNmZqZzG4GBgVqxYoWmT5+u3NxcRUVF6bXXXtM111wjSRo9erQMw9CYMWOUmZmppk2bavbs2QoODjblOQEAAADONWLECNlsNk2bNk0JCQkKCwvTvffeK19fX82ZM0cvvvii7r77bvn6+qpbt24aN26cc9m+fftq9+7dGjt2rGw2mx544IEi95C4FA8PD02YMEEzZszQtGnT1Lp16/MOZwYA5cFiMJALAAAAAAAAALgVxrgFAAAAAAAAADdD4RYAAAAAAAAA3AyFWwAAAAAAAABwMxRuAQAAAAAAAMDNULgFAAAAAAAAADdD4RYAAAAAAAAA3AyFWwAAAAAAAABwMxRuAQAAAAAAAMDNULgFAAAAAAAAADdD4RYAAAAAAAAA3AyFWwAAAAAAAABwMxRuAQAAAAAAAMDNULgFAAAAAAAAADdD4RYAAAAAAAAA3AyFWwAAAAAAAABwMxRuAQAAAAAAAMDNULgFAAAAAAAAADdD4RaAW4iJidHbb79tyrY3bNigmJgYbdiwwZTtm2XQoEHq0aPHFd/O0aNHFRMToyVLllzxbQEAgMrv7bffVkxMTLlsa9CgQRo0aJDzceF547ffflsu2x83bpy6dOlSLtsqrczMTD399NPq0KGDYmJi9OKLL5bp+s38nIDSO/e9UxyF7+2UlJRSb3fWrFm6/fbb5XA4Sr2Os3388ce66aablJeXVybrA0qKwi2AUluyZIliYmK0fft2s6MUy4cffuh2xcNBgwYpJiZG3bp1O+/8X375RTExMaX+gHDixAm9/fbb2rVr1+VGveIudTw9/PDDbv/BBQAAlEzh3//Cn9jYWHXs2FFDhw7V/PnzlZGRUSbbcedzInfOVhzvvvuuli5dqgEDBuiVV17R3/72twu27dKli/O1btSokVq3bq2ePXvqmWee0datW8sxtXvo06ePJk6cKOl0kf7s90KrVq1011136b333rsiRcOSHnfnvlebNGmiTp06ady4cTpx4kSZ5yuNjIwMzZ49W8OGDZPVerrcZRiGpk+frk6dOqldu3Z68cUXizyfmZmZ6tSpk5YtW1ZknX369FF+fr4++eSTctkH4FweZgcAAEnatm2bbDbbFd3Gxx9/rCpVqqhPnz4u06+//npt27ZNnp6eV3T7F+Lt7a1Dhw5p27Ztatasmcu8ZcuWydvbW7m5uaVad0JCgqZPn67IyEg1bty4LOICAACUuZEjR6pWrVoqKChQUlKSNm7cqJdeeknvv/++/vvf/6pRo0bOto888ogeeuihEq2/tOdEc+bMKdF2SuNi2SZPnizDMK54hsuxfv16NW/eXI899lix2jdu3Fh///vfJZ0umB04cEDffvutFi1apAceeEBPPfWUS/vy+JxghoSEBP3xxx8aOXKkc5qXl5deeOEFSVJ6erqWL1+ul19+Wdu3b9cbb7xR5tsvzXui8L2al5en33//XUuXLtWmTZv05Zdfytvb29muPN4751q8eLEKCgpcrir84osvNHPmTA0bNky+vr6aOXOmQkND9fDDDzvbzJw5U5GRkerZs2eRdXp7e6tXr156//33NWjQIFkslnLZF6AQhVsAV1xWVpb8/PyKTHc4HMrPz5e3t7fLH/nyZrVaTd1+nTp1VFBQoC+//NKlcJubm6sVK1bopptu0vLly03LBwAAcKXdeOONio2NdT5++OGHtW7dOg0fPlwjRozQ119/LR8fH0mSh4eHPDyu7EfZ7Oxs+fr6ysvL64pu51LM6lhQEsnJyWrYsGGx20dERBTplTt69Gg9+eSTev/99xUVFaX77rvPOc/M8/QrafXq1fL29lbbtm2d0zw8PFyem/vuu0/9+vXT119/rXHjxikiIsKMqC7Ofq/269dPVapU0axZs7Rq1SrdeeedznZmvHeWLFmiLl26uBwzP/74o3r27KlRo0ZJOv0Z6/vvv3cWbg8fPqz58+frgw8+uOB677jjDs2ePVvr169Xu3btruxOAOdgqAQAZWrcuHFq2bKlDh8+rGHDhqlly5YaPXq0pNPjUz3//PP64osv1L17d8XGxmrNmjXOeeeOXbVhwwb16dNHsbGx6tq1qz755JPzjmn26aefavDgwWrXrp2aNm2qO++8Ux999JFLmy5dumjv3r3auHGj8/KewjGXLjTG7TfffKM+ffqoWbNmatOmjUaPHl3kMqDC/T1x4oRGjBihli1bqm3btnr55Zdlt9uL/bz16NFDX3/9tctYTN9//71ycnJ0++23n3eZEydO6KmnnlL79u3VtGlTde/eXYsXL3Z5/u6++25J0lNPPeXc73OHi9i3b58GDRqk5s2bq1OnTpo1a1aRbSUnJ2v8+PFq3769YmNjddddd2np0qVF2qWlpWncuHG67rrr1Lp1a40dO1bp6enFfh5K6quvvlKfPn3UsmVLtWrVSj179tS8efOc80+dOqWXX35ZPXv2dLZ58MEHtXv37iLriouL0/Dhw9WiRQu1a9dOL730ktasWXPeY2Pr1q0aOnSorrvuOjVv3lz333+/Nm3adMX2EwCAq1G7du00YsQIxcXF6YsvvnBOP9/54C+//KIBAwaodevWatmypW677Ta9/vrrki59TlQ47v+OHTs0cOBANW/e3LnshcbpdDgcev3119WhQwe1aNFCw4cP17Fjx1zadOnSRePGjSuy7NnrvFS2841xm5WVpalTp6pz585q2rSpbrvtNs2ZM6dIz9zCc++VK1eqR48ezvPF1atXX+xpd7rU+V/hOfTRo0f1448/OrMfPXq0WOs/m4+Pj1555RWFhIRo5syZLvty7ueEjIwMvfjii+rSpYuaNm2qdu3a6e9//7t27tzpss7inK/FxcVp4sSJuu2225zn/CNHjiyyD/n5+Zo+fbq6deum2NhYtWnTRgMGDNAvv/zi0m7//v0aOXKkbrjhBsXGxqpPnz5atWrVeff5p59+Ups2bZxfSJyP1WrVDTfc4MwqSXl5eZo2bZpuvfVWNW3aVJ07d9Yrr7xS5PL/y3lPlETr1q0lSUeOHHGZfr73zoIFC9S9e3c1b95c119/vfr06XPe4QnOFhcXp1tvvVU9evRQUlLSBdsdOXJEe/bsUfv27V2m5+TkKDg42Pk4ODhY2dnZzsdTp07VnXfe6fLF0bmaNm2qkJCQC76WwJVEj1sAZa6goMB5kjR27FiXk5H169frm2++0cCBA1WlShVFRkaedx1//PGHHnzwQYWFhenxxx+Xw+HQjBkzVLVq1SJtP/74Y11zzTXq0qWLPDw89MMPP2jSpEkyDEMDBw6UJI0fP16TJ0+Wn5+fhg8fLkkKDQ294D4sWbJETz31lGJjY/XEE08oOTlZ8+fP1+bNm/XZZ58pKCjI2dZut2vo0KFq1qyZxowZo3Xr1um9995T7dq1XXoLXEyPHj309ttva8OGDc5vcb/88ku1bdtW1apVK9I+KSlJ99xzjywWiwYOHKiqVatq9erVevrpp5WRkaEHHnhADRo00MiRIzVt2jT1799f1113nSSpVatWzvWkpqbqwQcf1K233qo77rhDy5cv16uvvqro6Gh17txZ0umTnUGDBunw4cMaOHCgatWqpW+//Vbjxo1TWlqahgwZIun0+FEjRozQpk2bdO+996pBgwZasWKFxo4dW6znoKR++eUXPfHEE2rXrp3zy4EDBw5o8+bNzkxHjhzRypUrdfvtt6tWrVpKSkrSwoULdf/99+urr75y9lrIysrSkCFDlJiYqMGDBys0NFRffvnleW9Yt27dOg0bNkxNmzbVY489JovFoiVLlmjIkCH66KOPigx3AQAASu9vf/ubXn/9df3888+65557zttm7969evjhhxUTE6ORI0fKy8tLhw4d0ubNmyWpWOdEp06d0rBhw9S9e3fddddd5z3/Ots777wji8WiYcOGKTk5WfPmzdMDDzygzz///KKFuHMVJ9vZDMPQI4884iy8NW7cWGvWrNErr7yiEydOaPz48S7tN23apO+++0733Xef/P39tWDBAo0cOVI//PCDqlSpcsFcxTn/a9CggV555RVNmTJF1atXdw5/cL7z9eLw9/dX165dtXjxYu3bt0/XXHPNeds999xzWr58ue6//341aNBAp06d0qZNm7R//35de+21kop/vrZ9+3Zt2bJF3bt3V/Xq1RUXF6ePP/5YgwcP1ldffSVfX19J0vTp0/Xuu++qX79+atasmTIyMrRjxw7t3LlTHTp0kHT6OBwwYIAiIiI0bNgw+fn56ZtvvtGjjz6qt99+W7feeqtzH/Lz87V27Vo98cQTl3xeCguiISEhcjgceuSRR7Rp0ybdc889atCggf7880/NmzdPBw8e1H//+19nlst9TxRXYUH57M9H57No0SK98MILuu222zR48GDl5uZqz5492rp163mHKJBO94YdMmSIgoOD9d5771302NqyZYskqUmTJi7TY2Nj9dFHH+n222+Xr6+vFi5cqJYtW0o6/Xli/fr1xbq6sUmTJs7nDyhXBgCU0qeffmpER0cb27Ztc04bO3asER0dbbz66qtF2kdHRxuNGjUy9u7de95506ZNcz5++OGHjebNmxvHjx93Tjt48KDRpEkTIzo62mXZ7OzsIuv7xz/+Ydxyyy0u07p3727cf//9RdquX7/eiI6ONtavX28YhmHk5eUZ7dq1M3r06GHk5OQ42/3www9GdHS08dZbbxXZ3+nTp7uss1evXkbv3r2LbOtc999/v9G9e3fDMAyjT58+xvjx4w3DMIzU1FTj2muvNZYuXerM98033ziXGz9+vNGhQwcjJSXFZX3/+te/jOuuu875nGzbts2Ijo42Pv300/NuOzo62li6dKlzWm5urtGhQwfj8ccfd057//33jejoaOPzzz93TsvLyzP69+9vtGjRwkhPTzcMwzBWrFhhREdHG7NmzXK2KygoMO67774LZjjb+Y6nsz300EPGzTff7Hz8wgsvGK1atTIKCgouuM7c3FzDbre7TDty5IjRtGlTl9fsvffeM6Kjo40VK1Y4p+Xk5Bi33367y7HhcDiMbt26Gf/4xz8Mh8PhbJudnW106dLF+Pvf/37RfQQAAK4u9fffMAzjuuuuM3r16uV8PG3aNJfzwblz5xrR0dFGcnLyBddRnHOijz/++Lzzzj5/LDwv69Spk/McyDAM4+uvvzaio6ONefPmOafdfPPNxtixYy+5zotlGzt2rMv5T+H51n//+1+Xdo8//rgRExNjHDp0yDktOjrauPbaa12m7dq1y4iOjjYWLFhQZFtnK+75X+F+PvTQQxddX3HbFr6WK1eudNmPsz8nXHfddcakSZMuuI6SnK+d73PEli1bipwj33XXXZfcxyFDhhg9evQwcnNzXbL079/f6Natm0vbtWvXGtHR0caRI0ec08aOHWu0aNHCSE5ONpKTk41Dhw4ZM2fONGJiYoyePXsahmEYn332mdGoUSPj119/dVnfxx9/bERHRxubNm0yDOPy3xPnU/heXbt2rZGcnGwcO3bM+Pbbb422bdsaTZs2NY4dO+bS/tzj/JFHHnF+7rmQwvd2cnKysW/fPqNjx45G3759jVOnTl0y3xtvvGFER0cbGRkZLtPT09ONAQMGGNHR0UZ0dLTRvXt34/jx40Z+fr5x5513Gu+++26x9v+ZZ54xmjVrVqy2QFliqAQAV8SAAQPOO/3666+/5BhYdrtd69at0y233OIyjlNUVJQ6depUpP3ZvRrS09OVkpKiG264QUeOHCnVZfo7duxQcnKyBgwY4DI+0k033aT69evrxx9/LLLMuft73XXXlfgysZ49e2rFihXKy8vT8uXLZbPZ1LVr1yLtDMPQd999py5dusgwDKWkpDh/OnbsqPT09CKXil2In5+fyzhaXl5eio2NdbnUafXq1QoLC3MZ5N/T01ODBg1SVlaWfv31V2c7Dw8Pl+fCZrPp/vvvL9HzUFxBQUHKzs4ucona2by8vJx3lLXb7Tp58qT8/PxUr149/fHHH852a9asUUREhG655RbnNG9v7yI9e3bt2qWDBw+qZ8+eOnnypPN5z8rKUrt27fTrr7+6DHcBAAAun5+fnzIzMy84v7Cn36pVq0r9d9jLy6vIDWwvplevXgoICHA+vv322xUWFqaffvqpVNsvrtWrV8tmsxW5BP0f//iHDMMoMgxC+/btVadOHefjRo0aKSAgoMhl7efbTnHO/8qav7+/JF3y9d66dWuRIcwKleR87ezPEfn5+Tp58qTq1KmjoKAgl3PFoKAg7d27VwcPHjzvNk+dOqX169frjjvuUEZGhnObJ0+eVMeOHXXw4EGXvKtXr1bDhg1Vq1Ytl/UUZmzXrp1uvfVWvf7662rRooVmzJghSfr222/VoEED1a9f3+UzQOE4uYVXi5XFe+JCHnjgAbVr106dO3fWyJEj5evrq3feeUfVq1e/6HJBQUE6fvy4tm3bdslt7N27V4MGDVJkZKTef/99l6EOLuTUqVPy8PBwHkOFAgIC9MEHH+irr77S559/rs8++0wRERH66KOPlJeXpwceeMA5dFynTp00evRoZWRknDd/Tk6OyzALQHlgqAQAZc7Dw+OCf7jPPTk5n+TkZOXk5CgqKqrIvPNN27Rpk95++239/vvvRf6QpqenKzAwsJjJT4uPj5ck1atXr8i8+vXrFxkby9vbu8hlO8HBwUpNTS3Rdu+88069/PLLWr16tb744gvddNNNLh8ICqWkpCgtLU0LFy7UwoULz7uulJSUYm2zevXqRe6MGhwcrD179jgfx8XFKSoqylkALdSgQQNJ///5iouLU1hYWJGTpfM9j2Xhvvvu0zfffKNhw4YpIiJCHTp00B133KEbb7zR2cbhcGj+/Pn66KOPdPToUZdxh0NCQpz/j4uLU506dYo8F2d/0JHkPFm/2PAP6enpxTq5BAAAxZOVlXXRoQvuvPNO/e9//9OECRP02muvOYtet99+e5HzlwuJiIgo0c2Uzj0ntVgsioqKcl42fqXExcUpPDy8yDli4XnZuduvUaNGkXUEBwcrLS3tktspzvlfWSss2J57Pnm20aNHa9y4cbrpppt07bXXqnPnzurVq5dq164tqWTnazk5OXr33Xe1ZMkSnThxwmVs3bM7gIwcOVIjRozQbbfdpujoaHXs2FF/+9vf1KhRI0mnL+k3DENvvfWW3nrrrfNuMzk52dkp5ccff9TNN99cpI23t7dmzpwp6fSXCbVq1XL5XHXo0CHt37//gjfISk5OllQ274kLefbZZ1WvXj2lp6fr008/1a+//lqs986wYcO0du1a9evXT1FRUerQoYN69OjhHKbhbMOHD1doaKjmzJlz0WOhuKxWq0vnoZSUFE2fPl0vvfSSLBaLHn74Yd18880aM2aMpk6dqsmTJ+vll192WUfhsXHu5wXgSqNwC6DMnd3L8VwlGfOrOA4fPqwHHnhA9evX17hx41SjRg15enrqp59+0vvvv18uvR9tNluZrCc8PFw33HCD5s6dq82bNxe5WVuhwn2666671Lt37/O2OfeGHRdSVtnLQmHv5tzc3PPOz87OdukBXa1aNX322Wf6+eeftXr1aq1evVpLlixRr169nCdaM2fO1FtvvaW+fftq1KhRCg4OltVq1UsvvVTkBh7FUbjMmDFj1Lhx4/O28fPzK/F6AQDA+R0/flzp6elFvkw9m4+Pjz788ENt2LBBP/74o9asWaOvv/5aCxcu1HvvvVes852yPke9GLvdXm7nYBfaTmnOg8rD3r17JZ2/s0ahO++8U61bt9aKFSv0yy+/aM6cOZo1a5befvttde7cuUTna5MnT3aOfduiRQsFBgbKYrHoX//6l8tzdP3112vFihVatWqVfvnlFy1evFjz5s3TpEmT1K9fP+f5+T/+8Y/zXiEo/f8OAUeOHNGBAwc0ceLEIm1sNluRm2udzeFwKDo6Wk899dR55xcWecviPXEhzZo1c97Iq2vXrrrvvvv05JNP6ttvv71okbVBgwb69ttvnXm+++47ffTRR3r00Uc1cuRIl7a33Xabli5dqmXLlunee+8tVq6QkBAVFBQoIyPjvJ1fzvbWW2+pSZMm6tq1q3777TclJibq3//+t7y9vfX444/rwQcf1JQpU1w+06alpcnX17dcf1cAEoVbAG6oWrVq8vb21qFDh4rMO3fa999/r7y8PL3zzjuqWbOmc/r5bipV3G9HC9fz119/Ffk2+6+//nLZTlnr0aOHJkyYoKCgIJeeo2erWrWq/P395XA4LnpiJ5XNN8KRkZHas2ePHA6Hy8nLgQMHJP3/5ysyMlLr169XZmamy0nbX3/9VaztnP28F96d9mwHDx4scpMKLy8vdenSRV26dJHD4dDEiRO1cOFCjRgxQlFRUVq+fLnatGmjl156yWW5tLQ0lxtyREZGat++fTIMw+U5O3z4sMtyhT05AgICLvncAwCAy/f5559Lkjp27HjRdlar1XmJ+VNPPaWZM2fqjTfe0IYNG9S+ffsy7yV37jmpYRg6dOiQy5fnF+rZGh8f7zynkEp2vhYZGal169YVKU4Vnpdd6Ma/JVXc87+ylJmZqZUrV6pGjRrOnr0XEh4eroEDB2rgwIFKTk5W7969NXPmTHXu3LlE52vLly9Xr169NG7cOOe03Nzc8w63FhISor59+6pv377KzMzU/fffr7ffflv9+vVzbtPT0/OS2/zpp58UGBh43p6ml1KnTh3t3r1b7dq1u+RxUx7vCZvNpieeeEKDBw/Whx9+qIceeuii7f38/HTnnXfqzjvvVF5enh5//HHNnDlTDz/8sEsHjTFjxshms2nSpEny9/e/4M3Lzla/fn1J0tGjR509oc9n9+7d+vTTT7VkyRJJUkJCgoKCgpzbDw8PV35+vlJSUlxuZn306FHnNoDyxBi3ANxO4TfNq1atchkL6tChQ1qzZk2RtpKKXNb06aefFlmvr6/vJS8Lk6SmTZuqWrVq+uSTT5SXl+ec/tNPP2n//v266aabSrpLxXb77bfrscce03PPPXfBS45sNptuu+02LV++XH/++WeR+WcPk1B4J9zi7PeF3HjjjUpMTNTXX3/tnFZQUKAFCxbIz89P119/vbNdQUGBPv74Y2c7u92uDz74oFjbufbaa1WtWjX973//c3neJWnlypU6ceKESzH75MmTLm2sVqvzw1Lh8jabrUiPkm+++abImGgdO3bUiRMntGrVKue03NxcLVq0yKVd06ZNVadOHb333nvnHXutuENUAACAS1u3bp3++9//qlatWrrrrrsu2O7UqVNFphX2tCw8JyiLc6KzffbZZy7jYH777bdKTEx0OVepXbu2tm7d6nJe88MPP+jYsWMu6ypJthtvvFF2u10ffvihy/T3339fFovlgl/8l1Rxz//KSk5OjsaMGaNTp05p+PDhFywq2u32IkXVatWqKTw83Pk8l+R87Xw9TxcsWOAyvJZU9LzT399fderUcW6zWrVquuGGG7Rw4UIlJCRcdJs//fSTOnToIA+Pkveju+OOO3TixIki56jS6ecwKytLUvm+J9q0aaNmzZpp3rx5F7xyTir6HHp5ealBgwYyDEP5+flF2k+ePFm33Xabxo0b53KOfiEtW7aUdPp+JRfz4osvql+/foqOjpZ0+rU7efKk8zk7cOCAPDw8XDp5SNIff/yhVq1aXTIHUNbocQvALT322GP6+eefNWDAAA0YMEAOh0MffPCBrrnmGu3atcvZrkOHDvL09NTw4cN17733KjMzU//73/9UrVo1JSYmuqzz2muv1ccff6z//ve/ioqKUtWqVc87PpSnp6dGjx6tp556Svfff7+6d++u5ORkzZ8/X5GRkXrggQeu2H4HBgbq8ccfv2S7J598Uhs2bNA999yjfv36qWHDhkpNTdXOnTu1bt06bdy4UZKcN1f45JNP5O/vLz8/PzVr1syll8el9O/fXwsXLtS4ceO0c+dORUZGavny5dq8ebPGjx/v7O3RpUsXtWrVSq+99pri4uLUsGFDfffdd8W+QZyXl5fGjBmjcePGqW/fvrrzzjsVEhKiXbt26dNPP1VMTIz69+/vbD9hwgSlpqaqbdu2ioiIUHx8vD744AM1btzY2Uvjpptu0owZM/TUU0+pZcuW+vPPP7Vs2bIi+9+/f3998MEHevLJJzV48GCFhYVp2bJlzm/eCz88WK1WvfDCCxo2bJh69OihPn36KCIiQidOnNCGDRsUEBDgHJcMAAAU3+rVq3XgwAHZ7XYlJSVpw4YN+uWXX1SzZk298847Lr3xzjVjxgz99ttv6ty5syIjI5WcnKyPPvpI1atXd/ZqLItzorMFBwfrvvvuU58+fZScnKx58+YpKirK5cam/fr10/Lly/Xggw/qjjvu0OHDh7Vs2bIiwz6UJFuXLl3Upk0bvfHGG4qLi1NMTIx++eUXrVq1SkOGDLnokBIlUdzzv9I4ceKEsyd1VlaW9u/f7yx8/+Mf/7jopfGZmZnq3LmzbrvtNjVq1Eh+fn5au3attm/f7uw1W5LztZtuukmff/65AgIC1LBhQ/3+++9au3aty70QJKl79+664YYbdO211yokJETbt2/X8uXLXW7C+9xzz+m+++5Tz549dc8996h27dpKSkrS77//ruPHj+uLL75QTk6ONmzYoEmTJpXqufvb3/6mb775Rs8995w2bNigVq1ayW6368CBA/r22281e/ZsxcbGlvt7YujQoRo1apSWLFlywZtUDx06VKGhoWrVqpWqVaumAwcO6IMPPlDnzp3PezxZrVb95z//0aOPPqp//vOf+r//+78Lju0rnf6iJDo6WuvWrdPdd9993jbffPON9uzZo2nTpjmntWzZUtWqVdOoUaPUrVs3zZkzR7feeqtLUX/Hjh06deqUy42MgfJC4RaAW2ratKlmzZqlV155RW+99ZZq1KihkSNH6sCBA85LtKTTl8RMmzZNb775pl5++WWFhoZqwIABqlq1qsaPH++yzkcffVTx8fGaPXu2MjMzdcMNN1zwj3+fPn3k4+OjWbNm6dVXX5Wfn5+6du2qf//73867tJopNDRU//vf/zRjxgytWLFCH3/8sUJCQtSwYUONHj3a2c7T01NTp07V66+/rokTJ6qgoEBTpkwp0QmZj4+PFixYoFdffVVLly5VRkaG6tWrpylTprjcfdlqteqdd97RSy+9pC+++EIWi0VdunTRuHHj1KtXr2Jtq1evXqpatapmz56t2bNnKzc3VxERERo0aJBGjBjhMqbUXXfdpUWLFumjjz5SWlqawsLCdMcdd+jxxx93XtI3fPhwZWdna9myZfr666/VpEkTvfvuu3rttddctuvv76958+bphRde0Pz58+Xn56devXqpZcuWevzxx10+LLZp00YLFy7Uf//7X33wwQfKyspSWFiYmjVr5lJYBgAAxVdYSPH09FRISIiio6M1fvx49enT55JFwi5duiguLk6ffvqpTp48qSpVquiGG27Q448/7rxJbVmcE51t+PDh2rNnj/7v//5PmZmZateunZ577jlnL0ZJ6tSpk8aNG6e5c+fqpZdeUtOmTTVz5swiNz0qSbbC861p06bp66+/1pIlSxQZGakxY8boH//4R6n25XyKe/5XGrt27dKYMWNksVjk7++vGjVq6Oabb1a/fv3UrFmzS+YaMGCAfvnlF3333XcyDEN16tRxFk0LFfd87emnn5bVatWyZcuUm5urVq1aae7cuXrwwQddtjto0CB9//33+uWXX5SXl6eaNWvqn//8p4YOHeps07BhQ3366aeaPn26li5dqlOnTqlq1apq0qSJHn30UUnS+vXrlZeXV+qe0VarVTNmzND777+vzz//XCtWrJCvr69q1aqlQYMGOW8KXN7viW7dujl7Od9zzz3n7cncv39/LVu2THPnzlVWVpaqV6/uPMe/EE9PT02bNk3Dhg3TiBEj9P7776t58+YXbN+3b1+99dZbysnJKTIWbU5Ojv7zn//o8ccfd+lN6+XlpRkzZui5557Ta6+9phtuuEHPPvusy7LffvutatasqbZt2xb3KQHKjMVw11HJAeA8RowYoX379um7774zOwquAu+//76mTJmi1atXO+8CDAAAAJTGxIkTtWPHDi1evNjsKJVSenq6unbtqtGjR6tfv35lss68vDx16dJFw4YN05AhQ8pknUBJMMYtALeVk5Pj8vjgwYNavXq1brjhBpMSoTI793jLzc3VwoULVbduXYq2AAAAuGyNGzcu1rBoKJ3AwEANHTpUc+bMkcPhKJN1fvrpp/Lw8LjgEBDAlUaPWwBuq2PHjurdu7dq166tuLg4583Cli5dqrp165odD5XMgw8+qJo1a6pRo0bKyMjQF198ob179+rVV18t1p1sAQAAAAAoS4xxC8BtderUSV999ZUSExPl5eWlFi1a6IknnqBoiyuiY8eOWrx4sZYtWya73a6GDRvqjTfe0J133ml2NAAAAADAVYgetwAAAAAAAADgZhjjFgAAAAAAAADcDIVbAAAAAAAAAHAzjHFbDA6HQwUFBbJarbJYLGbHAQAAqDAMw5DD4ZCHh4esVvoMVBacHwMAAJROSc6PKdwWQ0FBgbZv3252DAAAgAorNjZWXl5eZsdAGeH8GAAA4PIU5/yYwm0xFFa/Y2NjZbPZTE4DAABQcdjtdm3fvp3etpUM58dXl8L3Ma/31YnXHxwD4BgoWyU5P6ZwWwyFl3/ZbDYOUAAAgFLgcvrKhfPjqxOv99WN1x8cA+AYKFvFOT+m6wMAAAAAAAAAuBkKtwAAAAAAAADgZijcAgAAAAAAAICboXALAAAAAAAAAG6Gwi0AAAAAAAAAuBkKtwAAAAAAAADgZijcAgAAAAAAAICboXALAAAAAAAAAG6Gwi0AAAAAAAAAuBkKtwAAAAAAAADgZijcAgAAAAAAAICboXALAAAAAAAAAG6Gwi0AAAAAAAAAuBkKtwAAAAAAAADgZijcAgAAAAAAAICboXALAAAAAAAAAG6Gwm05MBwOsyPgCuG1BQAAAAD3U9rPanzGA+BOPMwOcDWwWK2KX/aRcpMTzI6CMuRdLVw1e95ndgwAAAAAwDksVqsSVq6UIze32MtYvb0V3rXrFUwFACVD4bac5CYnKPdEnNkxAAAAAAC4Kjhyc0tUuAUAd8NQCQAAAAAAAADgZijcAgAAAAAAAICboXALAAAAAAAAAG6Gwi0AAAAAAAAAuBkKtwAAAAAAAADgZijcAgAAAAAAAICboXALAAAAAAAAAG6Gwi0AAAAAAAAAuBkKtwAAAAAAAADgZijcAgAAAAAAAICboXALAAAAAAAAAG7Gw+wAAAAAAAAApZVz/LiyjxyRPTNT9sxMeQQGyjcqSobdbnY0ALgsFG4BAAAAAECFknfypJK+/16nfv1VOXFx529ktcqnRg351a8vz2rVZLFYyjckAFwmCrcAAAAAAKBCcOTl6cTXX+vEsmVy5OWdnmizya9uXXkEBsrm66v8kyeVffiw7FlZyomLU05cnDyCgxXUvLm8qlUzdwcAoAQo3AIAAAAAALeXuW+f/poxQ3lJSZIk/4YNFXrLLQpu2VIe/v4ubQ3D0NEPP1TG7t3KPnpUBampSlm9Wn716yugSRNZPT3N2AUAKBEKtwAAAAAAwK0l//yzDr/3noz8fHlWrarIe+9VlbZtLzj8gcVikWeVKgpu1UqB116r9J07lX3okLIOHFDu8eMKaddOnkFB5bwXAFAyFG4BAAAAAIBbMgxD8QsX6sRXX0mSglu1Ut3hw2Xz9S32Oqze3gpu1Uo+tWopbcsW2bOylPLTTwq+/nr5VK9+paIDwGWzmh0AAAAAAADgXIZhKO7jj51F2+p/+5vqjxpVoqLt2bzDw1XtppvkFRoqo6BAp9atU+aBA2UZGQDKFIVbAAAAAADgdo4vXaqEb76RJNUZOlQ1775bFuvllTGs3t6q0qGDfOvWlSSlb92qzH37LjcqAFwRDJUAAAAAAADcSsLy5Tq2dKkkKfj661WQmanjZ3reXootMFBhN954wfkWq1VBLVrI6u2tzD17lL59u2QYCmzatEyyA0BZoXALAAAAAADcRtqOHTr64YeSpBp33y2Lh4ccubnFXt7q5XXJNhaLRQGNG0vS6eLtjh2nl+vevXShAeAKYKgEAAAAAABwRRkOR7Ha5SYm6q8ZMyTDULUbb1T1u+66YpksFosCmzSRf0yMJCl182ad3Ljxim0PAEqKHrcAAAAAAOCKslitSli58qI9Z42CAiWtWiV7RoY8q1aVb4MGslgsVzxbQOPGcuTlKfuvv3TwnXfkERiowDO9cQHATPS4BQAAAAAAV5wjN/eiP6mbNyv/5ElZvLwUcv31kt1eLrksFouCmjeXT61aMgoKdODNN5UTH18u2waAi6FwCwAAAAAATJV74oSyDhyQJIW0bi2bn1+5bt9isahKu3byj46WPStL+994QwWZmeWaAQDOReEWAAAAAACYxpGXp9TNmyVJfvXryzsiwpQcFptN9UeOlFe1aso9flwHZ8wo9ti8AHAlULgFAAAAAACmSdu6VY6cHNkCAhR47bWmZvEMDlb9f/1LFi8vpW3frrhPPjE1D4Crm6mF219//VXDhw9Xx44dFRMTo5UrVzrn5efn6z//+Y969uypFi1aqGPHjhozZoxOnDjhso5Tp07pySefVKtWrdS6dWuNHz9emedczrB7927dd999io2NVefOnTVr1qxy2T8AAAAAAHBhOceOKefoUcliUfB118niYf491P2iolT3oYckSQnffKPkn382ORGAq5WphdusrCzFxMToueeeKzIvJydHf/zxhx555BEtWbJE06dP119//aVHHnnEpd3o0aO1b98+zZ07VzNnztRvv/2mZ5991jk/IyNDQ4cOVc2aNbVkyRKNGTNG06dP18KFC6/4/gEAAAAAgPNzFBQobetWSZJ/w4byqlrV5ET/X5U2bVT9b3+TJB1+7z1l7ttnciIAVyNTv8rq3LmzOnfufN55gYGBmjt3rsu0Z555Rv369VN8fLxq1qyp/fv3a82aNVq8eLFiY2MlSRMmTNBDDz2kMWPGKCIiQl988YXy8/P10ksvycvLS9dcc4127dqluXPnqn///iXKay/lHS1tNluplkPFUNrjAgCAqwF/JwEAF5Kxa5cc2dmy+fkpoFEjs+MUUaNPH2UfOaLUzZt14K23FDNpklsVlwFUfuZfg1ACGRkZslgsCgoKkiRt2bJFQUFBzqKtJLVv315Wq1Xbtm3Trbfeqt9//12tW7eWl5eXs03Hjh01a9YspaamKjg4uNjb3759e4kz+/r6qkmTJiVeDhXHnj17lJ2dbXYMAAAAAKgw8lNTlbV/vyQpqHlztxgi4VwWq1V1hw/XnkmTlBMXp7/eflvXPP20rG6YFUDlVGF+2+Tm5urVV19V9+7dFRAQIElKSkpS1XO+7fLw8FBwcLASExOdbWrVquXSJjQ01DmvJIXb2NhYes+iiJiYGLMjAADgtux2e6m+/AYAVF6GYSjt998lw5B3zZryrl7d7EgXZPP1VYN//Uu7n31Wmfv2Ke6TT1T7/vvNjgXgKlEhCrf5+fkaNWqUDMPQpEmTTMths9ko3KIIjgkAAAAAKL6co0eVn5Iii82moGbNzI5zSd4REYp6+GEdeOMNJS5fLv+GDVW1bVuzYwG4Cph6c7LiyM/P1z//+U/Fx8frvffec/a2lU73nE1JSXFpX1BQoNTUVIWFhTnbJCUlubQpfFzY8xYAAAAAAFx5joICpe/cKUnyj4mRzdfX5ETFE9KqlSJ69JAkHZ4zR9lxcSYnAnA1cOvCbWHR9tChQ3r//fdVpUoVl/ktW7ZUWlqaduzY4Zy2fv16ORwONTvzrV2LFi3022+/KT8/39lm7dq1qlevXomGSQAAAAAAAJcnc+9eObKzZfXzk3/DhmbHcWGx2WQ4HBecX/PuuxXQuLEcOTn6a9o02XNyXOZfbFkAKA1Th0rIzMzU4cOHnY+PHj2qXbt2KTg4WGFhYRo5cqT++OMPvfvuu7Lb7c5xa4ODg+Xl5aUGDRqoU6dOeuaZZzRp0iTl5+dr8uTJ6t69uyIiIiRJPXv21IwZM/T0009r2LBh2rt3r+bPn6+nnnrKlH0GAAAAAOBqZM/MVObevZKkoKZNZXGzYecsNpssVqsSVq6UIzf3vG38Y2KU9ddfyomP15+TJyukXTtZLBZZvb0V3rVrOScGUNmZWrjdsWOHBg8e7Hw8ZcoUSVLv3r312GOP6fvvv5ck/e1vf3NZbv78+WrTpo0k6dVXX9XkyZM1ZMgQWa1WdevWTRMmTHC2DQwM1Jw5c/T888+rT58+qlKlikaMGKH+/ftf6d0DAAAAAABnpG3fLtnt8qxWTd41a5od54IcubkXLNxaLBaFXH+9Un7+WdmHD8sjJET+DRqUc0IAVwtTC7dt2rTRnj17Ljj/YvMKhYSE6LXXXrtom0aNGumjjz4qcT4AAAAAAHD5sg4dUvbBg5KkoNhYWSwWcwNdBq/QUAU2bar07duVvn27PKtUkU+NGmbHAlAJufUYtwAAAAD+v3fffVd9+/ZVy5Yt1a5dO40YMUIHDhxwaTNo0CDFxMS4/Dz77LMubeLj4/XQQw+pefPmateunV5++WUVFBSU564AuMrEL1okSfKJjJTnOfevqYj8GjQ43WvYMHRq48Yi490CQFkwtcctAAAAgOLbuHGjBg4cqNjYWNntdr3++usaOnSovvrqK/n5+Tnb3XPPPRo5cqTzse9Zd2232+16+OGHFRoaqk8++UQJCQkaO3asPD099cQTT5Tr/gC4OqTv2qW0bdski0UBTZqYHadMWCwWBbdqpeS0NNkzMnRq3TrV7N1bFiv94wCUHX6jAAAAABXEnDlz1KdPH11zzTVq1KiRpk6dqvj4eO3cudOlnY+Pj8LCwpw/AQEBznk///yz9u3bp//85z9q3LixOnfurFGjRunDDz9UXl5eee8SgErOMAzFffKJJMmvYUN5nPX7qKKzenoqpE0bWWw25Z44oWNLl5odCUAlQ49bAAAAoIJKT0+XJAUHB7tMX7Zsmb744guFhYXp5ptv1ogRI5y9bn///XdFR0crNDTU2b5jx46aOHGi9u3bpyYl6A1nt9vLYC/g7gpfZ17vq9Plvv6nfv1VWQcOyOrtrYDGjWU4HMVetrCt4XC47XIeAQEKbN5caZs36/jnn8s/JkYBjRsXe5sVAb8DwDFQtkryPFK4BQAAACogh8Ohl156Sa1atVJ0dLRzeo8ePVSzZk2Fh4drz549evXVV/XXX39p+vTpkqSkpCSXoq0k5+PExMQSZdi+fftl7gUqEl7vq1upXn+7XfroI1kkhd9xhxJPnVJBdnaxF/fJzVWETv/eysvMdNvl5Okpa/XqMo4f1/4ZM2QMHCidNURNZcHvAHAMlD8KtwAAAEAFNGnSJO3du1cfffSRy/T+/fs7/x8TE6OwsDA98MADOnz4sOrUqVOmGWJjY2Wz2cp0nXA/drtd27dv5/W+Sl3O65/8ww86evKkPAIDFXHnnbKsXClHbm6xl/cIDJR0+sslx5n/u+NykqTISJ1at065x44peMMG1R01ShaLpWTrcFP8DgDHQNkqfD6Lg8ItAAAAUME8//zz+vHHH/XBBx+oevXqF23bvHlzSdKhQ4dUp04dhYaGatu2bS5tkpKSJElhYWElymGz2fgAdxXh9b66lfT1t+fk6Phnn0mSqvfqJZuvryxWa4lu3lXY1t2XkySrl5fqPfqo9kycqLTff1fK998rvFu3Eq3D3fE7ABwD5Y+bkwEAAAAVhGEYev7557VixQrNmzdPtWvXvuQyu3btkvT/i7ItWrTQn3/+qeTkZGebtWvXKiAgQA0bNrwywQFcdRKWL1dBaqq8wsIU2qWL2XHKhV9UlCIHDJAkxX38sbIOHTI5EYCKjsItAAAAUEFMmjRJX3zxhV577TX5+/srMTFRiYmJysnJkSQdPnxYM2bM0I4dO3T06FGtWrVKY8eO1fXXX69GjRpJOn0jsoYNG2rMmDHavXu31qxZozfffFMDBw6Ul5eXmbsHoJIoSE/Xia++kiTVvPtuWT2unot9w269VcGtWskoKNBfM2bIfub3MwCUxtXz2xMAAACo4D7++GNJ0qBBg1ymT5kyRX369JGnp6fWrVun+fPnKysrSzVq1FC3bt00YsQIZ1ubzaaZM2dq4sSJ6t+/v3x9fdW7d2+NHDmyXPcFQOV1/PPP5cjOlm9UlKq0bWt2nHJhsdlkOByyWK2KevBB7Xr6aeUeO6ajCxYoatiwiy5buBwAnIvCLQAAAFBB7Nmz56Lza9SooQ8++OCS64mMjNSsWbPKKhYAOOUmJChx5UpJUmT//ldNQdJis8litSrhzA3Yglq0UPIPPyh59Wo5HA751qp13uWs3t4K79q1nNMCqCiujt+gAAAAAADgiju2ZIkMu12B116rwKZNzY5T7hy5uXLk5sozJET+0dGSpNRff1VBWppz3rk/AHAhFG4BAAAAAMBlyzp0SClr10qSat5zjywWi8mJzBXQqJE8goLkyM1V2tatZscBUAFRuAUAAAAAAJctftEiyTBUpU0b+devb3Yc01lsNgVfd51ksSgnLk7ZR4+aHQlABUPhFgAAAAAAXJb0nTuVtm2bZLOpRr9+ZsdxG54hIfKPiZEkpW3dytAIAEqEwi0AAAAAACg1wzAUt3ChJCns5pvlExFhciL3EhATI4+gIBl5eUrfudPsOAAqEAq3AAAAAACgWAyHo8i0Uxs3Kuuvv2T19lb1Xr3KP5Sbs1itCmrRQpKUfeiQ8pKSzA0EoMLwMDsAAAAAAACoGCxWqxJWrnRe8m84HEr4+mtJkl/Dhkr++eciy9gCAxV2443lmtPdeFWrJt+6dZV98KBSt2xRaJcusthsZscC4ObocQsAAAAAAIrNkZvr/MnYs0f2jAxZvb3lV6+ey7zCH4NxXSVJgddeK6u3t+wZGcrct8/sOAAqAAq3AAAAAACgxBx5ecr44w9JUkCjRrJ6epqcyL1ZvbwUGBsrScrcs0f27GyTEwFwdxRuAQAAAABAiWXs2iUjP18eQUHyrVvX7DgVgk+tWvKsUkWG3e4segPAhVC4BQAAAAAAJZKflqasv/6SJAXGxspipbxQHBaLRYHNmkmSsg8fVl5KismJALgzfrMCAAAAAIBiMwxD6du2SYYh7xo15B0ebnakCsWralX51K4tSUrbvFmGYZicCIC7onALAAAAAACKLefIEeUlJkpWq3PMVpRM4LXXymKzKS8pSad++83sOADcFIVbAAAAAABQLAWZmUrdvFmS5B8dLQ9/f5MTVUw2X1/5NWwoSTr26acyHA6TEwFwRxRuAQAAAABAscQvXChHTo5sAQEKiI42O06F5t+woSyensqJi1PKunVmxwHghijcAgAAAACAS8rYs0dJP/wgSQpu2VIWm83kRBWb1ctLAY0bS5KOLVkio6DA5EQA3A2FWwAAAAAAcFGO3Fwdeu89SZJf/fryCg01OVHl4B8dLY+gIOUlJCh5zRqz4wBwMxRuAQAAAADARcUvWqTc+Hh5hoQoqHlzs+NUGlYPD1W/6y5J0rHPPpODXrcAzkLhFgAAAACACqi0N7Qq8XJ//aXkVaskSVHDhsnq7V2q7eL8Qm++WZ5Vqig/JUUpv/xidhwAbsTD7AAAAAAAAKDkLFarElaulCM3t9jLWL29Fd61a7Hb56elSStWSJLCunVTULNmyjpypMRZcX4Wm00WDw+F33674j7+WCe+/FLVOnWSxXrpfnaGw1GsdgAqLgq3AAAAAABUUI7c3BIVbkvCsNt1+N13ZcnKkk9kpCL7978i27maWWw2WaxWGRaLLF5eyj1+XAf/7//kW7v2RZcraQEeQMVE4RYAAAAAABQRt2iRMnbulOHhoTrDh8vq5WV2pMrL4ZBfvXrK3LNH6Tt3yissTBaLxexUAExGn3oAAAAAAOAi5ZdflPD116cfdOt2yR6guHz+DRrIYrOp4NQp5SUmmh0HgBugcAsAAAAAAJwy9u7VoTlzJEnhPXpI0dEmJ7o6WL295Vu3riQp888/zQ0DwC1QuAUAAAAAAJKkrEOHtP/VV2Xk5yuoRQtV79PH7EhXFf+GDSVJeYmJp28MB+CqRuEWAAAAAAAo59gx7Xv5ZdmzsuQfHa16jz4qi5WyQXmy+fnJu2ZNSVLW/v0mpwFgNn4DAwAAAABwlcuOi9PeKVNUkJ4u36goNXzySdl8fMyOdVXyb9BAkpR95IgceXkmpwFgJgq3AAAAAABcxTL37dOfkycr/+RJ+URGquGYMbL5+Zkd66rlWa2aPIKDJbtd2QcPmh0HgIko3AIAAAAAcJVK3bJFe6dMkT0zU34NGij66aflGRRkdqyrmsVikV/9+pKkzAMHZDgcJicCYBYKt0AFxB/uyonXFQAAAOXFcDgU/+mn2v/663Lk5SmoWTNdM26cPAIDzY4GSb61a8vi5SVHdrZyjx0zOw4Ak3iYHQBAyVmsVv357jxlxx83OwrKiG/N6op+eIjZMQAAAHAVyE9L08F33lH6jh2SpLCuXRU5cKCsHpQI3IXFZpNf3brK/PNPZR08KJ/ISLMjATABv5WBCio7/rgyDx01OwYAAACACiQvKUm7n3lG+Skpsnp5qc7Qoaravr3ZsXAevmcKt3kJCSrIzJSHv7/ZkQCUMwq3AAAAAABUcoZhKOvAgdO9bB0OedeoofojR8q3Vi2zo+ECPPz95RUerryEBGUfPKjAa681OxKAckbhFgAAAACASsxRUKC0LVuUc/T0FXshN9ygqAcflM3X1+RkuBS/unVPF24PHVJA48ayWLlVEXA1oXALAAAAAEAlVZCerpMbNsieni5ZLApq0UL1HntMFovF7GgoBu8aNWT19pYjN1e5x4/Lp2ZNsyMBKEd8VQMAAAAAQCWUc+yYkn/8Ufb0dFl9fFS1UycFxMRQtK1ALFarfKOiJElZBw+aGwZAuaNwCwAAAABAJWIYhjL+/FOn1q+XUVAgz2rVVO3mm+VVrZrZ0VAKhYXbvBMnZM/KMjkNgPJE4RYAAAAAgErCMAylbdmijJ07JUm+9eqpaseOsvn4mJwMpeURECCvsDBJUvbhwyanAVCeTC3c/vrrrxo+fLg6duyomJgYrVy50mW+YRh666231LFjRzVr1kwPPPCADp5zacCpU6f05JNPqlWrVmrdurXGjx+vzMxMlza7d+/Wfffdp9jYWHXu3FmzZs260rsGAAAAAEC5Mux2ndq4UdmHDkmSgpo3V3CLFtzQqhLwrVNH0unCrWEYJqcBUF5M/e2dlZWlmJgYPffcc+edP2vWLC1YsEATJ07UokWL5Ovrq6FDhyo3N9fZZvTo0dq3b5/mzp2rmTNn6rffftOzzz7rnJ+RkaGhQ4eqZs2aWrJkicaMGaPp06dr4cKFV3z/AAAAAAAoD4bdrpPr1ys3Pl6yWhVyww3yq1/f7FgoI941a8ri4SF7Zqbyk5PNjgOgnHiYufHOnTurc+fO551nGIbmz5+vRx55RF27dpUkvfLKK2rfvr1Wrlyp7t27a//+/VqzZo0WL16s2NhYSdKECRP00EMPacyYMYqIiNAXX3yh/Px8vfTSS/Ly8tI111yjXbt2ae7cuerfv3+J8trt9lLtp81mK9VyqBhKe1xcDo6pysuM4wkAriR+rwHAlWc4HDq1caPyEhJksdkU0ratvMPDzY6FMmT18JBPzZrKPnxY2YcPyycy0uxIAMqBqYXbizl69KgSExPVvn1757TAwEA1b95cW7ZsUffu3bVlyxYFBQU5i7aS1L59e1mtVm3btk233nqrfv/9d7Vu3VpeXl7ONh07dtSsWbOUmpqq4ODgYmfavn17iffD19dXTZo0KfFyqDj27Nmj7Ozsctsex1TlVt7HEwAAACo2wzCUumWLco8fl6xWVWnfXl6hoWbHwhXgGxWl7MOHlRMXJ0dBgdlxAJQDty3cJiYmSpKqnXPXy2rVqikpKUmSlJSUpKpVq7rM9/DwUHBwsHP5pKQk1apVy6VN6Jk/YklJSSUq3MbGxtLTEUXExMSYHQGVCMcTgMrGbreX6stvAEDxpG3dqpzDhyWLRSE33EDRthLzrFZNNj8/2bOylHP0qNlxAJQDty3cuiObzUbhFkVwTKAscTwBAACguJJ//lmZu3dLkoJbtZJPjRomJ8KVZLFY5FunjjJ271bWX3+ZHQdAOXDbW0uGhYVJkpLPGXQ7OTnZ2WM2NDRUKSkpLvMLCgqUmprqXD40NNTZQ7dQ4eNQvokEAAAAAFRAWYcO6fB770mS/Bs1km+dOiYnQnnwOfM65yUkKP/UKXPDALji3LZwW6tWLYWFhWndunXOaRkZGdq6datatmwpSWrZsqXS0tK0Y8cOZ5v169fL4XCoWbNmkqQWLVrot99+U35+vrPN2rVrVa9evRINkwAAAAAAgDsoyMzUgbfekpGfL+8aNRTQqJHZkVBOPPz95VmlimQYOrlhg9lxAFxhphZuMzMztWvXLu3atUvS6RuS7dq1S/Hx8bJYLBo8eLDeeecdrVq1Snv27NGYMWMUHh6url27SpIaNGigTp066ZlnntG2bdu0adMmTZ48Wd27d1dERIQkqWfPnvL09NTTTz+tvXv36uuvv9b8+fP197//3bT9BgAAAACgNAzD0KFZs5SXmCivsDBVadtWFovF7FgoRz61a0uSTq5fb3ISAFeaqWPc7tixQ4MHD3Y+njJliiSpd+/emjp1qoYNG6bs7Gw9++yzSktL03XXXafZs2fL29vbucyrr76qyZMna8iQIbJarerWrZsmTJjgnB8YGKg5c+bo+eefV58+fVSlShWNGDFC/fv3L78dBQAAAACgDKSsXavUTZtksdlUf+RIpe3cKUdurtmxUI58IiOVvn27MvftU25CgrzDw82OBOAKMbVw26ZNG+3Zs+eC8y0Wi0aNGqVRo0ZdsE1ISIhee+21i26nUaNG+uijj0qdEwAAAAAAs+WlpOjo/PmSpOq9e8uvbl2l7dxpciqUN5uPj7zCw5V34oROrl+v6nfdZXYkAFeI245xCwAAAAAATjMMQ4fnzJE9K0t+9eqpeo8e5bZtDw9T+3zhPApvRpdy1n2BAFQ+FG4BAAAAAHBzKb/8orRt22Tx9FTUww/LYrOVaj0Wm02Gw1Hs9jabTc2bN5etlNvDleFbu7YsNptyjh5V9pEjZscBcIXwtRkAAAAAAG7Mnp2tuE8+kSTV6NVLvpGRpV6XxWaTxWpVwsqVxRob13A4lJCQoPDwcHkEByvsxhtLvW2UHauXl4KaN1fq5s1KWb9ekWduWAagcqHHLQAAAAAAbuzYZ5+pIDVV3tWrK/yOO8pknY7c3GL/FGRny5GbK4OboLmVKu3aSZJOrl8vwzBMTgPgSqBwCwAAAACAm8qJj1fC8uWSpFoDB8rq6WlyIriLkJYtZfX2Vl5CgrL27zc7DoArgMItAAAAAABuyDAMHf3gA8luV1CLFgpu0cLsSHAjVm9vBbdqJUlKWb/e5DQArgQKtwAAAAAAuKH0HTuUtn27LB4eqnX//WbHgRuqevZwCSW46RyAioHCLQAAAAAAbsYwDMUvXixJCrvlFvlERJicCO4oMDZWNn9/FaSmKmPXLrPjAChjFG4BAAAAAHAzqVu2KOvAAVm9vBTRs6fZceCmrB4eqnLDDZKklHXrTE4DoKxRuAUAAAAAwI0YDoeOFfa2ve02eQYHm5wI7qzKmeESTv36qxz5+SanAVCWKNwCAAAAFcS7776rvn37qmXLlmrXrp1GjBihAwcOuLTJzc3VpEmT1KZNG7Vs2VKPP/64kpKSXNrEx8froYceUvPmzdWuXTu9/PLLKigoKM9dAXARJzduVPaRI7L6+irizjvNjgM3FxATI88qVWTPylLa9u1mxwFQhijcAgAAABXExo0bNXDgQC1atEhz585VQUGBhg4dqqysLGebl156ST/88IPefPNNLViwQAkJCXrsscec8+12ux5++GHl5+frk08+0dSpU7V06VJNmzbNjF0CILncVMpwOHR86VJJUsSdd8ojIMCsWKggLFarQs4Ml3Bq40aT0wAoSx5mBwAAAABQPHPmzHF5PHXqVLVr1047d+7U9ddfr/T0dH366ad69dVX1e7MpbMvvfSS7rzzTv3+++9q0aKFfv75Z+3bt09z585VaGioGjdurFGjRunVV1/VY489Ji8vr2LnsdvtZbp/cE+FrzOv95Vjs9l04rvv5MjNVU5cnHLi42Xx9JTD4dCxZcvOu4xHYKDCbrpJhsPhUvi9lMK2xV3OYRjOf0u6bGm3WdGWM2ObhW0L35fBrVsrcflyndq8Wfk5ObJ6ehZ7XZfC7wBwDJStkjyPFG4BAACACio9PV2SFHxm/MsdO3YoPz9f7du3d7Zp0KCBatas6Szc/v7774qOjlZoaKizTceOHTVx4kTt27dPTZo0Kfb2t3NJ7lWF1/vK8PDwUPPmzXX8yBEVZGdLO3fKIskRGqrj8fEXXM6nShWFSUpKSlJeZmaxt+eTm6uIUiyXcOKEfPLySrVsabdZUZYzY5sevr6qodO/9wsKCiTDkAIC5MjI0LZly6T69UuUvzj4HQCOgfJH4RYAAACogBwOh1566SW1atVK0dHRkk5/8Pf09FRQUJBL22rVqikxMdHZ5uyirSTn48I2xRUbGyubzVbaXUAFYbfbtX37dl7vKyw8PFw58fE6mZEhWa0Ka9ZMNh+fC7b3CAyUdPr96zjz/+Io6XIOw1DCiRMKj4iQ15nfLVd6mxVtOTO2afX2liQ1bdrUOS2ufXslffedqiYmqk6fPsVe16XwOwAcA2Wr8PksDgq3AAAAQAU0adIk7d27Vx999JFpGWw2Gx/griK83leWxWpV1r59kiTfOnXk4ed3yfaF/xb+v7jbKcly1jOX5FstlnLbZkVbzoxtFrY9+z1ZtU0bJX33nVJ//10Wu13WEgx9Uxz8DgDHQPnj5mQAAABABfP888/rxx9/1Lx581S9enXn9NDQUOXn5ystLc2lfXJyssLCwpxtkpKSXOYXPi5sA6D85aemKvf4cUmSf8OGJqdBReTfsKE8q1aVIztbaTt2mB0HQBmgcAsAAABUEIZh6Pnnn9eKFSs0b9481a5d22V+06ZN5enpqXXr1jmnHThwQPHx8WrRooUkqUWLFvrzzz+VnJzsbLN27VoFBASoIcUiwDSZe/ZIkrxr1HBePg+UhMVqVZXrr5ckndywweQ0AMoChVsAuMo5SnjHXFQcvLZA5TNp0iR98cUXeu211+Tv76/ExEQlJiYqJydHkhQYGKi+fftq6tSpWr9+vXbs2KHx48erZcuWzsJtx44d1bBhQ40ZM0a7d+/WmjVr9Oabb2rgwIHyKuPLagEUT0FmprIPHZJEb1tcnpA2bSRJqZs3y5GXZ3IaAJeLMW4B4CpntVr14ysLdOrwCbOjoAyF1InQTWMGmR0DQBn7+OOPJUmDBrm+v6dMmaI+Z25EM378eFmtVo0cOVJ5eXnq2LGjnnvuOWdbm82mmTNnauLEierfv798fX3Vu3dvjRw5svx2BKikDIejxGOjSlLy6tUy7HZ5BAXJs1q1K5AMVwv/Bg3kWa2a8pOTlbZ9u0Kuu87sSAAuA4VbAIBOHT6h5P1HzY4BALiEPWcupb4Yb29vPffccy7F2nNFRkZq1qxZZRkNgE5fqp6wcqUcubnFXsYaEKCk77+XJPnVry+LxXKl4qESsdhs5/2ioHC4hIRvv9XJjRvPW7gt7RcMAMofhVsAAAAAAMqIIze3RIXbvKQk5R4/Lounp3zOGbcauBCLzXbBLwocBQWSpFMbN+pYZKQsNptzntXbW+Fdu5ZrVgClR+EWAAAAAACTZOzeLUnyq1tXVg8+oqNkzvdFgS0gQFZfXzmys5V9+LB8atY0KR2Ay0XfeAAAAAAATGDPylJOXJwkye+aa0xOg8rCYrHIJzJSkpzHF4CKicItAAAAAAAmyD50SDIMBTRuLM+gILPjoBIpLNzmHj8uw243OQ2A0qJwCwAAAABAOTMMQ9mHD0uSqnXubHIaVDaeVarI6usro6BAuSdOmB0HQClRuAUAAAAAoJzlJSXJnpUli6enqrRubXYcVDIMlwBUDhRuAQAAAAAoZ9mHDkk6c1Myb2+T06AyYrgEoOKjcAsAAAAAQDly5OcrJz5ekuTXsKHJaVBZMVwCUPFRuAUAAAAAoBzlxMVJdrtsAQHyCg01Ow4qKYZLACo+CrcAAAAAAJSjwmESfKOiZLFYTE6Dysw5XMKxYwyXAFRAFG4BAAAAACgnBRkZyk9JkST51qljchpUdp5Vqsjq5yfDblfu8eNmxwFQQhRuAQAAAAAoJ4WXrHuFhcnm42NyGlR2FotFPjVrSpJzXGUAFQeFWwAAAAAAyknOkSOSJJ9atUxOgquFy3AJBQUmpwFQEhRuAQAAAAAoB/mpqSpIT5esVmcvSOBKO3u4hJxjx8yOA6AEKNwCAAAAAFAOco4elSR5R0TI6uVlchpcLSwWi3zP9LrNPtPjG0DFQOEWAAAAAIArzDAMZ+GWYRJQ3pzDJcTFyZGba3IaAMVF4RYAAAAAgCssPyVF9qwsWWw2+VSvbnYcXGU8QkJkOzNcQuq2bWbHAVBMFG4BAAAAALjCcuLiJEneNWvK4uFhchpcbSwWi7PX7ckNG0xOA6C4KNwCAAAAAHAFGYbhLNwWFs+A8lZ47KVt2cJwCUAFQeEWAAAAAIArKP/kSTlycmTx8JB3eLjZcXCV8ggJkc3fX468PKVu3Wp2HADFQOEWAAAAAIAryDlMQvXqsthsJqfB1cpisci3dm1J0smNG01OA6A4KNwCAAAAAHCFGIah3Ph4SZJPzZomp8HVzqdOHUmnh0uw5+SYnAbApVC4BQAAAADgCilITZU9K0uy2eQVEWF2HFzlPKtUkVdYmBx5eUpjuATA7VG4BQAAAADgCsk509vWOzxcVg8Pk9PgamexWFSlTRtJDJcAVAQUbgEAAAAAuEIKC7c+kZEmJwFOq3LDDZKk1N9/Z7gEwM1RuAUAAAAA4AooSEuTPT1dsljkXb262XEASZJv3bryCg+XwXAJgNujcAsAAAAAwBWQc+yYJMkrPFxWT0+T0wCnWSwWZ6/bkxs2mJwGwMVQuAUAAAAA4ArIPVO49alRw+QkgKvCcW5Tt25luATAjbl14dZut+vNN99Uly5d1KxZM3Xt2lUzZsyQYRjONoZh6K233lLHjh3VrFkzPfDAAzp48KDLek6dOqUnn3xSrVq1UuvWrTV+/HhlZmaW894AAAAAAK4W9txc5Z88KUkMkwC34xsVJW+GSwDcnlsXbmfNmqWPP/5Yzz77rL7++muNHj1as2fP1oIFC1zaLFiwQBMnTtSiRYvk6+uroUOHKjc319lm9OjR2rdvn+bOnauZM2fqt99+07PPPmvGLgEAAAAArgK5x49LkjxCQmTz9TU5DeDKYrEopHC4hPXrTU4D4EI8zA5wMVu2bNEtt9yim266SZJUq1YtffXVV9q2bZuk071t58+fr0ceeURdu3aVJL3yyitq3769Vq5cqe7du2v//v1as2aNFi9erNjYWEnShAkT9NBDD2nMmDGKiIgodh673V6q/bDZbKVaDhVDaY+Ly8ExVXlxPKGsmXFMAWfjGARwtXIOk0BvW7ipKm3b6sSXX54eLiE7my8YADfk1oXbli1batGiRfrrr79Ur1497d69W5s2bdK4ceMkSUePHlViYqLat2/vXCYwMFDNmzfXli1b1L17d23ZskVBQUHOoq0ktW/fXlarVdu2bdOtt95a7Dzbt28v8T74+vqqSZMmJV4OFceePXuUnZ1dbtvjmKrcOJ5Q1sr7mAIAAJJhtysvIUGS5M34tnBTvnXqyKdmTeXEx+vUr7+q2o03mh0JwDncunD70EMPKSMjQ3fccYdsNpvsdrv+9a9/6a677pIkJSYmSpKqVavmsly1atWUlJQkSUpKSlLVqlVd5nt4eCg4ONi5fHHFxsbSMw1FxMTEmB0BlQjHE8oaxxTMZrfbS/XlNwBUZHmJiTLsdll9feURHGx2HOC8LBaLqrRvr2OLFytl7VoKt4AbcuvC7TfffKNly5bptddeU8OGDbVr1y5NmTJF4eHh6t27d7nnsdlsFG5RBMcEyhLHE8oaxxQAAOUv58z4tt7Vq8tisZicBriwqu3a6djixUr/4w/lnzolz5AQsyMBOItb35zslVde0UMPPaTu3bsrJiZGvXr10pAhQ/Tuu+9KksLCwiRJycnJLsslJycrNDRUkhQaGqqUlBSX+QUFBUpNTXUuDwAAAABAWTAMw3ljMsa3hbvzDg+Xf8OGkmEoZd06s+MAOIdbF25zcnKKfDtps9lkGIak0zcrCwsL07qzfrlkZGRo69atatmypaTT4+SmpaVpx44dzjbr16+Xw+FQs2bNymEvAAAAAABXi4JTp+TIzpbFZpMXnYVQAVQ9c9+gkxRuAbfj1oXbm2++WTNnztSPP/6oo0ePasWKFZo7d666du0q6fR4LIMHD9Y777yjVatWac+ePRozZozCw8OdbRo0aKBOnTrpmWee0bZt27Rp0yZNnjxZ3bt3V0REhJm7BwAAAACoZHKOHZMkeYWFycKQRagAQtq0kaxWZf31l/P4BeAe3HqM2wkTJuitt97SpEmTlJycrPDwcPXv31+PPvqos82wYcOUnZ2tZ599Vmlpabruuus0e/ZseXt7O9u8+uqrmjx5soYMGSKr1apu3bppwoQJZuwSAAAAAKASyz1T+PKmoxAqCM+gIAXFxipt61alrF2rmn37Fmnj4eHW5SOg0nLrd15AQICefvppPf300xdsY7FYNGrUKI0aNeqCbUJCQvTaa69diYgAAAAAAEiSCjIzlZeUJEnyonALN2Sx2WQ4HLJYXS/Artq+vbNwW6NPH5dhK202m5o3by7D4SjvuMBVz60LtwAAAAAAVBTpO3ZIhiFbYKA8/P3NjgMUYbHZZLFalbBypRy5uc7pjoICWTw8lJeQoCPz58vrzA3fJclwOJSSnq5r77vPjMjAVY3CLQAAAAAAZSBt2zZJDJMA9+fIzXUp3EqSd40ayjlyRFkHDsgjMNA53XA4VJCdXd4RAcjNb04GAAAAAEBFYDgcSt26VRKFW1RMvrVqSZJy4uIYFgFwExRuAQAAAAC4TNmHD6sgNVUWDw95VatmdhygxLzCw2Xx8pIjN1d5iYlmxwEgCrcAAAAAAFy2s4dJsNhsJqcBSs5itTp73WYfOWJyGgAShVsAAAAAAC6bc5iEGjVMTgKUns+Zwm1ufLwcBQUmpwFA4RYAAAAAgMtgz8pS5r59kiTv6tVNTgOUnmfVqrL5+8uw25UbH292HOCqR+EWAAAAAIDLkP7HH5LDIe/q1eUREGB2HKDULBaLfOvUkXR63GYA5qJwCwAAAJSDW265RSdPniwyPS0tTbfccosJiQCUlbQdOyRJQU2bmpwEuHw+tWtLkvISE2XPyjI5DXB1K1XhdvDgwUpLSysyPSMjQ4MHD77sUAAAAEBlExcXJ4fDUWR6Xl6eTpw4YUIiAGUlfft2SVJgbKzJSYDL5+HvL6+wMEn0ugXM5lGahTZu3Kj8/Pwi03Nzc7Vp06bLDgUAAABUFqtWrXL+f82aNQoMDHQ+djgcWrdunSIjI82IBqAM5J44odyEBMlmU2Djxso5dszsSMBl861TR3mJico+dEh+11xjdhzgqlWiwu3u3bud/9+3b58SExOdjx0Oh9asWaOIiIiySwcAAABUcI8++qik0+MGjhs3zmWeh4eHIiMji0wHUHEUDpMQ0LChbL6+JqcByoZPzZpK27pV9qws5ScnS56eZkcCrkolKtz26tVLFotFFotFQ4YMKTLfx8dHEyZMKLNwAACgYnHYHbLaGEK/MuK1Lb3Czg9dunTR4sWLVbVqVZMTAShLhYVbhklAZWLx8JBPZKSyDx06PVxCgwZmRwKuSiUq3K5atUqGYahr16763//+53LS6enpqWrVqslms5V5SAAAUDFYbVZ98NxcnTh43OwoKEMRdavr/kl/NztGhff999+bHQFAGTPsdqXv3ClJCqJwi0rGNypK2YcOKSc+XtaoKLPjAFelEhVuC8feOnvIBAAAgLOdOHhccXuOmB0DcEvr1q3TunXrlJycXORGZVOmTDEpFYDSyty/X47sbNkCAuRXt67ZcYAy5Vm1qmwBAbJnZMg4a6hMAOWnVDcnk6SDBw9qw4YN5z3pfOyxxy47GAAAAFCZTJ8+XTNmzFDTpk0VFhYmi8VidiQAlylt+3ZJUuC118piZTgZVC4Wi0W+deoo448/ZBznairADKUq3C5atEgTJ05UlSpVFBoa6nLSabFYKNwCAAAA5/jkk080ZcoU9erVy+woAMpI+h9/SJKCrr3W5CTAlVFYuFVqqnJOnJAPN6QHylWpCrfvvPOO/vnPf+qhhx4q6zwAAABApZSfn69WrVqZHQNAGbHn5Chz/35Jp3vcApWRzddXXuHhyktIUMrq1arZr5/ZkYCrSqmu5UhNTdUdd9xR1lkAAACASuvuu+/WsmXLzI4BoIxk7Nkj2e3yCg2Vd3i42XGAK8a3Th1JUvLPP8s4Z6hMAFdWqXrc3n777fr55581YMCAss4DAAAAVEq5ublatGiR1q1bp5iYGHl4uJ6KP/XUU8Vaz6+//qo5c+Zox44dSkxM1IwZM9S1a1fn/HHjxmnp0qUuy3Ts2FFz5sxxPj516pQmT56sH374QVarVd26ddPTTz8tf3//y9hD4OqSvnOnJCmwSROTkwBXlnf16pKHh/JTUpS+c6eCYmPNjgRcNUpVuI2KitJbb72lrVu3Kjo6ushJ5+DBg8skHAAAAFBZ7NmzR40aNZIk/fnnny7zSnKjsqysLMXExKhv374XvLdEp06dNGXKFOdjLy8vl/mjR49WYmKi5s6dq/z8fI0fP17PPvusXnvttWLnAK52hePbMkwCKjuLzSZLeLiM+Hgl//QThVugHJWqcLtw4UL5+flp48aN2rhxo8s8i8VC4RYAAAA4x4IFC8pkPZ07d1bnzp0v2sbLy0thYWHnnbd//36tWbNGixcvVuyZD98TJkzQQw89pDFjxiiCG88Al1SQnq7sw4cl0eMWVwdLjRoy4uN16rfflJ+aKs/gYLMjAVeFUhVuv//++7LOAQAAAKCMbNy4Ue3atVNQUJDatm2rf/7zn6pSpYokacuWLQoKCnIWbSWpffv2slqt2rZtm2699dZib8dut5d5drifwteZ1/v/S925UzIMedesKWtgoPO5sdlsMhyOEo0DWtjWXZdzGIbzX3fPatZyZmyzPJdzGIYsgYHyq19fWQcOKGn1aoXfeWext4mKj78DZaskz2OpCrcAAAAASmbQoEEXHRJh/vz5ZbKdTp066dZbb1WtWrV05MgRvf766xo2bJgWLlwom82mpKQkVa1a1WUZDw8PBQcHKzExsUTb2r59e5lkRsXA632W1atlkZQTHq7ff/9d0un3UfPmzZWQkKCC7Oxir8onN1cRkpKSkpSXmem2yyWcOCGfvLwKkbW8l6tIWUu7nIevr0JvvlmHDxxQ/PLliq9RQyrBMD+oHPg7UP5KVbi91I0Tzh5PCwAAAIDUuHFjl8cFBQXatWuX9u7dq169epXZdrp37+78f0xMjGJiYtS1a1dnL9yyFBsbK5vNVqbrhPux2+3avn07r/dZdn/yiXIl1bvxRgW3aOEyLzw8XI7c3GKvyyMwUJIUGhoqx5n/u9NyDsNQwokTCo+IkFdQkFtnNWs5M7ZZnss5DEMpaWmq0ratjn70kRypqarv5cX4zlcR/g6UrcLnszhKVbhNS0tzeVxQUKC9e/cqLS1Nbdu2Lc0qAQAAgEpt/Pjx553+9ttvKysr64ptt3bt2qpSpYoOHTqkdu3aKTQ0VCkpKS5tCgoKlJqaesFxcS/EZrPxAe4qwut9Wl5KinKPH5csFgU1aVLkObFYrbJYrcVeX2Fbd13OeuZyeqvF4vZZzVrOjG2W53KFx4DNx0dV27dX0qpVSvnxR4U0a1bs7aJy4O9A+StV4XbGjBlFpjkcDk2cOFG1a9e+7FAAAADA1eKuu+5Sv379NHbs2Cuy/uPHj+vUqVPOomzLli2VlpamHTt2qGnTppKk9evXy+FwqBkfwoFLSt+5U5LkV6+ePPz9TU4DlK/QLl2UtGqVTm3erPxTp+QZEmJ2JKBSK9lXSBdbkdWqBx54QPPmzSurVQIAAACV3pYtW+Tl5VXs9pmZmdq1a5d27dolSTp69Kh27dql+Ph4ZWZm6uWXX9bvv/+uo0ePat26dRoxYoSioqLUqVMnSVKDBg3UqVMnPfPMM9q2bZs2bdqkyZMnq3v37oqIiLgi+whUJul//CFJCmzSxOQkQPnzq1NH/g0bSna7klevNjsOUOmV6c3Jjhw5ooKCgrJcJQAAAFApPPbYYy6PDcNQYmKiduzYoREjRhR7PTt27NDgwYOdjwvvL9G7d29NnDhRf/75pz777DOlp6crPDxcHTp00KhRo1yKw6+++qomT56sIUOGyGq1qlu3bpowYcJl7iFQ+RmG4exxy/ieuFqF3nyzMvftU9KPPyqiR48SDysBoPhKVbg99+ZjhSedP/74o3r37l0mwQAAAIDKJPCcm8BYLBbVq1dPI0eOVMeOHYu9njZt2mjPnj0XnD9nzpxLriMkJESvvfZasbcJ4LTc48eVf/KkLB4eCrjmGrPjAKao0qaNjn74ofISE5W+Y4eCGGYHuGJKVbj948ylIYWsVquqVq2qcePGqW/fvmUSDAAAAKhMzu38AKDiKext63/NNbJ6e5ucBjCH1dtbVTt0UOKKFUr84QcKt8AVVKrC7YIFC8o6BwAAAHBV2LFjh/bv3y9Juuaaa9SEcTKBCoPxbYHTQrt0UeKKFUrdvFl5J0/Kq0oVsyMBldJljXGbkpKiAwcOSJLq16+vqlWrlkkoAAAAoLJJTk7Wv/71L23cuFFBQUGSpLS0NLVp00ZvvPEG59KAmzMcDqWfuSkg49viaudbq5b8o6OV+eefSv7pJ9Xo1cvsSEClVKoRpLOysvTUU0+pY8eOuv/++3X//ferU6dOGj9+vLKzs8s6IwAAAFDhTZ48WZmZmfrqq6+0ceNGbdy4UV9++aUyMjL0wgsvmB0PwCVkHz4se0aGrD4+8q9Xz+w4gOlCb75ZkpT8448yHA6T0wCVU6kKt1OnTtWvv/6qd955R7/99pt+++03/fe//9Wvv/6qqVOnlnVGAAAAoMJbs2aNnnvuOTVo0MA5rWHDhnruuee0evVqE5MBONf5ilCF49sGNGoki8dlXbwKVApVbrhBtoAA5SUnK/X3382OA1RKpfprs3z5ck2bNk1t2rRxTuvcubO8vb31z3/+U5MmTSqzgAAAAEBl4HA45OnpWWS6h4eHHPRUAtyKxWpVwsqVcuTmOqcl//TTmZkWHf/qqyLL2AIDFXbjjeUVETCd1ctL1W68UQlff63EFSsU0qqV2ZGASqdUPW5zcnIUGhpaZHq1atWUk5Nz2aEAAACAyqZt27Z68cUXdeLECee0EydOaMqUKWrXrp2JyQCcjyM31/ljz85WXkKCJMmzShWXeYU/xllFXuBqEda1q2SxKH3HDuXEx5sdB6h0SlW4bdGihaZNm6bcs/4w5eTkaPr06WrRokVZZQMAAAAqjWeffVYZGRm65ZZb1LVrV3Xt2lW33HKLMjIy9Mwzz5gdD8BF5KekyLDbZfHykseZmwsCkLzDwhTcsqUkKXHFCpPTAJVPqYZKGD9+vB588EHdeOONatSokSRp9+7d8vLy0nvvvVemAQEAAIDKoEaNGlq6dKnWrl2rAwcOSJIaNGig9u3bm5wMwKXkJSZKOl2kslgsJqcByp/V01OGwyGLtWj/v7Bbb1Xq5s1K/vln1bznHtl8fYu0udCyAC6uVIXbmJgYfffdd1q2bJnzpLNHjx7q2bOnfHx8yjQgAAAAUJGtW7dOkydP1qJFixQQEKAOHTqoQ4cOkqT09HR1795dkyZNUuvWrU1OCuBCcs8Ubr3CwkxOApjDarOdd+xnSTIMQx5BQSpIS9NfM2cqIDradVlvb4V37VqecYFKo1SF23fffVfVqlXTPffc4zJ98eLFSklJ0UMPPVQm4QAAAICKbt68ebrnnnsUEBBQZF5gYKD69++vuXPnUrgF3JSjoED5KSmSKNwChWM6n8uvXj2lbd2qzD//lG+dOvRMB8pIqfqpL1y4UPXr1y8y/ZprrtEnn3xy2aEAAACAymLPnj3q1KnTBed36NBBO3fuLMdEAEoiPzlZMgxZfX1l8/c3Ow7glnxq15bFw0P2jAznjfwAXL5SFW4TExMVdp5vGqtWrarEM5eQAAAAAJCSkpLk4XHhC908PDyUcqY3HwD3w/i2wKVZPT3lGxUlSco6M6QmgMtXqsJtjRo1tHnz5iLTN23apPDw8MsOBQAAAFQWERER2rt37wXn79mz57ydIgC4B8a3BYrHr149SVLu8eMqyMw0OQ1QOZSqcNuvXz+99NJL+vTTTxUXF6e4uDgtXrxYU6ZMKTLuLQAAAHA169y5s9566y3lnmdMwJycHL399tu6+eabTUgG4FIceXkqOHVKEoVb4FI8AgPldaYzH71ugbJRqpuTPfjggzp16pQmTZqk/Px8SZK3t7cefPBBPfzww2UaEAAAAKjIHnnkEX333Xe67bbbNHDgQNU70yPpwIED+uijj2S32zV8+HCTUwI4n8JhEmyBgbL5+pqcBnB/fg0aKC8hQdmHDimgcWNZLzJUEIBLK9U7yGKx6N///rdGjBih/fv3y8fHR3Xr1pWXl1dZ5wMAAAAqtNDQUH3yySeaOHGiXn/9dRmGIen0OXXHjh317LPPKjQ01OSUAM7n7PFtAVyad0SEbP7+smdmKufIEefwCQBK57K++vD391ezZs3KKgsAAABQKUVGRmrWrFlKTU3VoUOHJElRUVEKDg42ORmAi2F8W6BkLBaL/OrXV/r27crcv1++deuaHQmo0Eo1xm15OnHihEaPHq02bdqoWbNm6tmzp7Zv3+6cbxiG3nrrLXXs2FHNmjXTAw88oIMHD7qs49SpU3ryySfVqlUrtW7dWuPHj1cmA2UDAACgnAUHB6tZs2Zq1qwZRVvAzdmzsmTPyJAkedErHig236goWTw8ZE9PV15CgtlxgArNrQu3qampGjBggDw9PTVr1ix99dVXGjt2rMtJ7qxZs7RgwQJNnDhRixYtkq+vr4YOHepy84fRo0dr3759mjt3rmbOnKnffvtNzz77rBm7BAAAAACoAHJPnJAkeYSEyMqwgECxWT095RsVJUnK3LfP5DRAxebWhdtZs2apevXqmjJlipo1a6batWurY8eOqlOnjqTTvW3nz5+vRx55RF27dlWjRo30yiuvKCEhQStXrpQk7d+/X2vWrNELL7yg5s2bq3Xr1powYYK++uornTjzhxgAAAAAgLPlnukpyPi2QMn5NWggScpLSFD+qVPmhgEqMLe+vd/333+vjh07auTIkfr1118VERGh++67T/fcc48k6ejRo0pMTFT79u2dywQGBqp58+basmWLunfvri1btigoKEixsbHONu3bt5fVatW2bdt06623FjuP3W4v1X7YbLZSLYeKobTHxeXgmKq8OJ5Q1sr7mOJ4qtxKczyZ8XsNAC6XYRjKO9PRh/FtgZLz8PeXd82ayo2PV+aff5odB6iw3Lpwe+TIEX388cf6+9//ruHDh2v79u164YUX5Onpqd69eyvxzEDx1apVc1muWrVqSkpKkiQlJSWpatWqLvM9PDwUHBzsXL64zh5bt7h8fX3VpEmTEi+HimPPnj3Kzs4ut+1xTFVuHE8oa+V5THE8VX7l/TsKAMySe+KE7FlZksUir3M+bwIoHv+GDZUbH6+sgweVn5oqT8Z2B0rMrQu3hmGoadOmeuKJJyRJTZo00d69e/XJJ5+od+/e5Z4nNjaWnkQoIiYmxuwIqEQ4nlDWOKZQlkpzPNnt9lJ9+Q0AZkrfuVOS5Fm1qiwebv2xGXBbnlWryrNKFeWfPKmkVatUo08fsyMBFY5b/wUKCwtTgzPjohSqX7++li9f7pwvScnJyQoPD3e2SU5OVqNGjSRJoaGhSklJcVlHQUGBUlNTncsXl81mo3CLIjgmUJY4nlDWOKZQljieAFwt0v/4Q5LkfdbnTAAlY7FY5NewoVJ//VWJq1YpokcPbvQHlJBb35ysVatW+uuvv1ymHTx4UJGRkZKkWrVqKSwsTOvWrXPOz8jI0NatW9WyZUtJUsuWLZWWlqYdO3Y426xfv14Oh0PNmjUrh70AAAAAAFQUhsPhLNwyvi1weXxq1pTNz08FaWk6uX692XGACsetC7dDhgzR1q1bNXPmTB06dEjLli3TokWLdN9990k6/e3N4MGD9c4772jVqlXas2ePxowZo/DwcHXt2lWS1KBBA3Xq1EnPPPOMtm3bpk2bNmny5Mnq3r27IiIizNw9AAAAAICbyT5yRPaMDFk8PORZpYrZcYAKzWK1yv+aayRJJ779VoZhmJwIqFjceqiEZs2aafr06Xr99dc1Y8YM1apVS+PHj9ddd93lbDNs2DBlZ2fr2WefVVpamq677jrNnj1b3t7ezjavvvqqJk+erCFDhshqtapbt26aMGGCGbsEAAAAAHBjhePbeoWFyWJ1675OQIXg16CBMnbvVs6RI0rfuVNBTZuaHQmoMNy6cCtJN998s26++eYLzrdYLBo1apRGjRp1wTYhISF67bXXrkQ8AAAAAEAlUli49eYKTaBMWL28VO3GG5W4YoUSvvmGwi1QAnx9CAAAAACAJEdBgTJ275YkeVevbnIaoPIIv+02yWJR2rZtyj561Ow4QIVB4RYAAAAAAEmZ+/bJkZcnj6AgeQQHmx0HqDS8IyIU0rq1JOnE11+bnAaoOCjcAgAAAACg/z9MQuC118pisZicBqhcIu68U5J0cu1a5aWkmJwGqBgo3AIAAAAAICl9xw5Jpwu3AMqWf8OGCoiJkWG3K2H5crPjABUChVsAAAAAwFXPnpWlzAMHJElBFG6BKyKiRw9JUtL338uelWVyGsD9UbgFAAAAAFz10nfvlhwOeVevLq/QULPjAJVSULNm8omMlCMnR0k//GB2HMDtUbgFAAAAAFz1GCYBuDIsNpsMh+P0/61W51i3CcuXy1FQcNFlC5cDrlYeZgcAAAAAAMBshTcmC2ra1OQkQOVisdlksVqVsHKlHLm5Mux2WX19lX/ypA6+84786tc/73JWb2+Fd+1azmkB90KPWwAAAADAVS0vJUU58fGSxaKAxo3NjgNUSo7c3NOF24IC+Z8p1mbs2iV7To5z3rk/wNWOwi0AAAAA4KqW/scfkiS/evXk4e9vchqg8vOtV08WDw8VpKcr9/hxs+MAbovCLQAAAADgquYc35ZhEoByYfX0lF+9epKkzL17TU4DuC8KtwAAAACAq5ZhGP9/fFtuTAaUG78GDSSLRfnJycpLSTE7DuCWKNwC/6+9+w6PotzbOP7d3fROGhB6KAmQBAIoAqGIIIqiAsd2FAsI4hHBDi+iSEfUA4IFBEVAEBWUI4JwQERAUHqVIkVagBQgPdkku+8fMXuMAUwgZFLuz3XtJZl5ntl7dsfs5LfPPCMiIiIiIpVWZmws2RcvYnJxwbNBA6PjiFQaFnd33GvVAjTqVuRyVLgVERERERGRSit/mgSvsDDMLi4GpxGpXDwaNgQgKzaWnNRUg9OIlD0q3IqIiIiIiEilpWkSRIzj7OODa9WqgEbdilyKCrciIiIiIiJSKdlzckjZvx8AbxVuRQzh2agRABknTpCbmWlwGpGyRYVbERERERERqZTSjh7FlpmJxcsL99q1jY4jUik5BwTgXKUK2GykHz1qdByRMkWFWxEREREREamU8qdJ8G7aFJNZfx6LGMFkMuH5x1y36UePYsvJMTiRSNmhTyYRERERERGplJL/uDGZ5rcVMZZrSAgWT0/s2dlk/P670XFEygwVbkVERERERKTSyUlLI+3wYQC8IyIMTiNSuf151G3a4cPYbTaDE4mUDSrcioiIiIiISKWT8uuvYLPhGhKCa1CQ0XFEKj332rUxu7piy8gg89Qpo+OIlAkq3IqIiIiIiEilk7xrFwC+kZEGJxERAJPFgkf9+gCkHTqE3W43OJGI8VS4FRERERERkUrFbreTvHs3AD7NmhmcRkTyeYSGYnJyIiclhazYWKPjiBhOhVsRERERERGpVDJPnSL7wgVMLi54hYUZHUdE/mB2dsajXj0AUvfvNziNiPFUuBUREREREZFKJemPaRK8GzfG7OJicBoR+TOPBg3AbMaakEDqwYNGxxExlAq3IiIiIiIiUqk4pkmIijI4iYj8lcXNDffatQE4++23BqcRMZYKtyIiIiIiIlJp5GZkkHboEKD5bUXKKs8GDQBI3rmTjJMnDU4jYhwVbkVERERERKTSSPn1V+y5ubgGB+NWtarRcUTkEpy8vXGrWROAc8uXG5xGxDgq3IqIiIiIiEil4ZgmQaNtRco0r8aNATi/aRPWhASD04gYQ4VbERERERERqRTsdrvmtxUpJ1wCAvBu0gRyczm3YoXRcUQMocKtiIiIiEg5smXLFgYOHEhMTAxhYWGsXr26wHq73c4777xDTEwMUVFRPPbYY/z+++8F2ly8eJEXXniBFi1a0KpVK4YPH05aWlop7oWIMTJjY7EmJGBydsYrPNzoOCLyN6reeScAiT/8QE5KisFpREqfCrciIiIiIuVIeno6YWFhjBw58pLrZ86cybx583j99df54osvcHd3p1+/fmRlZTnavPjiixw+fJjZs2czffp0tm7dymuvvVZauyBimPzRtl5hYVjc3AxOIyJ/xzsiAvc6dbBZrcSvWmV0HJFSp8KtiIiIiEg50rFjR5577jm6du1aaJ3dbmfu3Lk89dRTdOnShfDwcCZNmkRcXJxjZO6RI0dYv349Y8eOpVmzZrRq1YoRI0awbNkyzp07V9q7I1KqNE2CSPliMpkco27jVq0iNzPT4EQipcvJ6AAiIiIiIlIyTp06RXx8PG3btnUs8/b2plmzZuzYsYM77riDHTt24OPjQ2RkpKNN27ZtMZvN7N69+5IF4cvJzc0t0fxSNuW/z+X9/c7NyiL1wAEAvCIirrg/FosFu82G3WYr8vbz21a0fja73fHfsp7VqH5GPGdp9ss/Bq7m+a72Of/cz6dFC1yCgrDGxxO/di1BxfickpJRUT4HyorivI4q3IqIiIiIVBDx8fEABAQEFFgeEBBAwh935E5ISMDf37/AeicnJ3x9fR39i2rPnj3XkFbKm/L0fpvNZiKaNsXZxcWxLPXQIew5ObgEBuJRsyYmk+mK24iPjyc7Pb3Iz+mWlUVV8v4fsxZjzujy0i/u3DncrNZykbW0+5WnrFfdr0oVuIp+1/KcTu7uVAf27d9PTkQEph9+4PQ333Da3x8slmJlkJJRnj4HKgoVbkVERERE5KpERkZi0R/PFV5ubi579uwpd++3xWLh3H//i+2P+Z2Ttm8HwMnHh7PffnvZfk7e3gR16kRQUJCjb1E4eXsDEBgYiO2Pf1eEfja7nbhz5wiuWhUXH58yndWofkY8Z2n2s9ntJFutV/V815LV7OoKQEREBLZGjdi/bRs5ycnUzsqiyp+uLJHrr7x+DpRV+a9nUahwKyIiIiJSQQQFBQGQmJhIcHCwY3liYiLh4eFA3h/O58+fL9AvJyeHpKQkR/+islgs+gOuEimP77c9Oxt7djYAWWfOAOASFORYdrk+ACazGZO56LeFyW9b0fqZ/7hc3WwylfmsRvUz4jlLs5/5T9MbGPHaWCwWLO7uBHfrRuyXXxK3fDkBMTF/O2peSl55/Bwo73RzMhERERGRCqJmzZoEBQWxadMmx7LU1FR27dpFdHQ0ANHR0SQnJ7N3715Hm59//hmbzUaUbtgkFVROaiq5aWlgMuFSzC8oRKRsCLzlFsxubmSeOkXyrl1GxxEpFSrcioiIiIiUI2lpaezfv5/9+/cDeTck279/P7GxsZhMJh555BE++OADvv/+ew4ePMjLL79McHAwXbp0AaB+/fq0b9+eV199ld27d7Nt2zbGjBnDHXfcQdWqVY3cNZHrJuvsWQBcAgMxOzsbnEZEroaTpyeBnTsDcO4K052IVCSaKkFEREREpBzZu3cvjzzyiOPnCRMmANCzZ08mTpxI//79ycjI4LXXXiM5OZmWLVsya9YsXP+YKxDgrbfeYsyYMTz66KOYzWZuvfVWRowYUer7IlJa8qdJcK1WzeAkInItgrt1I37lSlIPHiT10CG8GjUyOpLIdaXCrYiIiIhIOdK6dWsOHjx42fUmk4khQ4YwZMiQy7bx8/Pj7bffvh7xRMocm9WKNTERANfq1Q1OIyLXwsXfH/927Uhct45zy5apcCsVnqZKEBERERERkQor69w5sNtx8vbGydPT6Dgico2q3nEHmEwkbd9OxunTRscRua5UuBUREREREZEKK39+W422FakY3EJC8G3ZEoBzy5YZnEbk+lLhVkRERERERCoku82WN+IWzW8rUpFUu+MOAC5s3OiYCkWkIlLhVkRERERERCoka3w89uxszC4uOPv7Gx1HREqIZ4MGeIWHY8/NJW7FCqPjiFw3KtyKiIiIiIhIhZT5x/yXrtWqYTKZDE4jIsVhsliw22yXXV+1Rw8AEn74gZzU1ALrrtRPpDxxMjqAiIiIiIiISEmz2+1kxsYCmt9WpDwyWSyYzGbiVq/GlpVVaL3dbsfJz4+cixc59v77eDdtCoDZ1ZXgLl1KO67IdaERtyIiIiIiIlLhZJ46RW5qKpjNuAQHGx1HRK6SLSvrkg+71YpngwYApB48SG5ammOdSEWhwq2IiIiIiIhUOBe3bAHANTgYs5MuNhWpiNxq1MDi4YHdaiX9xAmj44iUuHJVuP3www8JCwtj3LhxjmVZWVmMGjWK1q1bE01vtwMAAE0JSURBVB0dzTPPPENCQkKBfrGxsQwYMIBmzZrRpk0b3njjDXJycko7voiIiIiIiJSSi1u3AuAWEmJwEhG5XkxmMx4NGwKQ/ttvmttWKpxyU7jdvXs3CxcuJCwsrMDy8ePH88MPPzBlyhTmzZtHXFwcgwYNcqzPzc3lySefJDs7m4ULFzJx4kS+/vprpk6dWtq7ICIiIiIiIqUg69w5Mk6eBJNJ89uKVHAetWtjcnEhNz3dcUNCkYqiXBRu09LSeOmllxg7diy+vr6O5SkpKSxevJhhw4bRpk0bIiIiGD9+PDt27GDnzp0AbNiwgcOHD/Pmm2/SuHFjOnbsyJAhQ5g/fz5Wq9WgPRIREREREZHrJX+0rUtwMGYXF4PTiMj1ZHJywrN+fQDSfvsNu91ucCKRklMuCrejR4+mY8eOtG3btsDyvXv3kp2dXWB5/fr1CQkJcRRud+7cSaNGjQgMDHS0iYmJITU1lcOHDxcrR25u7lU9pGK72uPiWh5Scel4kpKm40lKko4LESkv8gu37jVrGpxEREqDR2goJouFnKQkss6eNTqOSIkp8zO0L1u2jF9//ZVFixYVWpeQkICzszM+Pj4FlgcEBBAfH+9o8+eiLeD4Ob9NUe3Zs6dY7QHc3d1p0qRJsftJ+XHw4EEyMjJK7fl0TFVsOp6kpJXmMaXjqeIr7d9RIiJXw3rhAml/DNJxU+FWpFIwu7jgXrcu6UeOkPrrr0bHESkxZbpwe+bMGcaNG8fHH3+Mq6ur0XGIjIzEYrEYHUPKmL/OuyxyLXQ8SUnTMSUl6WqOp9zc3Kv68ltE5GolbdsGgGeDBljc3bFlZRmcSERKg2eDBqQfPYo1Pp60w4fxbNDA6Egi16xMF2737dtHYmIivXr1cizLzc1ly5YtzJ8/n48++ojs7GySk5MLjLpNTEwkKCgIyBtdu3v37gLbTUhIAHC0KSqLxaLCrRSiY0JKko4nKWk6pqQk6XgSkfLgwubNAPi1aoVmuhSpPCweHrjXqkXGiROcXbaM+kOGGB1J5JqV6Tlub7rpJpYuXcqSJUscj4iICHr06OH4t7OzM5s2bXL0OXr0KLGxsTRv3hyA5s2bc+jQIRITEx1tNm7ciJeXFw307YuIiIiIiEiFkX3xIqkHDgDgd+ONBqcRkdLm2bAhkDfyPjM21uA0IteuTI+49fLyolGjRgWWeXh44Ofn51jeu3dvJk6ciK+vL15eXowdO5bo6GhH4TYmJoYGDRrw8ssv89JLLxEfH8+UKVN46KGHcNHdRUVERERERCqMC1u2gN2OR/36uBbzCksRKf+cfHxwq1GDzNOnObdsGXX69zc6ksg1KdMjboti+PDhdOrUicGDB/Pwww8TGBjItGnTHOstFgvTp0/HbDZz//3389JLL3HPPfcwePBgA1OLiIiIiIhISbv4yy8AVGnd2uAkImIUr8aNATj/009Yz583OI3ItSnTI24vZd68eQV+dnV1ZeTIkYwcOfKyfWrUqMHMmTOvdzQRERERERExiPX8eVIPHQJUuBWpzFwCA/EKCyP14EHiVq6k5oMPGh1J5KqV+xG3IiIiIiIiIhc3bwa7Hc9GjXDx9zc6jogYqOqddwKQsGYNOWlpBqcRuXoq3IqIiIiIiEi5d0HTJIjIH3yaNcOtZk1smZkkfP+90XFErpoKtyIiIiIiIlKuZSUkkHb4MJhMVLnxRqPjiIjBTCaTY9Rt3MqV2KxWgxOJXB0VbkVERERERKRcu/DzzwB4hYfj7OdnbBgRKRP8W7fGJSCAnORkEtetMzqOyFVR4VZERERERETKLbvdzvkNGwDwb9vW4DQiUlaYnJwIvv12AM599x12m83gRCLFp8KtiIiIiIiIlFsZx4+Tefo0Jmdn/G64weg4IlKGBHTsiMXLC2tcHBe3bTM6jkixqXArIiIiIiIi5db5n34CwDc6GidPT4PTiEhZYnFzI+iWWwA4t2wZdrvd4EQixaPCrYiIiIiIiJRL9txczm/aBIB/u3YGpxGRsiioa1dMzs6kHzlC2qFDRscRKRYVbkVERERERKRcSt63j5ykJCxeXvhGRRkdR0TKIGdfX8cXO+eWLzc4jUjxqHArIiIiIiIi5VL+NAn+N92EycnJ4DQiUlZV7d4dgKTt28k8c8bgNCJFp8KtiIiIiIiIlDu5GRkkbd0KaJoEEbkyt+rV8W3RAtCoWylfVLgVERERERGRcufCzz9js1pxrV4dj/r1jY4jImWEyWLBbrMVWp4/6vb8Tz+RnZR0yb6X6idiJF1LIiIiIiIiIuVOwtq1AAR27IjJZDI2jIiUGSaLBZPZTNzq1diyshzL7XY7zgEBZCcmcuz99/H5y7zYZldXgrt0Ke24IlekEbciIiIiIiJSrqSfOEH60aOYLBb8Y2KMjiMiZZAtK6vAw2614vnH6Py0334jJy2tUBuRskaFWxERERERESlXEv8YbevbogXOvr7GhhGRcsM1JASLpyf27Gwyjh83Oo7I31LhVkRERERERMoNm9XK+Z9+AiCwUydjw4hIuWIymfBs0ACA9MOHNaetlHkq3IqIiIiIiEi5cXHrVnLT03EJCMA7IsLoOCJSzrjXro3JxYXc9HSyzpwxOo7IFalwKyIiIiIiIuVGwg8/ABDQoQMms/6kFZHiMTk54REaCuTNdWu32w1OJHJ5+pQTERERERGRciHj5ElSDxwAs5kATZMgIlfJMzQUzGayL1wgOzHR6Dgil6XCrYiIiIiIiJQL8atWAeDXsiUu/v4GpxGR8srs6op7nTpA3qhbkbJKhVsREREREREp83LS0hw3JQu69VaD04hIeZd/k7Kss2fJSU42OI3IpalwKyIiIiIiImVe4o8/YrNaca9VC6+wMKPjiEg55+TlhWv16gCkHT5scBqRS1PhVkRERERERMo0u81G/OrVQN5oW5PJZHAiEakIPBs2BPLmz87NyDA4jUhhKtyKiIiIiIhImZa0cyfW+Hgsnp74t2ljdBwRqSBcAgJw9vcHm01z3UqZpMKtiIiIiIiIlGlxy5cDENCxI2ZXV4PTiEhFkj/qNu3wYXIzMw1OI1KQCrciIiIiIiJSZqUcOEDqwYOYnJwIvu02o+OISAXjWr06Fk9P7FYriT/+aHQckQKcjA4gIiIiIiIicjn5o23da9fm/MaNRepj8fYmqEOH6xlLRCoIk8mEZ8OGJO/cSdyKFQR16YLJYjE6lgigEbciIiIiIiJSRmWcPEnSjh0AeISGYsvKKtLDnpVlcHIRKU/ca9fG7OqKNSGBC5s3Gx1HxEGFWxERERERESmTzi1bBoBbrVo4eXsbnEZEKiqTxeKY6/bc0qXY7XaDE4nkUeFWREREREREypysuDjOb9oEgFfjxganEZGKzrNhQ8xubgVG+osYTYVbERERERERKXPOfP012Gx4R0bi4u9vdBwRqeDMrq4EdekCwNn//EejbqVMUOFWREREREREypSM06c5/9NPAIT07m1wGhGpLIJvuw2TiwvpR4+Ssnev0XFEVLgVERERERGRsuXM4sVgt+PbsiWe9esbHUdEKglnX1+Cbr4ZgDNLlmjUrRhOhVsREREREREpM9J//52LW7aAyaTRtiJS6oLvuAOTkxNphw6ReuCA0XGkklPhVkRERERERMqM2C+/BKDKTTfhXquWwWlEpLJxqVKFgI4dgby5bkWMpMKtiIiIiIiIlAlJO3eSvHs3WCxU12hbETFI1TvvBIuFlH37SDt82Og4UompcCsiIiIiIiKGs+XkcGr+fACCb70Vt6pVDU4kIpWVa2AgAe3aAXBGo27FQCrcioiIiIiIiOHiV64k6+xZnHx9qd6zp9FxRKSSq9qjB5hMJO/cSfrvvxsdRyopFW5FRERERETEUNkXL3JmyRIAatx3HxZ3d2MDiUil51atGlVuugnQXLdiHBVuRURERERExFCnFizAlpmJR2go/jExRscREQGg2l13AXBx61bSjx83OI1URircioiIiIhUINOmTSMsLKzA47bbbnOsz8rKYtSoUbRu3Zro6GieeeYZEhISDEwsld3FrVu5sGkTmEzUevRRTGb9mSoiZYN7zZqOUbexixYZnEYqI30iioiIiIhUMA0bNmTDhg2Ox4IFCxzrxo8fzw8//MCUKVOYN28ecXFxDBo0yMC0UpnlpKZy4pNPAKh6xx14hoYaG0hE5C+q9+oFZjPJO3eSeuiQ0XGkknEyOoCIiIiIiJQsi8VCUFBQoeUpKSksXryYt956izZt2gB5hdzu3buzc+dOmjdvXqznyc3NLYm4Usblv8/X4/0+OW8eOUlJuIaEEHzXXZd8DovFgt1mw26zFXm7+W2L2+9a+lbUfja73fHfsp7VqH5GPGdp9ss/Bq7m+a72OY3s99ffQ87BwfjHxHB+3TpOf/EF9YcNw2QyFXm7FcH1/ByojIrzOqpwKyIiIiJSwRw/fpyYmBhcXV1p3rw5L7zwAiEhIezdu5fs7Gzatm3raFu/fn1CQkKuqnC7Z8+eEk4uZVmJv9+HD2PauBG7yURm+/bs/vXXQk2cnJxo1qwZcXFx5GRkFHnTbllZVAUSEhKwpqUVK9bV9q3o/eLOncPNai0XWUu7X3nKetX9qlSBq+hnSNar7Ofk7k51YO/eveTk5BRc2bAh/PQTaQcPsuubb6BOnSJvtyLR537pU+FWRERERKQCiYqKYsKECdSrV4/4+Hjee+89HnroIZYuXUpCQgLOzs74+PgU6BMQEEB8fHyxnysyMhKLxVJS0aWMys3NZc+ePSX6fmfFxXFoxgxsQPDttxNy++1XbB8cHIwtK6vI23fy9gYgMDAQ2x//vt59K2o/m91O3LlzBFetissfvzvKalaj+hnxnKXZz2a3k2y1XtXzlXbWa+lndnUFICIi4pLrT588ScJ//4vH9u007NGjUs3HfT0+Byqz/NezKFS4FRERERGpQDp27Oj4d3h4OM2aNePmm2/mu+++w83NrUSfy2Kx6A+4SqSk3m9bdjYnPvgAW0YGng0bUvPeezH9zXZNZnOxiiT5bYvb71r6VtR+5j8uHzebTGU+q1H9jHjO0uxn/tN0A5Xhtbnc77nqd9/N+XXryDh+nKTNmwlo167I264o9Llf+irP1wMiIiIiIpWQj48PdevW5cSJEwQGBpKdnU1ycnKBNomJiZecE1fkeji9YAHpx45h8fKi3qBBmJw0nkhEyj5nHx+q3XUXALFffontj1HIIteTCrciIiIiIhVYWloaJ0+eJCgoiIiICJydndm0aZNj/dGjR4mNjS32/LYiVyNhzRriV68GoO7Agbj4+xucSESk6IK7dcMlIIDsxETiVqwwOo5UAircioiIiIhUIG+88QabN2/m1KlTbN++nUGDBmE2m7nzzjvx9vamd+/eTJw4kZ9//pm9e/cyfPhwoqOjVbiV6y55zx5OzJkDQPXevfFt1szgRCIixWN2cSHk3nsBOLt0KdlJSQYnkoquTBduZ8yYQe/evYmOjqZNmzb861//4ujRowXaZGVlMWrUKFq3bk10dDTPPPMMCQkJBdrExsYyYMAAmjVrRps2bXjjjTcK3yFQRERERKQCOHv2LM8//zy33XYbzz77LH5+fnzxxRf4/zGycfjw4XTq1InBgwfz8MMPExgYyLRp0wxOLeWJ/U/zXRZVxqlTHJ02DWw2/Nu1o9rdd1+HZCIi11+VNm3wqFcPW2YmsV9+aXQcqeDK9GRCmzdv5qGHHiIyMpLc3Fz+/e9/069fP5YtW4aHhwcA48eP58cff2TKlCl4e3szZswYBg0axMKFC4G8O7U9+eSTBAYGsnDhQuLi4hg6dCjOzs48//zzRu6eiIiIiEiJmzx58hXXu7q6MnLkSEaOHFlKiaSiMZnNxK1ejS0rq0jtc1JTSVyzBltGBl5hYdTu1w+TyXSdU4qIXB8ms5maDz/MoTFjSPzxRwI7dcKzQQOjY0kFVaZH3H700Uf06tWLhg0bEh4ezsSJE4mNjWXfvn0ApKSksHjxYoYNG0abNm2IiIhg/Pjx7Nixg507dwKwYcMGDh8+zJtvvknjxo3p2LEjQ4YMYf78+Vg1kbSIiIiIiEix2bKyivTIvniRxDVryE1Pxy0khNAhQzA7OxsdX0Tkmng1aoR/TAwAJ+fOvaorEUSKokyPuP2rlJQUAHx9fQHYu3cv2dnZtG3b1tGmfv36hISEsHPnTpo3b87OnTtp1KgRgYGBjjYxMTG8/vrrHD58mCZNmhT5+XNzc68qt8Viuap+Uj5c7XFxLXRMVVw6nqSklfYxpeOpYrua48mI32siUjbkZmVxfsMGctPTsXh60mDYMJy8vY2OJSJSImo88ABJ27eTfuwYCT/8QNAttxgdSSqgclO4tdlsjB8/nhYtWtCoUSMAEhIScHZ2xsfHp0DbgIAA4uPjHW3+XLQFHD/ntymqPXv2FDu3u7t7sYrDUv4cPHiQjIyMUns+HVMVm44nKWmleUzpeKr4Svt3lIiUX7kZGXlF29RUzO7uBNx8My5VqhgdS0TkskwWC3abDZO5aBenO/v6Ur1XL059+imxX36JX6tWOP8x0FCkpJSbwu2oUaP47bffWLBggWEZIiMjNZJICgkLCzM6glQgOp6kpOmYkpJ0NcdTbm7uVX35LSLlV05aGhd++onctDTM7u74x8Tg5OVldCwRkSsyWSzFnsPbbrPhXKUK2RcucGr+fOr961/XOaVUNuWicDt69GjWrl3Lp59+SrVq1RzLAwMDyc7OJjk5ucCo28TERIKCghxtdu/eXWB7CQkJAI42RWWxWFS4lUJ0TEhJ0vEkJU3HlJQkHU8i8ndykpM5v3EjtowMLJ6eVGnXDidPT6NjiYgUWf4c3UXle8MNJKxaxYVNm6hy0034tWhxHdNJZVOmb05mt9sZPXo0q1atYs6cOdSqVavA+oiICJydndm0aZNj2dGjR4mNjaV58+YANG/enEOHDpGYmOhos3HjRry8vGigu/6JiIiIiIiUCGtCAonr1uUVbb288G/fXkVbEanwXPz9Cb79dgBOfvIJuenpBieSiqRMF25HjRrFN998w9tvv42npyfx8fHEx8eTmZkJgLe3N71792bixIn8/PPP7N27l+HDhxMdHe0o3MbExNCgQQNefvllDhw4wPr165kyZQoPPfQQLi4uBu6diIiIiIhIxZB5+jTnf/oJe3Y2zv7+BHTogMXd3ehYIiKlIqRXL1yrViX7wgVOL1xodBypQMr0VAmfffYZAH369CmwfMKECfTq1QuA4cOHYzabGTx4MFarlZiYGEaOHOloa7FYmD59Oq+//jr3338/7u7u9OzZk8GDB5fejoiIiIiIiFRQaUeOkPLH9HSu1avj16oVJqcy/aemiEiJMru6UrtfP34bP56EH37At0ULfP8YUChyLcr0p+nBgwf/to2rqysjR44sUKz9qxo1ajBz5sySjCYiIiIiIlKp2e12UvftI+233wBwr1cPn2bNMJlMBicTESl93o0bE9ytG3ErV3J85kwajx+Ps6+v0bGknCvTUyWIiIiIiIhI2WPPzSVp2zZH0darSRMVbUWk0gu57z7catQgJzmZEx99hN1uNzqSlHMq3IqIiIiIiEiR5WZkkLhuHZknT4LJhE+LFniFhV2xaGuyWLDbbKWYUkSk9JldXKj71FOYnJxI2rGDhO+/NzqSlHNleqoEERERERERKTuyL17k8FtvYT13DpPFgl/r1rhWrfq3/UwWCyazmbjVq7FlZRX5+Sze3gR16HAtkUVESpVHnTqE3Hcfpxcs4NT8+Xg2aIBH3bpGx5JySiNuRURERERE5G9lxcVxcMwYMo4fx+zqin/79kUq2v6ZLSurWA97MYq8IiJlRXC3bvhGR2PPyeHo1KnkpKUZHUnKKRVuRURERERE5Mri4jg8dizWuDhcgoMJ7NIF5ypVjE4lIlImmcxm6jz5JC6BgVjj4zn+4Yea71auigq3IiIiIiIiclmpBw/CokXkJCfjXrs2Ya++ipO3t9GxRETKNCdPT0IHD86b73b7ds7+5z9GR5JySIVbERERERERuaSL27dz9K23MFmteDZqRMPhw3H28zM6lohIueBRrx61Hn0UgDOLF3Nx61aDE0l5o8KtiIiIiIiIFJK4YQNH33kHe3Y29tBQQl98ESdPT6NjiYiUK4GdOhF0660A/P7BB6QfP25wIilPVLgVERERERGRAhLWrOH4jBlgs1GlXTss99yD2cXF6FgiIuVSzX/+E++ICGxWK0cmT8Z64YLRkaScUOFWRERERESkErLbbJdcHrdqFSdmzwYgqGtX6g4YQPPoaCwWS2nGExGpMEwWC/UGDcK1WjWyExM58tZb5GZkGB1LygEnowOIiIiIiIhI6TOZzcStXo0tK8uxLPXAAZJ37gTAMywMJ39/zi5bRlxcHMHBwTj5+hLUoYNBiUVEyi8nT08avPQSB0ePJuPECY6+8w71X3wRs5NKc3J5GnErIiIiIiJSSdmyshyP5N27/1e0bdQIr8aNsVut2LKyyMnIwJaVhf1PRV4REckbTXu5Kxj+yjU4mAYvvIDZ1ZWUffs4Pn06tpyc65xQyjOV9UVERERERCoxu91O6oEDpB04AIBX48Z4hYcbnEpEpHwwWSyXvILhSvxuuonz69Zx4ZdfMDk7U6d/f0xmja2UwlS4FRERERERqaTsdjupv/5K2qFDAHg1bYpXo0YGpxIRKX/yr14oChd/f/xuuIGLW7ZwfsMGTE5O1H78cRVvpRAdESIiIiIiIpWQ3W4nedcuR9HWOzJSRVsRkVLiVqMGVW66CUwmEteu5eTcudjtdqNjSRmjwq2IiIiIiEglY7fbOT1/vmN6BO+oKDwbNDA4lYhI5eJepw51BgwAk4mE77/n1Pz5Kt5KASrcioiIiIiIVCJ2u51T8+YRt3IlAD7NmuFZv77BqUREKqeAmBhq9+0LQPzKlZxeuFDFW3HQHLciIiIiIiKVhN1m4+ScOSSsWQMmE76tWuFes6bRsUREKrXATp2w5+Rwcs4c4pYvx261UrNPH815KyrcioiIiIiIVAZ2m40Ts2eTuHYtmEzUeeIJslNSinwzHRERuX6CunQB4OTcucSvXk1OWhp1BgzA7KTSXWWm0r2IiIiIiEgFZ7fZOD5r1v+KtgMGENChg9GxREQqNZPFgt1mc/wc1KULdZ96CiwWLmzaxNHJky/75dqf+0nFpbK9iIiIiIhIBWbPzeX4zJmc/+knMJmo+9RT+LdpY3QsEZFKz2SxYDKbiVu9ukCB1j8mhgsbNpC8ezf7hg0joEMHzC4ujvVmV1eC/xihKxWbRtyKiIiIiIhUUDarlaNTp+YVbc1m6j39tIq2IiJljC0rq8DDxd+fKu3aYXJ2JjshgYTVq8m+eLFAG6kcVLgVERERERGpgHLS0jg8aRJJ27djcnYm9JlnqNK6tdGxRESkCFwCAvBv3x6zmxs5yckk/vgj2RcvGh1LSpkKtyIiIiIiIhVM9sWL/DZuHKkHD2J2d6fBSy/h16qV0bFERKQYnH198e/QAYu3N7aMDM6vW0dmbKzRsaQUqXArIiIiIiJSgWSeO8fB0aPJOHkSJ19fGr3yCt6NGxsdS0REroKTpycBHTviEhyMPTeXi7/8Qsqvv2K3242OJqVAhVsREREREZEKIv333zk0ejTW+Hhcg4MJe+01POrUMTqWiIhcA7OzM1XatMEjNBSAlN27OT5jBrbsbIOTyfXmZHQAERERERERuXbnf/6Z4zNnYrdaca9ThwYvvYSzr6/RsUREpASYzGZ8mjXDydub5N27Of/TT2SdO0e9QYNwCQgwOp5cJxpxKyIiIiIiUo7ZbTZOf/EFv7/3HnarFZ+oKBoNH66irYhIBeQRGkpAx45YPDxIO3yY/SNGkLRrl9Gx5DpR4VZERERERKScyklL48jkyZxbuhSA4O7dqf/CC1g8PAxOJiIi14trtWqEjxmDe9265KamcuSttzj95ZfYc3ONjiYlTFMliIiIiIiIlEOZZ89ydPLkvDuMWyz43XADTj4+nPvuu7/ta/H2JqhDh1JIKSIi14NrcDBhr77KqQULSPj+e8598w1phw5R91//wqVKFaPjSQnRiFsREREREZFy5sIvv3Bw5EgyY2Mxu7sT0L49btWrY8vKKtLDnpVl9C6IiMg1Mru4UPuxx6j79NOY3dxIPXCAAyNGcHH7dqOjSQnRiFsREREREZFyIjcjg5Pz5nF+/XoAPBs2xKtJE0xmjckREams/G+6CY86dTg2bRoZJ09ydPJk/Nu1o+bDD+Pk5WV0PLkG+nQXEREREREpB9KOHOHAiBF5RVuTiWr33EOj4cOxuLsbHU1EREqRyWLBbrMVWOZWvTphr79OcPfuYDJx/qef+HXYsEKjb//aT8o2jbgVEREREREpw+w2G+e+/ZbYr76C3FycAwKo99RTeIWFGR1NREQMYLJYMJnNxK1eje0vU984+fgQeMstXPzlF3KSkjg6eTLuderg26IFTj4+BHfpYlBquRoq3IqIiIiIiJRRGSdPcuLjj0k7fBgAv9atqf344zh5ehqcTEREjJY/b/lfOXl7E3DzzaTu30/ab7+Rcfw4WWfO4NO8OUGdO2t6nXJEhVsREREREZEyxma1cvabbzj77beQm4vZzY1affrg3749JpPJ6HgiIlLGmSwWvCMicA0JIXn7dnJSUri4eTMHExOp9fDDeDZoYHREKQIVbkVERERERMqQlAMHOPHxx2SdOQOAb4sW1Hr0UVz8/Q1OJiIi5Y2Lvz8BnTuTfuQIqQcOkH7kCAdHjcLvxhsJue8+3KpWNTqiXIEKtyIiIiIiIgaz22zkpKQQu2gRiWvXAuDk60utRx/Fr1UrjbIVEZGrZjKb8WzYEI/69cm5cIHE9eu5uHkzF7dtI6B9e6rddReuQUFGx5RLUOFWRERERETEQLacHOJXriR28WLs2dkAeNSvj0+zZmTFxXFu+fJL9rN4exPUoUNpRhURkXLM4u5OjX/8g6Bu3Yj9/HOSd+8mce1aEtevJ6BdO4JuvRWPOnWMjil/osKtiIiIiIiIAex2O0k7dnB6wQKyzp0DwMnPD5+oKFwCAsBuv+RNZ/KZXVxKK6qIiFQgHrVr0+Cll0g9dIgzX39Nyt69JK5bR+K6dXiFhxN06634tWiByWIxOmqlp8KtiIiIiIhIKUs/dozTX3xByt69QN60CF5hYbiGhGhaBBERKRVejRrRcOhQUn/7jbiVK7m4ZQupBw6QeuAALoGBBN5yCwExMZi9vY2OWmmpcCsiIiIiIlJKMk6eJParr0jauhUAk5MTwbfdRrW77iJ+zZorjrAVERG5HrwaNsSrYUOs588T//33JKxZgzUhgdjPPyf2iy/wCg+HGjXIadgQi4+P0XErFRVuRURERERErrPMM2c489VXXPjlF7DbwWSiSps2hPTujWtwsNHxREREcPH3p8a991L97rs5v3EjievWkfbbb6Tu349p/35+/eEHfJo1w++GG/CJjMTZ19foyBWeCrciIiIiIiLXSfqxY5xbsYILmzblFWwBvxtvpHqvXrjXqGFwOhERqUxMFgt2mw2T2XzFdmYXFwI7dSKwUyey4uO58PPPnN+4kcxTp0javp2k7dvBZMKjXj18oqLwbdYMj9DQv92uFJ8KtyIiIiIiIiXIbrNxcds24lasIO3QIcdy3xYtqN6rl+7YLSIihjBZLJjMZuJWry7W1DwmV1eaTJhA6vHjJG/ZQtLOnWQcP0760aOkHz3K2SVLsHh54dWoEV7h4Xg3box77doq5JYAFW5FRERERERKQE5KCokbNhC/ahXW+Pi8hRYL/jfdRPBtt+FRt66h+URERABsWVnFK9zabAC416yJV506hPzjH2RfvEjy7t0k7dxJ8t695Kam/m80LmB2d8erUSM8GzTAIzQUz3r1cNJNzopNhVsREREREZGrZLNaSd6zh/MbNpC0Ywf23FwALF5eBHbuTFCXLrhUqWJwShERkauXP8WCxWJxLHP28yOgQwcCOnTAnpND+u+/k3LgAKkHDpB66BC2jAySd+0iedcuRx+XoKC8Im5oKB6hoXjUrYvFzc2IXSo3VLgVEREREREphpyUFJL37iVpxw6SduzAlpnpWOdety6u1arhVrMmZicnzm/c+Lfbs3h7E9Shw/WMLCIictXyp1g499//Ys/OvkJDE16NG+MZFkZOUhLZFy9iMptJP3aMrLNnscbHY42P5+Ivvzjau1atinvNmrjVrOn4r1u1akWej7eiU+FWRERERETkCrKTkkg7fJjUQ4dIPXCA9GPHHDcaA3D296dK69b4x8TgUbs2Z5cty7sM9Y/Rt3/H7OJyvaKLiIiUGFtW1pULt39i8fDAtWpVgrt2JW71anJSUsg+fx7r+fN5/01MxJaRQdbZs2SdPQtbt/6vs8mEk5cXHnXr4hIcjGvVqrgGB+Pi749zlSo4+fhUmoJupSrczp8/n48++oj4+HjCw8N59dVXiYqKMjqWiIiIiIghdH6cx263Y8vIIPuP0UFZZ8+SefYsmadPk3HiBNkXLhTq41arFj6RkVS54QbdSVtEROQKbFlZYLfjXKUKzlWqQP36AORmZpKTnFzoYc/Nzbu6Zc+eS2/QZMLZzw9nPz+cvL2xeHri5OmJxcMDi6dn3sPDw7HM7OaG2dUVyx//LU+f2ZWmcLt8+XImTJjAqFGjaNasGXPmzKFfv36sWLGCgIAAo+OJiIiIiJSq8nJ+nBUfT8KaNdizs7Hb7WCz5f3XbsdusxX++c9tbLa8ZeBoi93uaJ+bkUFOcjLZSUl/e+mnW/XqeIWF4dmoEd5NmuDi719Kr4CIiEjFZHFzw+LmhmtwsGNZ/pepNqsVz9BQsuLiyIqLwxoXR/aFC2QnJYHdnvfvS3yxWhQmFxcsrq55BV03N8e/vZs2pdqdd5bU7pWISlO4nT17Nvfddx+9e/cGYNSoUaxdu5bFixczYMAAg9OJiIiIiJSu8nJ+HP/f/xK3YkWpPJfZzQ1nPz9c/7gs0y0kBPfatXGvXVs3TxERESkFJpMJi4cHLoGBBHToUGh0rN1my/vS9cIFrBcukJOSQm56OrlpaeSmp5OTlkZuWhqZsbF50xZlZ2PPycGek+OY5shutZJjtUJKSoFtpx89StXu3cvUiNxKUbi1Wq3s27ePJ5980rHMbDbTtm1bduzY8bf97X+8sVartcAd9IrKYrHgHFgNu7n4faXscvYPIjc3l9wizl1WkiwWC241Q7A76ZiqKNyqVTX0ePKrVx2Ts46nisS3ZrAhx5TFYqF6gxAsLjqeKpLg2lf/Oyq/j/1P84GK8Yw+Py4Ov86dwd2dtKNHITcXTKa8B4DJhOkKP5ucnfEOD8f+53Vms+O/ZhcXLN7eOPn44OztjdnV1fG8FouFhA0bSDl+nJTjx4uU1eLpSUDr1thdXIp1zNudncnNzS21fsXta7PbsXh6YnN1LfWsZf21qQz9KtP7r+Pm0mx2O2aLRa9NCfcrT1ntLi55/Vxdsed/5l7H5wPAzQ2b3U7Cjz9is1qv3NbJCZOvL06+vrj+8Vkct2ZN3hQN+Vnyr8TJycGWm+so5tpzciAnB4Dgbt3I/uPf11Nxzo9N9kpwFn3u3Dk6dOjAwoULiY6OdiyfNGkSW7Zs4csvv7xif6vVyp7LzashIiIiIn8rMjISF92AqczQ+bGIiIiIsYpyflwpRtxeKycnJyIjIzHnfzsvIiIiIkVit9ux2Ww4Oem0syLR+bGIiIjI1SnO+XGlOIOuUqUKFouFxMTEAssTExMJDAz82/5ms1kjRERERESkwtD5sYiIiEjZV3Zm272OXFxcaNq0KZs2bXIss9lsbNq0qcClYSIiIiIilYHOj0VERETKvkox4hbg8ccfZ+jQoURERBAVFcWcOXPIyMigV69eRkcTERERESl1Oj8WERERKdsqTeG2e/funD9/nqlTpxIfH0/jxo2ZNWtWkS4FExERERGpaHR+LCIiIlK2mex2u93oECIiIiIiIiIiIiLyP5VijlsRERERERERERGR8kSFWxEREREREREREZEyRoVbERERERERERERkTJGhVspkj59+jBu3Ljr/jydO3fmk08+ue7PI2XH1RxbR44c4b777iMyMpK77777qp972LBh/Otf/7rq/lJ+/fLLL4SFhZGcnGx0FCkHvvrqK1q1alWsPn/3u02/f0RERERE5O+ocCsOw4YNIywsrNDj+PHjRkeTMurPx0zTpk3p3LkzkyZNIisrq8jbmDZtGkOGDCnW806bNg13d3dWrFihQn8l9tfjr23btjz++OMsWrQIm812xb7R0dFs2LABb2/vUkorpeH8+fOMHDmSTp06ERERQbt27ejXrx/btm27pu12796dlStXllBKEZGyacaMGfTu3Zvo6GjatGnDv/71L44ePVqgTVZWFqNGjaJ169ZER0fzzDPPkJCQYFBiuZ4+/PBDwsLCCnwJqfe/4jt37hwvvvgirVu3Jioqih49erBnzx7HervdzjvvvENMTAxRUVE89thj/P7778YFlhKVm5vLlClT6Ny5M1FRUXTp0oX33nsPu93uaKNjoPQ5GR1Aypb27dszYcKEAsv8/f0NSiPlQf4xk5OTw759+xg6dCgmk4mXXnqpSP39/PyK/ZwnTpygU6dO1KhRo9h9pWLJP/5sNhsJCQmsX7+ecePGsXLlSj744AOcnAp/zGVnZ+Pi4kJQUJABieV6euaZZ8jOzmbixInUqlWLxMRENm3axMWLF696m9nZ2bi5ueHm5lZyQUuA3W4nNzf3kse4iMjV2Lx5Mw899BCRkZHk5uby73//m379+rFs2TI8PDwAGD9+PD/++CNTpkzB29ubMWPGMGjQIBYuXGhweilJu3fvZuHChYSFhRVYrve/YktKSuLBBx+kdevWzJw5kypVqnD8+HF8fX0dbWbOnMm8efOYOHEiNWvW5J133qFfv34sX74cV1dXA9NLSZg5cyafffYZb7zxBg0aNGDv3r383//9H97e3jzyyCOONjoGSpdG3EoB+cWMPz8sFkuhdklJSbz88svccMMNNGvWjCeeeKLQtywrV67kjjvuICIigs6dO/Pxxx8XWJ+YmMjAgQOJioqic+fOfPPNN9dz1+Q6yT9mqlevTpcuXWjbti0bN24E4MKFCzz//PO0b9+eZs2a0aNHD7799tsC/f96OXHnzp2ZPn06//d//0d0dDSdOnXi888/d6wPCwtj3759vPfee4SFhTFt2jQAzpw5w5AhQ2jVqhU33ngjTz31FKdOnXL0y83NZcKECbRq1YrWrVszadKkAt8cSvmUf/xVrVqVpk2bMnDgQN5//33WrVvH119/DeQdMwsWLGDgwIE0b96c6dOnF5oqIf9S+NWrV3PrrbcSGRlJv379OHPmjJG7J8WQnJzM1q1befHFF7npppuoUaMGUVFRPPnkk9xyyy3A/46FJ554gqioKG655RZWrFjh2MapU6cICwtj+fLlPPzww0RGRrJ06dJCUyVMmzaNu+++myVLltC5c2datmzJc889R2pq6mXzrV27lpYtW172s85mszFjxgzHCIe77rqrQLb8Y/bHH3+kV69eREZGXvNIYhGRP/voo4/o1asXDRs2JDw8nIkTJxIbG8u+ffsASElJYfHixQwbNow2bdoQERHB+PHj2bFjBzt37jQ2vJSYtLQ0XnrpJcaOHVugYKf3v+KbOXMm1apVY8KECURFRVGrVi1iYmKoXbs2kPel8dy5c3nqqafo0qUL4eHhTJo0ibi4OFavXm1weikJO3bs4JZbbqFTp07UrFmT2267jZiYGHbv3g3oGDCKCrdyVYYNG8bevXv54IMP+Pzzz7Hb7QwYMIDs7GwA9u7dy7PPPkv37t1ZunQpgwYN4p133uGrr74qsI0zZ84wd+5cpk6dyoIFC0hMTDRql6QEHDp0iB07duDs7AyA1WqladOmfPjhh3z77bfcd999vPzyy45f/Jcze/ZsIiIiWLJkCf/85z95/fXXHZfqbdiwgYYNG9K3b182bNhA3759yc7Opl+/fnh6ejJ//nw+++wzPDw8eOKJJ7BarQB8/PHHfP3114wfP54FCxaQlJTEqlWrru8LIoZo06YN4eHh/Pe//3Use/fdd+natStLly6ld+/el+yXmZnJBx98wBtvvMFnn31GcnIyzz33XGnFlmvk4eGBh4cHq1evdvx/fynvvPMO3bp14z//+Q89evTg+eef58iRIwXavPXWWzzyyCMsX76cmJiYS27nxIkTfP/990yfPp0ZM2awZcsWZs6cecm2S5cu5fnnn+ett97irrvuumSbGTNmsGTJEkaNGsWyZct47LHHeOmll9i8eXOBdm+//TYvvPACy5cvLzQSSkSkJKWkpAA4ind79+4lOzubtm3bOtrUr1+fkJAQFe4qkNGjR9OxY8cC7zPo/a8M1qxZQ0REBIMHD6ZNmzbcc889fPHFF471p06dIj4+vsAx4O3tTbNmzdixY4cRkaWERUdH8/PPP3Ps2DEADhw4wLZt2+jQoQOgY8Aour5OCli7di3R0dGOn9u3b8/UqVMLtPn9999Zs2YNn332GS1atADy/sjt1KkTq1ev5vbbb2f27Nm0adOGp59+GoB69epx+PBhxzf5x44dY926dXz55ZdERUUBMG7cOLp3715KeyolJf+YycnJwWq1YjabefXVVwGoWrUq/fr1c7Tt06cPGzZs4LvvvnO875fSoUMHHnroIQD69+/PJ598wi+//EJoaKhjFLiHh4fjUvf//Oc/2Gw2xo0bh8lkAmDChAnccMMNbN68mZiYGObMmcOAAQO49dZbARg1ahQbNmy4Lq+JGC80NJSDBw86fr7zzjsLFGxPnjxZqE92djavvfYazZo1A2DixIl0796d3bt3X/F4lbLBycmJiRMn8uqrr7Jw4UKaNGnCjTfeSPfu3QkPD3e0u+2227j33nsBePbZZ9m4cSPz5s3j9ddfd7R59NFHHb8rLsdutzNhwgS8vLwAuOuuu9i0aVOhYv/8+fOZPHky06dP58Ybb7zktqxWKzNmzGD27NmOz+BatWqxbds2Pv/88wL9Bg8eTLt27Yr+woiIXAWbzcb48eNp0aIFjRo1AiAhIQFnZ2d8fHwKtA0ICCA+Pt6ImFLCli1bxq+//sqiRYsKrdP7X/GdPHmSzz77jMcff5yBAweyZ88exo4di7OzMz179nS8zwEBAQX6BQQEaK7jCmLAgAGkpqZy++23Y7FYyM3N5bnnnnMMPNAxYAwVbqWA1q1bF/jj1d3dvVCbI0eO4OTk5ChuAFSpUoV69eo5Ri0dPXrUcWlqvhYtWjB37lxyc3Md24iIiHCsr1+/fqETASn78o+ZjIwMPvnkEywWC926dQPypieYPn06K1as4Ny5c2RnZ2O1Wv92rsg/jyIzmUwEBgZecTT2gQMHOHHihOOLhHxZWVmcOHGClJQU4uPjCxyz+cefpkuomOx2u6OIDxT4XXM5Tk5OREZGOn7O/5105MgRFW7LiW7dutGpUye2bt3Kzp07Wb9+PbNmzWLs2LH06tULoMCXkwDNmzdn//79BZYV5XipUaOGo2gLEBwcXOj31MqVKzl//jwLFiy44jF0/PhxMjIy6Nu3b4Hl2dnZNG7cuMCyPx+jIiLXy6hRo/jtt99YsGCB0VGklJw5c4Zx48bx8ccfa57KSsputxMREcHzzz8PQJMmTfjtt99YuHAhPXv2NDidlIbvvvuOpUuX8vbbb9OgQQP279/PhAkTCA4O1jFgIBVupQB3d3fq1KljdAwpR/58zIwfP567776bL7/8knvvvZePPvqIuXPnMnz4cMLCwnB3d2f8+PGOKTUu56832zGZTFcssKanp9O0aVPeeuutQut0c73K6ciRI9SsWdPxc/5NVaTic3V1pV27drRr146nn36aV155hWnTpjkKt0VRlOPlUjcF++vvqSZNmrBv3z4WL15MZGRkgS8T/iw9PR3Imy6hatWqBda5uLgU+PlSX6iKiJSk0aNHs3btWj799FOqVavmWB4YGEh2djbJyckFBlskJibqhp8VwL59+0hMTCzweZmbm8uWLVuYP38+H330kd7/Ci4oKIj69esXWBYaGsrKlSsd6yHvPQ8ODna0SUxMLHB1k5RfkyZNYsCAAdxxxx1A3oCq2NhYZsyYQc+ePXUMGERz3Eqx1a9fn5ycHHbt2uVYduHCBY4dO0aDBg2AvF/w27dvL9Bv+/bt1K1bF4vFQmhoKDk5Oezdu9ex/ujRo44bBUn5ZDabefLJJ3nnnXfIzMxk+/bt3HLLLdx9992Eh4dTq1atQjexKwlNmzbl+PHjBAQEUKdOnQIPb29vvL29CQoKKnDM5uTkOG62IRXLpk2bOHTo0N9e6v5Xl/ud9NcTWClfGjRo4CiMAoXm4du1a9d1e49r1arF3Llz+f777xkzZsxl29WvXx8XFxdiY2ML/Q6rXr36dckmIvJXdrud0aNHs2rVKubMmUOtWrUKrI+IiMDZ2ZlNmzY5lh09epTY2FiaN29eymmlpN10000sXbqUJUuWOB4RERH06NHD8W+9/xVbixYtHHOb5vv999+pUaMGADVr1iQoKKjAMZCamsquXbsKXdEk5VNmZmahgQYWi8UxOEHHgDE04laKrW7dutxyyy28+uqrjBo1Ci8vL9566y2qVq3qmB6hb9++/OMf/+C9996je/fu7Ny5k/nz5zNy5Eggr7Dbvn17Ro4cyeuvv47FYmH8+PF/ewm9lH233XYbkyZNYv78+dSpU4eVK1eyfft2fH19mT17NgkJCSVeJOnRowcfffQRTz31FEOGDKFq1arExsayatUqnnjiCapVq8YjjzzCzJkzqVu3LvXq1eOTTz7RFwUVgNVqJT4+HpvNRkJCAuvXr2fGjBncfPPN3HPPPcXalrOzM2PGjGHEiBFYLBbGjBlD8+bNNU1COXHhwgWGDBlC7969CQsLw9PTk7179zJr1qwCU/esWLGCiIgIWrZsydKlS9m9ezfjxo27brnq1avH3LlzeeSRR7BYLLzyyiuF2nh5edG3b18mTJiA3W6nZcuWpKSksH37dry8vHRpmoiUilGjRvHtt9/y/vvv4+np6ZjL0NvbGzc3N7y9venduzcTJ07E19cXLy8vxo4dS3R0tAp3FYCXl5djPuN8Hh4e+Pn5OZbr/a/YHn30UR588EGmT5/O7bffzu7du/niiy8YPXo0kHcV5COPPMIHH3xAnTp1qFmzJu+88w7BwcF06dLF4PRSEm6++WamT59OSEiIY6qE2bNnO+4VomPAGCrcylWZMGEC48aNY+DAgWRnZ9OqVSs+/PBDnJ2dgbwRkFOmTGHq1Kl88MEHBAUFMXjw4AKX3kyYMIERI0bw8MMPExgYyJAhQwrdCE3KHycnJx5++GFmzZrFkiVLOHnyJP369cPd3Z377ruPLl26OO5SXFLc3d359NNPeeuttxg0aBBpaWlUrVqVNm3aOOag7Nu3L/Hx8QwdOhSz2Uzv3r3p2rVriWeR0rV+/XpiYmJwcnLCx8eH8PBwRowYQc+ePTGbi3dRiZubG/379+eFF17g3LlztGrV6roW9KRkeXp60qxZM+bMmcOJEyfIycmhWrVq3HvvvQwcONDR7plnnmH58uWMGjWKoKAgxxxe11NoaChz5syhT58+WCwWhg0bVqjNs88+i7+/PzNmzODUqVN4e3vTpEmTAtlFRK6nzz77DMi7meyfTZgwwXEOP3z4cMxmM4MHD8ZqtRITE+MYmCEVn97/ii0qKop3332Xf//737z33nvUrFmT4cOHO25MBXk3js7IyOC1114jOTmZli1bMmvWLM2LXEGMGDGCd955h1GjRjmmQ7j//vsdN50HHQNGMNl1Zx4REankvvrqK8aPH8/WrVuNjiLXUVhYGO+9955GBIiIiIiISLmgOW5FREREREREREREyhgVbkVERERERERERETKGE2VICIiIiIiIiIiIlLGaMStiIiIiIiIiIiISBmjwq2IiIiIiIiIiIhIGaPCrYiIiIiIiIiIiEgZo8KtiIiIiIiIiIiISBmjwq2IiIiIiIiIiIhIGaPCrYjIn0ybNo277767VJ5r2LBh/Otf/yqV5ypN1+s1/OWXXwgLCyM5ObnEty0iIiJSUYSFhbF69WqjY1RaxTnHr6h/D4hIyVHhVkQqpKs9Cerbty+ffPJJiWY5deoUYWFh7N+/v8DyV155hYkTJ5boc13JV199RVhYGLfffnuhdd999x1hYWF07ty5WNvUHwYiIiIipWPYsGGEhYURFhZG06ZNadu2LY8//jiLFi3CZrM52m3YsIEOHToYmLRk5J9D5z9at25N3759+fXXX0tk+3369GHcuHFXnefGG2/k4YcfZuvWrQXalfY5/rXQubxI2afCrYhUOlartdAyu91OTk4Onp6eVKlSpVRyeHt74+PjUyrPlc/Dw4Pz58+zY8eOAssXLVpESEhIqWYRERERkeJp3749GzZsYM2aNcycOZPWrVszbtw4nnzySXJycgAICgrCxcXF4KQl55NPPmHDhg3MmjWL9PR0+vfvb+gVWPl5Pv30U4KDg3nyySdJSEhwrDfiHF9EKi4VbkWkwuvTpw+jR49m3LhxtG7dmn79+jkuu//xxx/p1asXkZGRbNu2rdBl/jk5OYwdO5ZWrVrRunVr3nzzTYYOHVpgNO+6det48MEHHW2efPJJTpw44Vh/yy23AHDPPfcQFhZGnz59gMKjgq1WK2PHjqVNmzZERkby4IMPsnv3bsf6/MybNm2iV69eNGvWjAceeICjR48W+bWwWCzceeedLF682LHs7NmzbN68mTvvvLNQ+9WrV9OzZ08iIyO55ZZbePfddx1/FOSPzn366acvOVp3yZIldO7cmZYtW/Lcc8+Rmppa5H0F+PHHH+nWrRtRUVH06dOH06dPF3k/RURERCoiFxcXgoKCqFq1Kk2bNmXgwIG8//77rFu3jq+//hooOIrSarUyevRoYmJiiIyM5Oabb2bGjBmO7SUnJ/PKK69w00030aJFCx555BEOHDjgWH/ixAmeeuop2rZtS3R0NL1792bjxo0FMs2fP59bb72VyMhI2rZty+DBgx3rbDYbM2bMoHPnzkRFRXHXXXexYsWKYu2zn58fQUFBREZG8vLLL5OQkMCuXbsA2Lp1K//85z+JioqiY8eOjB07lvT09L/NNmzYMDZv3szcuXMdI2hPnTpVrDyNGjXiySefJDU11ZEnf9t/PsdfsWIFPXr0ICoqitatW/PYY48VyPhnu3fv5qabbuLDDz/82xz5f7csXLiQjh070qxZM4YMGUJKSkqBdosWLeKOO+4gIiKCmJgYRo8eDfz9ubyIlA0q3IpIpfD111/j7OzMZ599xqhRoxzL3377bV544QWWL19OWFhYoX4zZ85k6dKlTJgwgQULFpCamlrocqKMjAwef/xxFi9ezCeffILJZOLpp592XLL25ZdfAv/7dn7atGmXzDhp0iRWrlzJxIkT+frrr6lTpw5PPPEEFy9eLNBu8uTJDBs2jMWLF2OxWBg+fHixXovevXvz3XffkZGRAeRNodC+fXsCAgIKtNu6dStDhw7lkUceYfny5YwePZqvvvqK6dOnA3kngQATJkxgw4YNjp8h7yT/+++/Z/r06cyYMYMtW7Ywc+bMIu/rmTNnGDRoEDfffDNLlizh3nvv5e233y7WfoqIiIhUBm3atCE8PJz//ve/hdbNmzePNWvWMGXKFFasWMGbb75JjRo1HOuHDBlCYmIiM2fO5KuvvqJp06Y8+uijjnOy9PR0OnbsyCeffMLXX39N+/btGThwILGxsQDs2bOHcePGMXjwYFasWMGsWbNo1aqVY/szZsxgyZIljBo1imXLlvHYY4/x0ksvsXnz5qvaVzc3NwCys7M5ceIE/fv359Zbb+Wbb75h8uTJbNu2jTFjxvxttldeeYXo6Gjuu+8+NmzYwIYNG6hevXqxsmRmZrJkyRIAnJ2dL9kmLi6OF154gd69e7N8+XLmzp1L165dsdvthdpu2rSJvn378txzzzFgwIAiZThx4gTfffcd06dPZ9asWezfv5/XX3/dsX7BggWMHj2a++67j6VLl/L+++9Tu3Zt4Mrn8iJSdjgZHUBEpDTUrVuXl19+2fFzfHw8AIMHD6Zdu3aX7ffpp58yYMAAunbtCsBrr73GunXrCrTp1q1bgZ/Hjx9PmzZtOHz4MI0aNcLf3x/437fzl5Kens7ChQuZMGECHTt2BGDMmDH89NNPLFq0iCeeeMLR9rnnnuPGG28EYMCAAQwYMICsrCxcXV2L9Fo0adKEWrVqsXLlSu6++26+/vprhg0bxsmTJwu0e/fddxkwYAA9e/YEoFatWgwZMoQ333yTQYMGOfbLx8en0H7Z7XYmTJiAl5cXAHfddRebNm3iueeeK9K+fvbZZ9SuXZthw4YBEBoayqFDhwoUf0VEREQkT2hoKAcPHiy0/MyZM9SpU4eWLVtiMpkKFG23bt3K7t272bRpk2NqhaFDh7J69WpWrlzJ/fffT3h4OOHh4Y4+zz77LKtXr2bNmjU8/PDDnDlzBnd3dzp16oSXlxc1atSgSZMmQN5o3xkzZjB79myio6OBvPPJbdu28fnnnzvOZ4sqOTmZ999/Hw8PD6Kiopg8eTI9evTgscceA/LO91955RX69OnD66+/fsVs3t7eODs74+bmdtnz88t54IEHMJvNZGRkYLfbadq0KW3atLlk2/j4eHJycujatavjtb/UYJFVq1bx8ssvM27cOLp3717kLFlZWUyaNImqVasCMGLECJ588kmGDRtGUFAQH3zwAY8//jiPPvqoo09UVBTAFc/lRaTsUOFWRCqFpk2bXnJ5ZGTkZfukpKSQkJDgOLmBvKkGmjZtWuAGEL///jtTp05l165dXLhwwfEN+pkzZ2jUqFGR8p04cYLs7GxatGjhWObs7ExUVBRHjhwp0PbPJ3v5J1mJiYnFmqO2d+/eLF68mOrVq5ORkUHHjh359NNPC7Q5cOAA27dvd4ywBcjNzSUrK4uMjAzc3d0vu/0aNWo4irYAwcHBJCYmFnlfjxw5UuB1B2jevHmR909ERESkMrHb7ZhMpkLLe/bsSd++fbntttto3749nTp1IiYmBoCDBw+Snp5O69atC/TJzMx0TPuVlpbGu+++y9q1a4mPjyc3N5fMzEzHiNu2bdsSEhJCly5daN++Pe3bt6dr1664u7tz/PhxMjIy6Nu3b4HtZ2dn07hx4yLvW36hND09nVq1ajFlyhQCAwM5cOAABw8eZOnSpQVeB5vNxqlTp66Y7VpMnjyZ0NBQfvvtN958800mTpx42RG34eHhtGnThh49ehATE0NMTAzdunXD19fX0Wb37t2sXbuWqVOn0qVLl2JlqV69uqNoCxAdHY3NZuPYsWOYzWbi4uIuW1QWkfJBhVsRqRQud4J2rSduAAMHDqRGjRqMHTuW4OBgbDYbd955J9nZ2de87Utxcvrfr+78E/Q/F5KLokePHrz55pu8++673HXXXQW2mS89PZ1nnnmGW2+9tdC6vxvde6ntXeqSMBERERG5dkeOHKFmzZqFljdt2pTvv/+edevWsXHjRp599lnatm3L1KlTSUtLIygoiHnz5hXq5+3tDcAbb7zBxo0bGTp0KLVr18bNzY3Bgwc7znO9vLz4+uuv2bx5Mxs2bGDq1Km8++67LFq0yDGP64wZMwoUF4Fi3Txt8uTJNGjQAD8/vwI3/UpPT+eBBx5w3D/iz6pXr46Li8tls13LzcOqV69O3bp1qVu3Ljk5OQwaNIhvv/32kvtksViYPXs227dv56effmLevHlMnjyZL774glq1agF5o5D9/PxYtGgRHTt2vGwRuLiKejWeiJRtmuNWROQyvL29CQwMZM+ePY5lubm5/Prrr46fL1y4wLFjx3jqqado06YN9evXJykpqcB28k++cnNzL/tctWvXxtnZme3btzuWZWdns2fPHho0aFBSu+Tg5+dH586d2bx5M717975kmyZNmnDs2DHq1KlT6GE25318ODs7X3G/LqUo+1q/fv0CrztQ4KYPIiIiIpJn06ZNHDp06JJftkNecbV79+6MHTuWyZMns3LlSi5evEjTpk1JSEjAYrEUOtfLv4x+x44d9OzZk65duxIWFkZgYGChG8Y6OTnRtm1bXn75Zb755htOnz7Nzz//TP369XFxcSE2NrbQ9oszn2z16tWpXbt2oWJrkyZNOHz48CXPVfOLqJfLBnnnscUd/PBXt912GxaLhQULFly2jclkomXLlgwePJglS5bg7Oxc4J4ZVapUYc6cOZw4cYJnn322WIM/zpw5w7lz5xw/79y5E7PZTL169RzTQ2zatOmy/a/mXF5ESpdG3IqIXMHDDz/MjBkzqF27NqGhoXz66ackJSU5Rrr6+vri5+fH559/TlBQELGxsYVuohUQEICbmxvr16+nWrVquLq6OkYx5PPw8ODBBx9k0qRJ+Pr6EhISwqxZs8jMzOQf//jHddm3iRMnMnLkSKpUqXLJ9U8//TQDBw4kJCSEbt26YTabOXDgAIcOHeK5554DcJwMtmjRAhcXlwKXfV1OUfb1gQce4OOPP+aNN97g3nvvZd++fY47JYuIiIhUVlarlfj4eGw2GwkJCaxfv54ZM2Zw8803c8899xRqP3v2bIKCgmjcuDFms5kVK1YQFBSEj48Pbdu2pXnz5jz99NO89NJL1K1bl7i4OH788Ue6dOlCZGQkderUYdWqVXTu3BmTycSUKVMKFDt/+OEHTp48yQ033ICPjw8//vgjNpvNUTjs27cvEyZMwG6307JlS1JSUti+fTteXl6O+yhcrf79+3P//fczevRo7r33Xtzd3Tl8+DAbN27ktddeu2I2yDuP3bVrF6dOncLDwwM/Pz/H4ISiMplM9OnTh3fffZf777+/0NV8u3btYtOmTbRr146AgAB27drF+fPnCQ0NLdAuICCAOXPm8Mgjj/DCCy/w73//+5JXsP2Vq6srw4YNY+jQoaSmpjJ27Fhuv/12x3RqzzzzDCNHjiQgIIAOHTqQlpbG9u3bHaOUr+ZcXkRKlwq3IiJX0L9/fxISEhg6dCgWi4X77ruPmJgYLBYLAGazmcmTJzN27FjuvPNO6tWrx4gRIwpcsuXk5MSIESN47733mDp1Kq1atbrkJWkvvvgidrudl19+mbS0NCIiIpg1a9Z1O4Fyc3Nz3Jn3Utq3b8/06dN57733mDlzJk5OToSGhnLvvfc62gwdOpSJEyfy5ZdfUrVqVdasWVOk5/67fQ0JCWHatGlMmDCBTz/9lKioKJ577jmGDx9+bTstIiIiUo6tX7+emJgYnJyc8PHxITw8nBEjRtCzZ89LFh09PT2ZNWsWx48fx2w2ExkZyYcffuho++GHHzJlyhT+7//+jwsXLhAYGEirVq0IDAwEYNiwYQwfPpwHHniAKlWq0L9/f9LS0hzb9/b2ZtWqVbz77rtkZWVRp04d3n77bRo2bAjk3czM39+fGTNmcOrUKby9vWnSpAkDBw685tciPDycefPmMWXKFP75z38CedMO5N/c6++y9e3bl2HDhnHHHXeQmZnJ999/f8npJv5Oz549mTJlCp9++in9+/cvsM7Ly4stW7YwZ84cUlNTCQkJYdiwYY4b9P5ZUFAQc+bMoU+fPrz44ou8/fbbjr85Lqd27dp07dqV/v37k5SURKdOnRg5cmSBbFlZWXzyySdMmjQJPz8/brvtNsf6qz2XF5HSY7Jr0kERkSKz2Wzcfvvt3H777Tz77LNGxxERERERkUpo2rRprF69mv/85z9GRxGR60gjbkVEruD06dP89NNP3HDDDVitVubPn8/p06fp0aOH0dFEREREREREpAJT4VZE5ArMZjNfffUVb7zxBna7nUaNGjF79mzq169vdLRC7rjjDmJjYy+5btSoUdx1112lnEhERERE5NJee+01li5desl1PXr0YPTo0ZU6z9+d24tI5aCpEkREKojTp0+Tk5NzyXUBAQF4eXmVciIRERERkUtLTEwkNTX1kuu8vLwICAio1Hl0bi8ioMKtiIiIiIiIiIiISJlT+LaTIiIiIiIiIiIiImIoFW5FREREREREREREyhgVbkVERERERERERETKGBVuRURERERERERERMoYFW5FREREREREREREyhgVbkVERERERERERETKGBVuRURERERERERERMqY/wc68TGR1RauGwAAAABJRU5ErkJggg=="/>
          <p:cNvSpPr>
            <a:spLocks noChangeAspect="1" noChangeArrowheads="1"/>
          </p:cNvSpPr>
          <p:nvPr/>
        </p:nvSpPr>
        <p:spPr bwMode="auto">
          <a:xfrm>
            <a:off x="307975" y="7937"/>
            <a:ext cx="5782274" cy="39947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982" y="1201586"/>
            <a:ext cx="5533072" cy="3936840"/>
          </a:xfrm>
          <a:prstGeom prst="rect">
            <a:avLst/>
          </a:prstGeom>
        </p:spPr>
      </p:pic>
      <p:sp>
        <p:nvSpPr>
          <p:cNvPr id="10" name="Rectangle 9"/>
          <p:cNvSpPr/>
          <p:nvPr/>
        </p:nvSpPr>
        <p:spPr>
          <a:xfrm>
            <a:off x="6103256" y="160338"/>
            <a:ext cx="5913340" cy="6463308"/>
          </a:xfrm>
          <a:prstGeom prst="rect">
            <a:avLst/>
          </a:prstGeom>
        </p:spPr>
        <p:txBody>
          <a:bodyPr wrap="square">
            <a:spAutoFit/>
          </a:bodyPr>
          <a:lstStyle/>
          <a:p>
            <a:pPr lvl="0" defTabSz="914400" eaLnBrk="0" fontAlgn="base" hangingPunct="0">
              <a:spcBef>
                <a:spcPct val="0"/>
              </a:spcBef>
              <a:spcAft>
                <a:spcPct val="0"/>
              </a:spcAft>
            </a:pPr>
            <a:r>
              <a:rPr lang="en-US" b="1" dirty="0">
                <a:latin typeface="Arial" panose="020B0604020202020204" pitchFamily="34" charset="0"/>
                <a:cs typeface="Arial" panose="020B0604020202020204" pitchFamily="34" charset="0"/>
              </a:rPr>
              <a:t>1. Number of Farm Records per Season</a:t>
            </a:r>
          </a:p>
          <a:p>
            <a:pPr lvl="0" defTabSz="914400" eaLnBrk="0" fontAlgn="base" hangingPunct="0">
              <a:spcBef>
                <a:spcPct val="0"/>
              </a:spcBef>
              <a:spcAft>
                <a:spcPct val="0"/>
              </a:spcAft>
              <a:buFontTx/>
              <a:buChar char="•"/>
            </a:pPr>
            <a:r>
              <a:rPr lang="en-US" b="1" dirty="0" err="1">
                <a:latin typeface="Arial" panose="020B0604020202020204" pitchFamily="34" charset="0"/>
                <a:cs typeface="Arial" panose="020B0604020202020204" pitchFamily="34" charset="0"/>
              </a:rPr>
              <a:t>Kharif</a:t>
            </a:r>
            <a:r>
              <a:rPr lang="en-US" dirty="0">
                <a:latin typeface="Arial" panose="020B0604020202020204" pitchFamily="34" charset="0"/>
                <a:cs typeface="Arial" panose="020B0604020202020204" pitchFamily="34" charset="0"/>
              </a:rPr>
              <a:t> has the highest number of farm records. </a:t>
            </a:r>
          </a:p>
          <a:p>
            <a:pPr lvl="0" defTabSz="914400" eaLnBrk="0" fontAlgn="base" hangingPunct="0">
              <a:spcBef>
                <a:spcPct val="0"/>
              </a:spcBef>
              <a:spcAft>
                <a:spcPct val="0"/>
              </a:spcAft>
              <a:buFontTx/>
              <a:buChar char="•"/>
            </a:pPr>
            <a:r>
              <a:rPr lang="en-US" b="1" dirty="0">
                <a:latin typeface="Arial" panose="020B0604020202020204" pitchFamily="34" charset="0"/>
                <a:cs typeface="Arial" panose="020B0604020202020204" pitchFamily="34" charset="0"/>
              </a:rPr>
              <a:t>Rabi</a:t>
            </a:r>
            <a:r>
              <a:rPr lang="en-US" dirty="0">
                <a:latin typeface="Arial" panose="020B0604020202020204" pitchFamily="34" charset="0"/>
                <a:cs typeface="Arial" panose="020B0604020202020204" pitchFamily="34" charset="0"/>
              </a:rPr>
              <a:t> has slightly fewer records, while </a:t>
            </a:r>
            <a:r>
              <a:rPr lang="en-US" b="1" dirty="0">
                <a:latin typeface="Arial" panose="020B0604020202020204" pitchFamily="34" charset="0"/>
                <a:cs typeface="Arial" panose="020B0604020202020204" pitchFamily="34" charset="0"/>
              </a:rPr>
              <a:t>Zaid</a:t>
            </a:r>
            <a:r>
              <a:rPr lang="en-US" dirty="0">
                <a:latin typeface="Arial" panose="020B0604020202020204" pitchFamily="34" charset="0"/>
                <a:cs typeface="Arial" panose="020B0604020202020204" pitchFamily="34" charset="0"/>
              </a:rPr>
              <a:t> has the lowest. </a:t>
            </a:r>
          </a:p>
          <a:p>
            <a:pPr lvl="0" defTabSz="914400" eaLnBrk="0" fontAlgn="base" hangingPunct="0">
              <a:spcBef>
                <a:spcPct val="0"/>
              </a:spcBef>
              <a:spcAft>
                <a:spcPct val="0"/>
              </a:spcAft>
              <a:buFontTx/>
              <a:buChar char="•"/>
            </a:pPr>
            <a:r>
              <a:rPr lang="en-US" dirty="0">
                <a:latin typeface="Arial" panose="020B0604020202020204" pitchFamily="34" charset="0"/>
                <a:cs typeface="Arial" panose="020B0604020202020204" pitchFamily="34" charset="0"/>
              </a:rPr>
              <a:t>This shows that the dataset contains more observations for </a:t>
            </a:r>
            <a:r>
              <a:rPr lang="en-US" dirty="0" err="1">
                <a:latin typeface="Arial" panose="020B0604020202020204" pitchFamily="34" charset="0"/>
                <a:cs typeface="Arial" panose="020B0604020202020204" pitchFamily="34" charset="0"/>
              </a:rPr>
              <a:t>Kharif</a:t>
            </a:r>
            <a:r>
              <a:rPr lang="en-US" dirty="0">
                <a:latin typeface="Arial" panose="020B0604020202020204" pitchFamily="34" charset="0"/>
                <a:cs typeface="Arial" panose="020B0604020202020204" pitchFamily="34" charset="0"/>
              </a:rPr>
              <a:t> and Rabi seasons. </a:t>
            </a:r>
          </a:p>
          <a:p>
            <a:pPr lvl="0" defTabSz="914400" eaLnBrk="0" fontAlgn="base" hangingPunct="0">
              <a:spcBef>
                <a:spcPct val="0"/>
              </a:spcBef>
              <a:spcAft>
                <a:spcPct val="0"/>
              </a:spcAft>
              <a:buFontTx/>
              <a:buChar char="•"/>
            </a:pPr>
            <a:endParaRPr lang="en-US" dirty="0">
              <a:latin typeface="Arial" panose="020B0604020202020204" pitchFamily="34" charset="0"/>
              <a:cs typeface="Arial" panose="020B0604020202020204" pitchFamily="34" charset="0"/>
            </a:endParaRPr>
          </a:p>
          <a:p>
            <a:pPr lvl="0" defTabSz="914400" eaLnBrk="0" fontAlgn="base" hangingPunct="0">
              <a:spcBef>
                <a:spcPct val="0"/>
              </a:spcBef>
              <a:spcAft>
                <a:spcPct val="0"/>
              </a:spcAft>
            </a:pPr>
            <a:r>
              <a:rPr lang="en-US" b="1" dirty="0">
                <a:latin typeface="Arial" panose="020B0604020202020204" pitchFamily="34" charset="0"/>
                <a:cs typeface="Arial" panose="020B0604020202020204" pitchFamily="34" charset="0"/>
              </a:rPr>
              <a:t>2. Number of Farm Records per Crop</a:t>
            </a:r>
          </a:p>
          <a:p>
            <a:pPr lvl="0" defTabSz="914400" eaLnBrk="0" fontAlgn="base" hangingPunct="0">
              <a:spcBef>
                <a:spcPct val="0"/>
              </a:spcBef>
              <a:spcAft>
                <a:spcPct val="0"/>
              </a:spcAft>
              <a:buFontTx/>
              <a:buChar char="•"/>
            </a:pPr>
            <a:r>
              <a:rPr lang="en-US" b="1" dirty="0">
                <a:latin typeface="Arial" panose="020B0604020202020204" pitchFamily="34" charset="0"/>
                <a:cs typeface="Arial" panose="020B0604020202020204" pitchFamily="34" charset="0"/>
              </a:rPr>
              <a:t>Rice</a:t>
            </a:r>
            <a:r>
              <a:rPr lang="en-US" dirty="0">
                <a:latin typeface="Arial" panose="020B0604020202020204" pitchFamily="34" charset="0"/>
                <a:cs typeface="Arial" panose="020B0604020202020204" pitchFamily="34" charset="0"/>
              </a:rPr>
              <a:t> has the highest number of records. </a:t>
            </a:r>
          </a:p>
          <a:p>
            <a:pPr lvl="0" defTabSz="914400" eaLnBrk="0" fontAlgn="base" hangingPunct="0">
              <a:spcBef>
                <a:spcPct val="0"/>
              </a:spcBef>
              <a:spcAft>
                <a:spcPct val="0"/>
              </a:spcAft>
              <a:buFontTx/>
              <a:buChar char="•"/>
            </a:pPr>
            <a:r>
              <a:rPr lang="en-US" b="1" dirty="0">
                <a:latin typeface="Arial" panose="020B0604020202020204" pitchFamily="34" charset="0"/>
                <a:cs typeface="Arial" panose="020B0604020202020204" pitchFamily="34" charset="0"/>
              </a:rPr>
              <a:t>Wheat and Maize</a:t>
            </a:r>
            <a:r>
              <a:rPr lang="en-US" dirty="0">
                <a:latin typeface="Arial" panose="020B0604020202020204" pitchFamily="34" charset="0"/>
                <a:cs typeface="Arial" panose="020B0604020202020204" pitchFamily="34" charset="0"/>
              </a:rPr>
              <a:t> also have a high number of observations. </a:t>
            </a:r>
          </a:p>
          <a:p>
            <a:pPr lvl="0" defTabSz="914400" eaLnBrk="0" fontAlgn="base" hangingPunct="0">
              <a:spcBef>
                <a:spcPct val="0"/>
              </a:spcBef>
              <a:spcAft>
                <a:spcPct val="0"/>
              </a:spcAft>
              <a:buFontTx/>
              <a:buChar char="•"/>
            </a:pPr>
            <a:r>
              <a:rPr lang="en-US" b="1" dirty="0">
                <a:latin typeface="Arial" panose="020B0604020202020204" pitchFamily="34" charset="0"/>
                <a:cs typeface="Arial" panose="020B0604020202020204" pitchFamily="34" charset="0"/>
              </a:rPr>
              <a:t>Sugarcane</a:t>
            </a:r>
            <a:r>
              <a:rPr lang="en-US" dirty="0">
                <a:latin typeface="Arial" panose="020B0604020202020204" pitchFamily="34" charset="0"/>
                <a:cs typeface="Arial" panose="020B0604020202020204" pitchFamily="34" charset="0"/>
              </a:rPr>
              <a:t> has the lowest representation among the crops shown. </a:t>
            </a:r>
          </a:p>
          <a:p>
            <a:pPr lvl="0" defTabSz="914400" eaLnBrk="0" fontAlgn="base" hangingPunct="0">
              <a:spcBef>
                <a:spcPct val="0"/>
              </a:spcBef>
              <a:spcAft>
                <a:spcPct val="0"/>
              </a:spcAft>
              <a:buFontTx/>
              <a:buChar char="•"/>
            </a:pPr>
            <a:endParaRPr lang="en-US" b="1" dirty="0">
              <a:latin typeface="Arial" panose="020B0604020202020204" pitchFamily="34" charset="0"/>
              <a:cs typeface="Arial" panose="020B0604020202020204" pitchFamily="34" charset="0"/>
            </a:endParaRPr>
          </a:p>
          <a:p>
            <a:pPr lvl="0" defTabSz="914400" eaLnBrk="0" fontAlgn="base" hangingPunct="0">
              <a:spcBef>
                <a:spcPct val="0"/>
              </a:spcBef>
              <a:spcAft>
                <a:spcPct val="0"/>
              </a:spcAft>
              <a:buFontTx/>
              <a:buChar char="•"/>
            </a:pPr>
            <a:r>
              <a:rPr lang="en-US" b="1" dirty="0">
                <a:latin typeface="Arial" panose="020B0604020202020204" pitchFamily="34" charset="0"/>
                <a:cs typeface="Arial" panose="020B0604020202020204" pitchFamily="34" charset="0"/>
              </a:rPr>
              <a:t>Flood irrigation</a:t>
            </a:r>
            <a:r>
              <a:rPr lang="en-US" dirty="0">
                <a:latin typeface="Arial" panose="020B0604020202020204" pitchFamily="34" charset="0"/>
                <a:cs typeface="Arial" panose="020B0604020202020204" pitchFamily="34" charset="0"/>
              </a:rPr>
              <a:t> is the most commonly used method. </a:t>
            </a:r>
          </a:p>
          <a:p>
            <a:pPr lvl="0" defTabSz="914400" eaLnBrk="0" fontAlgn="base" hangingPunct="0">
              <a:spcBef>
                <a:spcPct val="0"/>
              </a:spcBef>
              <a:spcAft>
                <a:spcPct val="0"/>
              </a:spcAft>
              <a:buFontTx/>
              <a:buChar char="•"/>
            </a:pPr>
            <a:r>
              <a:rPr lang="en-US" b="1" dirty="0" err="1">
                <a:latin typeface="Arial" panose="020B0604020202020204" pitchFamily="34" charset="0"/>
                <a:cs typeface="Arial" panose="020B0604020202020204" pitchFamily="34" charset="0"/>
              </a:rPr>
              <a:t>Rainfed</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Drip</a:t>
            </a:r>
            <a:r>
              <a:rPr lang="en-US" dirty="0">
                <a:latin typeface="Arial" panose="020B0604020202020204" pitchFamily="34" charset="0"/>
                <a:cs typeface="Arial" panose="020B0604020202020204" pitchFamily="34" charset="0"/>
              </a:rPr>
              <a:t> irrigation follow. </a:t>
            </a:r>
          </a:p>
          <a:p>
            <a:pPr lvl="0" defTabSz="914400" eaLnBrk="0" fontAlgn="base" hangingPunct="0">
              <a:spcBef>
                <a:spcPct val="0"/>
              </a:spcBef>
              <a:spcAft>
                <a:spcPct val="0"/>
              </a:spcAft>
              <a:buFontTx/>
              <a:buChar char="•"/>
            </a:pPr>
            <a:r>
              <a:rPr lang="en-US" b="1" dirty="0">
                <a:latin typeface="Arial" panose="020B0604020202020204" pitchFamily="34" charset="0"/>
                <a:cs typeface="Arial" panose="020B0604020202020204" pitchFamily="34" charset="0"/>
              </a:rPr>
              <a:t>Sprinkler</a:t>
            </a:r>
            <a:r>
              <a:rPr lang="en-US" dirty="0">
                <a:latin typeface="Arial" panose="020B0604020202020204" pitchFamily="34" charset="0"/>
                <a:cs typeface="Arial" panose="020B0604020202020204" pitchFamily="34" charset="0"/>
              </a:rPr>
              <a:t> is the least used method in the dataset. </a:t>
            </a:r>
          </a:p>
          <a:p>
            <a:pPr lvl="0" defTabSz="914400" eaLnBrk="0" fontAlgn="base" hangingPunct="0">
              <a:spcBef>
                <a:spcPct val="0"/>
              </a:spcBef>
              <a:spcAft>
                <a:spcPct val="0"/>
              </a:spcAft>
              <a:buFontTx/>
              <a:buChar char="•"/>
            </a:pPr>
            <a:endParaRPr lang="en-US" dirty="0">
              <a:latin typeface="Arial" panose="020B0604020202020204" pitchFamily="34" charset="0"/>
              <a:cs typeface="Arial" panose="020B0604020202020204" pitchFamily="34" charset="0"/>
            </a:endParaRPr>
          </a:p>
          <a:p>
            <a:pPr lvl="0" defTabSz="914400" eaLnBrk="0" fontAlgn="base" hangingPunct="0">
              <a:spcBef>
                <a:spcPct val="0"/>
              </a:spcBef>
              <a:spcAft>
                <a:spcPct val="0"/>
              </a:spcAft>
            </a:pPr>
            <a:r>
              <a:rPr lang="en-US" b="1" dirty="0">
                <a:latin typeface="Arial" panose="020B0604020202020204" pitchFamily="34" charset="0"/>
                <a:cs typeface="Arial" panose="020B0604020202020204" pitchFamily="34" charset="0"/>
              </a:rPr>
              <a:t>4. Distribution of Disease/Pest Risk</a:t>
            </a:r>
          </a:p>
          <a:p>
            <a:pPr lvl="0" defTabSz="914400" eaLnBrk="0" fontAlgn="base" hangingPunct="0">
              <a:spcBef>
                <a:spcPct val="0"/>
              </a:spcBef>
              <a:spcAft>
                <a:spcPct val="0"/>
              </a:spcAft>
              <a:buFontTx/>
              <a:buChar char="•"/>
            </a:pPr>
            <a:r>
              <a:rPr lang="en-US" dirty="0">
                <a:latin typeface="Arial" panose="020B0604020202020204" pitchFamily="34" charset="0"/>
                <a:cs typeface="Arial" panose="020B0604020202020204" pitchFamily="34" charset="0"/>
              </a:rPr>
              <a:t>The distribution is concentrated mainly around </a:t>
            </a:r>
            <a:r>
              <a:rPr lang="en-US" b="1" dirty="0">
                <a:latin typeface="Arial" panose="020B0604020202020204" pitchFamily="34" charset="0"/>
                <a:cs typeface="Arial" panose="020B0604020202020204" pitchFamily="34" charset="0"/>
              </a:rPr>
              <a:t>40–50% risk</a:t>
            </a:r>
            <a:r>
              <a:rPr lang="en-US" dirty="0">
                <a:latin typeface="Arial" panose="020B0604020202020204" pitchFamily="34" charset="0"/>
                <a:cs typeface="Arial" panose="020B0604020202020204" pitchFamily="34" charset="0"/>
              </a:rPr>
              <a:t>. </a:t>
            </a:r>
          </a:p>
          <a:p>
            <a:pPr lvl="0" defTabSz="914400" eaLnBrk="0" fontAlgn="base" hangingPunct="0">
              <a:spcBef>
                <a:spcPct val="0"/>
              </a:spcBef>
              <a:spcAft>
                <a:spcPct val="0"/>
              </a:spcAft>
              <a:buFontTx/>
              <a:buChar char="•"/>
            </a:pPr>
            <a:r>
              <a:rPr lang="en-US" dirty="0">
                <a:latin typeface="Arial" panose="020B0604020202020204" pitchFamily="34" charset="0"/>
                <a:cs typeface="Arial" panose="020B0604020202020204" pitchFamily="34" charset="0"/>
              </a:rPr>
              <a:t>Most farms have a </a:t>
            </a:r>
            <a:r>
              <a:rPr lang="en-US" b="1" dirty="0">
                <a:latin typeface="Arial" panose="020B0604020202020204" pitchFamily="34" charset="0"/>
                <a:cs typeface="Arial" panose="020B0604020202020204" pitchFamily="34" charset="0"/>
              </a:rPr>
              <a:t>moderate disease/pest risk</a:t>
            </a:r>
            <a:r>
              <a:rPr lang="en-US" dirty="0">
                <a:latin typeface="Arial" panose="020B0604020202020204" pitchFamily="34" charset="0"/>
                <a:cs typeface="Arial" panose="020B0604020202020204" pitchFamily="34" charset="0"/>
              </a:rPr>
              <a:t>. </a:t>
            </a:r>
          </a:p>
          <a:p>
            <a:pPr lvl="0" defTabSz="914400" eaLnBrk="0" fontAlgn="base" hangingPunct="0">
              <a:spcBef>
                <a:spcPct val="0"/>
              </a:spcBef>
              <a:spcAft>
                <a:spcPct val="0"/>
              </a:spcAft>
              <a:buFontTx/>
              <a:buChar char="•"/>
            </a:pPr>
            <a:r>
              <a:rPr lang="en-US" dirty="0">
                <a:latin typeface="Arial" panose="020B0604020202020204" pitchFamily="34" charset="0"/>
                <a:cs typeface="Arial" panose="020B0604020202020204" pitchFamily="34" charset="0"/>
              </a:rPr>
              <a:t>Very low and very high risk values occur less frequently. </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669" y="1098069"/>
            <a:ext cx="9797853" cy="2947720"/>
          </a:xfrm>
          <a:prstGeom prst="rect">
            <a:avLst/>
          </a:prstGeom>
        </p:spPr>
      </p:pic>
      <p:sp>
        <p:nvSpPr>
          <p:cNvPr id="9" name="Rectangle 8"/>
          <p:cNvSpPr/>
          <p:nvPr/>
        </p:nvSpPr>
        <p:spPr>
          <a:xfrm>
            <a:off x="675957" y="4119574"/>
            <a:ext cx="9546345" cy="2308324"/>
          </a:xfrm>
          <a:prstGeom prst="rect">
            <a:avLst/>
          </a:prstGeom>
        </p:spPr>
        <p:txBody>
          <a:bodyPr wrap="square">
            <a:spAutoFit/>
          </a:bodyPr>
          <a:lstStyle/>
          <a:p>
            <a:pPr marL="342900" indent="-342900">
              <a:buFont typeface="Arial" panose="020B0604020202020204" pitchFamily="34" charset="0"/>
              <a:buChar char="•"/>
            </a:pPr>
            <a:r>
              <a:rPr lang="en-GB" b="1" dirty="0" smtClean="0"/>
              <a:t>Conclusion -: </a:t>
            </a:r>
          </a:p>
          <a:p>
            <a:pPr marL="342900" indent="-342900">
              <a:buAutoNum type="arabicPeriod"/>
            </a:pPr>
            <a:r>
              <a:rPr lang="en-GB" dirty="0" smtClean="0"/>
              <a:t>Rainfall </a:t>
            </a:r>
            <a:r>
              <a:rPr lang="en-GB" dirty="0" err="1"/>
              <a:t>vs</a:t>
            </a:r>
            <a:r>
              <a:rPr lang="en-GB" dirty="0"/>
              <a:t> </a:t>
            </a:r>
            <a:r>
              <a:rPr lang="en-GB" dirty="0" smtClean="0"/>
              <a:t>Yield</a:t>
            </a:r>
            <a:endParaRPr lang="en-GB" dirty="0"/>
          </a:p>
          <a:p>
            <a:r>
              <a:rPr lang="en-GB" dirty="0"/>
              <a:t>“Higher rainfall generally supports higher crop yield, but the wide variation shows that yield depends on multiple agricultural factors.” </a:t>
            </a:r>
            <a:endParaRPr lang="en-GB" dirty="0" smtClean="0"/>
          </a:p>
          <a:p>
            <a:endParaRPr lang="en-GB" dirty="0"/>
          </a:p>
          <a:p>
            <a:r>
              <a:rPr lang="en-GB" dirty="0"/>
              <a:t>2. Profit by Irrigation </a:t>
            </a:r>
            <a:r>
              <a:rPr lang="en-GB" dirty="0" smtClean="0"/>
              <a:t>Method</a:t>
            </a:r>
            <a:endParaRPr lang="en-GB" dirty="0"/>
          </a:p>
          <a:p>
            <a:r>
              <a:rPr lang="en-GB" dirty="0"/>
              <a:t>“Drip irrigation shows relatively better typical profitability, while all methods have significant variation due to differences in crop, costs, yield, and market conditions.”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653" y="1201586"/>
            <a:ext cx="6001466" cy="3862120"/>
          </a:xfrm>
          <a:prstGeom prst="rect">
            <a:avLst/>
          </a:prstGeom>
        </p:spPr>
      </p:pic>
      <p:sp>
        <p:nvSpPr>
          <p:cNvPr id="3" name="Rectangle 2"/>
          <p:cNvSpPr/>
          <p:nvPr/>
        </p:nvSpPr>
        <p:spPr>
          <a:xfrm>
            <a:off x="1150187" y="5261008"/>
            <a:ext cx="9141125" cy="1200329"/>
          </a:xfrm>
          <a:prstGeom prst="rect">
            <a:avLst/>
          </a:prstGeom>
        </p:spPr>
        <p:txBody>
          <a:bodyPr wrap="square">
            <a:spAutoFit/>
          </a:bodyPr>
          <a:lstStyle/>
          <a:p>
            <a:pPr marL="285750" indent="-285750">
              <a:buFont typeface="Arial" panose="020B0604020202020204" pitchFamily="34" charset="0"/>
              <a:buChar char="•"/>
            </a:pPr>
            <a:r>
              <a:rPr lang="en-GB" b="1" dirty="0" smtClean="0"/>
              <a:t>Conclusion -</a:t>
            </a:r>
          </a:p>
          <a:p>
            <a:pPr lvl="1"/>
            <a:r>
              <a:rPr lang="en-GB" dirty="0" smtClean="0"/>
              <a:t>“</a:t>
            </a:r>
            <a:r>
              <a:rPr lang="en-GB" dirty="0"/>
              <a:t>The scatter plot indicates a generally positive relationship between water efficiency and crop yield, with </a:t>
            </a:r>
            <a:r>
              <a:rPr lang="en-GB" dirty="0" err="1"/>
              <a:t>Kharif</a:t>
            </a:r>
            <a:r>
              <a:rPr lang="en-GB" dirty="0"/>
              <a:t> showing the greatest variability and highest yield values, while Zaid observations are more concentrated in the middle range.”</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620" y="1201586"/>
            <a:ext cx="6266101" cy="3215139"/>
          </a:xfrm>
          <a:prstGeom prst="rect">
            <a:avLst/>
          </a:prstGeom>
        </p:spPr>
      </p:pic>
      <p:sp>
        <p:nvSpPr>
          <p:cNvPr id="3" name="Rectangle 2"/>
          <p:cNvSpPr/>
          <p:nvPr/>
        </p:nvSpPr>
        <p:spPr>
          <a:xfrm>
            <a:off x="856890" y="4717594"/>
            <a:ext cx="8985850" cy="1477328"/>
          </a:xfrm>
          <a:prstGeom prst="rect">
            <a:avLst/>
          </a:prstGeom>
        </p:spPr>
        <p:txBody>
          <a:bodyPr wrap="square">
            <a:spAutoFit/>
          </a:bodyPr>
          <a:lstStyle/>
          <a:p>
            <a:pPr marL="285750" indent="-285750">
              <a:buFont typeface="Arial" panose="020B0604020202020204" pitchFamily="34" charset="0"/>
              <a:buChar char="•"/>
            </a:pPr>
            <a:r>
              <a:rPr lang="en-GB" b="1" dirty="0" smtClean="0"/>
              <a:t>Conclusion :-</a:t>
            </a:r>
          </a:p>
          <a:p>
            <a:pPr lvl="1"/>
            <a:r>
              <a:rPr lang="en-GB" dirty="0" smtClean="0"/>
              <a:t>“</a:t>
            </a:r>
            <a:r>
              <a:rPr lang="en-GB" dirty="0"/>
              <a:t>Sugarcane and Chilli are the most profitable crops, particularly during the </a:t>
            </a:r>
            <a:r>
              <a:rPr lang="en-GB" dirty="0" err="1"/>
              <a:t>Kharif</a:t>
            </a:r>
            <a:r>
              <a:rPr lang="en-GB" dirty="0"/>
              <a:t> season. Zaid shows the weakest profitability, with significant losses in crops such as Rice, Maize, Pulses and Wheat. The analysis suggests that crop and season selection has a strong impact on agricultural profitability.”</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504" y="1201586"/>
            <a:ext cx="5738794" cy="3900478"/>
          </a:xfrm>
          <a:prstGeom prst="rect">
            <a:avLst/>
          </a:prstGeom>
        </p:spPr>
      </p:pic>
      <p:sp>
        <p:nvSpPr>
          <p:cNvPr id="6" name="Rectangle 5"/>
          <p:cNvSpPr/>
          <p:nvPr/>
        </p:nvSpPr>
        <p:spPr>
          <a:xfrm>
            <a:off x="6096000" y="786087"/>
            <a:ext cx="6096000" cy="4801314"/>
          </a:xfrm>
          <a:prstGeom prst="rect">
            <a:avLst/>
          </a:prstGeom>
        </p:spPr>
        <p:txBody>
          <a:bodyPr>
            <a:spAutoFit/>
          </a:bodyPr>
          <a:lstStyle/>
          <a:p>
            <a:pPr>
              <a:buFont typeface="Arial" panose="020B0604020202020204" pitchFamily="34" charset="0"/>
              <a:buChar char="•"/>
            </a:pPr>
            <a:r>
              <a:rPr lang="en-GB" dirty="0">
                <a:latin typeface="-apple-system-body"/>
              </a:rPr>
              <a:t>🌧️ </a:t>
            </a:r>
            <a:r>
              <a:rPr lang="en-GB" b="1" dirty="0">
                <a:latin typeface="-apple-system-body"/>
              </a:rPr>
              <a:t>Rainfall </a:t>
            </a:r>
            <a:r>
              <a:rPr lang="en-GB" b="1" dirty="0" err="1">
                <a:latin typeface="-apple-system-body"/>
              </a:rPr>
              <a:t>vs</a:t>
            </a:r>
            <a:r>
              <a:rPr lang="en-GB" b="1" dirty="0">
                <a:latin typeface="-apple-system-body"/>
              </a:rPr>
              <a:t> Temperature:</a:t>
            </a:r>
            <a:r>
              <a:rPr lang="en-GB" dirty="0">
                <a:latin typeface="-apple-system-body"/>
              </a:rPr>
              <a:t> Higher rainfall generally occurs at </a:t>
            </a:r>
            <a:r>
              <a:rPr lang="en-GB" b="1" dirty="0">
                <a:latin typeface="-apple-system-body"/>
              </a:rPr>
              <a:t>moderate temperatures (~25–30°C)</a:t>
            </a:r>
            <a:r>
              <a:rPr lang="en-GB" dirty="0">
                <a:latin typeface="-apple-system-body"/>
              </a:rPr>
              <a:t>.</a:t>
            </a:r>
          </a:p>
          <a:p>
            <a:pPr>
              <a:buFont typeface="Arial" panose="020B0604020202020204" pitchFamily="34" charset="0"/>
              <a:buChar char="•"/>
            </a:pPr>
            <a:r>
              <a:rPr lang="en-GB" dirty="0">
                <a:latin typeface="-apple-system-body"/>
              </a:rPr>
              <a:t>🌾 </a:t>
            </a:r>
            <a:r>
              <a:rPr lang="en-GB" b="1" dirty="0">
                <a:latin typeface="-apple-system-body"/>
              </a:rPr>
              <a:t>Yield:</a:t>
            </a:r>
            <a:r>
              <a:rPr lang="en-GB" dirty="0">
                <a:latin typeface="-apple-system-body"/>
              </a:rPr>
              <a:t> Most observations have </a:t>
            </a:r>
            <a:r>
              <a:rPr lang="en-GB" b="1" dirty="0">
                <a:latin typeface="-apple-system-body"/>
              </a:rPr>
              <a:t>low yield</a:t>
            </a:r>
            <a:r>
              <a:rPr lang="en-GB" dirty="0">
                <a:latin typeface="-apple-system-body"/>
              </a:rPr>
              <a:t>, but higher yields are associated with </a:t>
            </a:r>
            <a:r>
              <a:rPr lang="en-GB" b="1" dirty="0">
                <a:latin typeface="-apple-system-body"/>
              </a:rPr>
              <a:t>higher rainfall and temperature</a:t>
            </a:r>
            <a:r>
              <a:rPr lang="en-GB" dirty="0">
                <a:latin typeface="-apple-system-body"/>
              </a:rPr>
              <a:t>.</a:t>
            </a:r>
          </a:p>
          <a:p>
            <a:pPr>
              <a:buFont typeface="Arial" panose="020B0604020202020204" pitchFamily="34" charset="0"/>
              <a:buChar char="•"/>
            </a:pPr>
            <a:r>
              <a:rPr lang="en-GB" dirty="0">
                <a:latin typeface="-apple-system-body"/>
              </a:rPr>
              <a:t>💰 </a:t>
            </a:r>
            <a:r>
              <a:rPr lang="en-GB" b="1" dirty="0">
                <a:latin typeface="-apple-system-body"/>
              </a:rPr>
              <a:t>Profit:</a:t>
            </a:r>
            <a:r>
              <a:rPr lang="en-GB" dirty="0">
                <a:latin typeface="-apple-system-body"/>
              </a:rPr>
              <a:t> Profit is mostly around </a:t>
            </a:r>
            <a:r>
              <a:rPr lang="en-GB" b="1" dirty="0">
                <a:latin typeface="-apple-system-body"/>
              </a:rPr>
              <a:t>zero</a:t>
            </a:r>
            <a:r>
              <a:rPr lang="en-GB" dirty="0">
                <a:latin typeface="-apple-system-body"/>
              </a:rPr>
              <a:t>, with some high-profit outliers.</a:t>
            </a:r>
          </a:p>
          <a:p>
            <a:pPr>
              <a:buFont typeface="Arial" panose="020B0604020202020204" pitchFamily="34" charset="0"/>
              <a:buChar char="•"/>
            </a:pPr>
            <a:r>
              <a:rPr lang="en-GB" dirty="0">
                <a:latin typeface="-apple-system-body"/>
              </a:rPr>
              <a:t>📈 </a:t>
            </a:r>
            <a:r>
              <a:rPr lang="en-GB" b="1" dirty="0">
                <a:latin typeface="-apple-system-body"/>
              </a:rPr>
              <a:t>Yield </a:t>
            </a:r>
            <a:r>
              <a:rPr lang="en-GB" b="1" dirty="0" err="1">
                <a:latin typeface="-apple-system-body"/>
              </a:rPr>
              <a:t>vs</a:t>
            </a:r>
            <a:r>
              <a:rPr lang="en-GB" b="1" dirty="0">
                <a:latin typeface="-apple-system-body"/>
              </a:rPr>
              <a:t> Profit:</a:t>
            </a:r>
            <a:r>
              <a:rPr lang="en-GB" dirty="0">
                <a:latin typeface="-apple-system-body"/>
              </a:rPr>
              <a:t> Shows a </a:t>
            </a:r>
            <a:r>
              <a:rPr lang="en-GB" b="1" dirty="0">
                <a:latin typeface="-apple-system-body"/>
              </a:rPr>
              <a:t>clear positive relationship</a:t>
            </a:r>
            <a:r>
              <a:rPr lang="en-GB" dirty="0">
                <a:latin typeface="-apple-system-body"/>
              </a:rPr>
              <a:t> — higher yield tends to result in higher profit.</a:t>
            </a:r>
          </a:p>
          <a:p>
            <a:pPr>
              <a:buFont typeface="Arial" panose="020B0604020202020204" pitchFamily="34" charset="0"/>
              <a:buChar char="•"/>
            </a:pPr>
            <a:r>
              <a:rPr lang="en-GB" dirty="0">
                <a:latin typeface="-apple-system-body"/>
              </a:rPr>
              <a:t>🟠 </a:t>
            </a:r>
            <a:r>
              <a:rPr lang="en-GB" b="1" dirty="0" err="1">
                <a:latin typeface="-apple-system-body"/>
              </a:rPr>
              <a:t>Kharif</a:t>
            </a:r>
            <a:r>
              <a:rPr lang="en-GB" b="1" dirty="0">
                <a:latin typeface="-apple-system-body"/>
              </a:rPr>
              <a:t> season:</a:t>
            </a:r>
            <a:r>
              <a:rPr lang="en-GB" dirty="0">
                <a:latin typeface="-apple-system-body"/>
              </a:rPr>
              <a:t> Generally has </a:t>
            </a:r>
            <a:r>
              <a:rPr lang="en-GB" b="1" dirty="0">
                <a:latin typeface="-apple-system-body"/>
              </a:rPr>
              <a:t>higher rainfall and temperature</a:t>
            </a:r>
            <a:r>
              <a:rPr lang="en-GB" dirty="0">
                <a:latin typeface="-apple-system-body"/>
              </a:rPr>
              <a:t> and some of the highest yields.</a:t>
            </a:r>
          </a:p>
          <a:p>
            <a:pPr>
              <a:buFont typeface="Arial" panose="020B0604020202020204" pitchFamily="34" charset="0"/>
              <a:buChar char="•"/>
            </a:pPr>
            <a:r>
              <a:rPr lang="en-GB" dirty="0">
                <a:latin typeface="-apple-system-body"/>
              </a:rPr>
              <a:t>🔵 </a:t>
            </a:r>
            <a:r>
              <a:rPr lang="en-GB" b="1" dirty="0">
                <a:latin typeface="-apple-system-body"/>
              </a:rPr>
              <a:t>Rabi season:</a:t>
            </a:r>
            <a:r>
              <a:rPr lang="en-GB" dirty="0">
                <a:latin typeface="-apple-system-body"/>
              </a:rPr>
              <a:t> Generally has </a:t>
            </a:r>
            <a:r>
              <a:rPr lang="en-GB" b="1" dirty="0">
                <a:latin typeface="-apple-system-body"/>
              </a:rPr>
              <a:t>lower rainfall and temperature</a:t>
            </a:r>
            <a:r>
              <a:rPr lang="en-GB" dirty="0">
                <a:latin typeface="-apple-system-body"/>
              </a:rPr>
              <a:t>.</a:t>
            </a:r>
          </a:p>
          <a:p>
            <a:pPr>
              <a:buFont typeface="Arial" panose="020B0604020202020204" pitchFamily="34" charset="0"/>
              <a:buChar char="•"/>
            </a:pPr>
            <a:r>
              <a:rPr lang="en-GB" dirty="0">
                <a:latin typeface="-apple-system-body"/>
              </a:rPr>
              <a:t>🟢 </a:t>
            </a:r>
            <a:r>
              <a:rPr lang="en-GB" b="1" dirty="0">
                <a:latin typeface="-apple-system-body"/>
              </a:rPr>
              <a:t>Zaid season:</a:t>
            </a:r>
            <a:r>
              <a:rPr lang="en-GB" dirty="0">
                <a:latin typeface="-apple-system-body"/>
              </a:rPr>
              <a:t> Falls mostly between Rabi and </a:t>
            </a:r>
            <a:r>
              <a:rPr lang="en-GB" dirty="0" err="1">
                <a:latin typeface="-apple-system-body"/>
              </a:rPr>
              <a:t>Kharif</a:t>
            </a:r>
            <a:r>
              <a:rPr lang="en-GB" dirty="0">
                <a:latin typeface="-apple-system-body"/>
              </a:rPr>
              <a:t> in temperature/rainfall.</a:t>
            </a:r>
          </a:p>
          <a:p>
            <a:pPr>
              <a:buFont typeface="Arial" panose="020B0604020202020204" pitchFamily="34" charset="0"/>
              <a:buChar char="•"/>
            </a:pPr>
            <a:r>
              <a:rPr lang="en-GB" b="1" dirty="0">
                <a:latin typeface="-apple-system-body"/>
              </a:rPr>
              <a:t>Overall:</a:t>
            </a:r>
            <a:r>
              <a:rPr lang="en-GB" dirty="0">
                <a:latin typeface="-apple-system-body"/>
              </a:rPr>
              <a:t> </a:t>
            </a:r>
            <a:r>
              <a:rPr lang="en-GB" b="1" dirty="0">
                <a:latin typeface="-apple-system-body"/>
              </a:rPr>
              <a:t>Rainfall and temperature influence yield, and yield strongly influences profit.</a:t>
            </a:r>
            <a:endParaRPr lang="en-GB" b="0" i="0" dirty="0">
              <a:effectLst/>
              <a:latin typeface="-apple-system-body"/>
            </a:endParaRP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503207" y="1391217"/>
            <a:ext cx="8468264" cy="1893339"/>
          </a:xfrm>
          <a:prstGeom prst="rect">
            <a:avLst/>
          </a:prstGeom>
        </p:spPr>
        <p:txBody>
          <a:bodyPr wrap="square">
            <a:spAutoFit/>
          </a:bodyPr>
          <a:lstStyle/>
          <a:p>
            <a:pPr>
              <a:lnSpc>
                <a:spcPct val="150000"/>
              </a:lnSpc>
              <a:defRPr sz="1600" b="0">
                <a:latin typeface="Aptos"/>
              </a:defRPr>
            </a:pPr>
            <a:r>
              <a:rPr lang="en-GB" dirty="0">
                <a:solidFill>
                  <a:srgbClr val="1E1E1E"/>
                </a:solidFill>
              </a:rPr>
              <a:t>• Build machine-learning models to predict crop yield or farm profit.</a:t>
            </a:r>
            <a:r>
              <a:rPr lang="en-GB" dirty="0"/>
              <a:t/>
            </a:r>
            <a:br>
              <a:rPr lang="en-GB" dirty="0"/>
            </a:br>
            <a:r>
              <a:rPr lang="en-GB" dirty="0">
                <a:solidFill>
                  <a:srgbClr val="1E1E1E"/>
                </a:solidFill>
              </a:rPr>
              <a:t>• Add more years of data to study long-term seasonal trends.</a:t>
            </a:r>
            <a:r>
              <a:rPr lang="en-GB" dirty="0"/>
              <a:t/>
            </a:r>
            <a:br>
              <a:rPr lang="en-GB" dirty="0"/>
            </a:br>
            <a:r>
              <a:rPr lang="en-GB" dirty="0">
                <a:solidFill>
                  <a:srgbClr val="1E1E1E"/>
                </a:solidFill>
              </a:rPr>
              <a:t>• Develop an interactive dashboard for farmers and decision-makers.</a:t>
            </a:r>
            <a:r>
              <a:rPr lang="en-GB" dirty="0"/>
              <a:t/>
            </a:r>
            <a:br>
              <a:rPr lang="en-GB" dirty="0"/>
            </a:br>
            <a:r>
              <a:rPr lang="en-GB" dirty="0">
                <a:solidFill>
                  <a:srgbClr val="1E1E1E"/>
                </a:solidFill>
              </a:rPr>
              <a:t>• Include additional soil, weather, market and geographic variables.</a:t>
            </a:r>
            <a:r>
              <a:rPr lang="en-GB" dirty="0"/>
              <a:t/>
            </a:r>
            <a:br>
              <a:rPr lang="en-GB" dirty="0"/>
            </a:br>
            <a:r>
              <a:rPr lang="en-GB" dirty="0">
                <a:solidFill>
                  <a:srgbClr val="1E1E1E"/>
                </a:solidFill>
              </a:rPr>
              <a:t>• Use predictive insights for irrigation planning, crop selection and resource optimization.</a:t>
            </a:r>
            <a:endParaRPr lang="en-GB" dirty="0">
              <a:solidFill>
                <a:srgbClr val="1E1E1E"/>
              </a:solidFill>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767750" y="1201586"/>
            <a:ext cx="8384875" cy="369332"/>
          </a:xfrm>
          <a:prstGeom prst="rect">
            <a:avLst/>
          </a:prstGeom>
        </p:spPr>
        <p:txBody>
          <a:bodyPr wrap="square">
            <a:spAutoFit/>
          </a:bodyPr>
          <a:lstStyle/>
          <a:p>
            <a:r>
              <a:rPr lang="en-GB" dirty="0"/>
              <a:t>https://github.com/AnujaSatpute/Seasonal-Agriculture-Performance-Analysis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1131412" y="1521626"/>
            <a:ext cx="8866604" cy="495029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0" y="2670905"/>
            <a:ext cx="11340000" cy="1745586"/>
          </a:xfrm>
          <a:prstGeom prst="rect">
            <a:avLst/>
          </a:prstGeom>
        </p:spPr>
        <p:txBody>
          <a:bodyPr anchor="ctr">
            <a:normAutofit/>
          </a:bodyPr>
          <a:lstStyle/>
          <a:p>
            <a:pPr algn="ctr"/>
            <a:r>
              <a:rPr lang="en-US" sz="6600" dirty="0">
                <a:ln w="0"/>
                <a:gradFill>
                  <a:gsLst>
                    <a:gs pos="0">
                      <a:schemeClr val="accent5">
                        <a:lumMod val="50000"/>
                      </a:schemeClr>
                    </a:gs>
                    <a:gs pos="50000">
                      <a:schemeClr val="accent5"/>
                    </a:gs>
                    <a:gs pos="100000">
                      <a:schemeClr val="accent5">
                        <a:lumMod val="60000"/>
                        <a:lumOff val="40000"/>
                      </a:schemeClr>
                    </a:gs>
                  </a:gsLst>
                  <a:lin ang="5400000"/>
                </a:gradFill>
                <a:effectLst>
                  <a:outerShdw blurRad="50800" dist="38100" dir="13500000" algn="br" rotWithShape="0">
                    <a:prstClr val="black">
                      <a:alpha val="40000"/>
                    </a:prstClr>
                  </a:outerShdw>
                  <a:reflection blurRad="6350" stA="53000" endA="300" endPos="35500" dir="5400000" sy="-90000" algn="bl" rotWithShape="0"/>
                </a:effectLst>
                <a:latin typeface="Algerian" panose="04020705040A02060702" pitchFamily="82" charset="0"/>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purl.org/dc/elements/1.1/"/>
    <ds:schemaRef ds:uri="71af3243-3dd4-4a8d-8c0d-dd76da1f02a5"/>
    <ds:schemaRef ds:uri="http://schemas.openxmlformats.org/package/2006/metadata/core-properties"/>
    <ds:schemaRef ds:uri="http://purl.org/dc/terms/"/>
    <ds:schemaRef ds:uri="http://purl.org/dc/dcmitype/"/>
    <ds:schemaRef ds:uri="http://schemas.microsoft.com/office/infopath/2007/PartnerControls"/>
    <ds:schemaRef ds:uri="http://schemas.microsoft.com/office/2006/documentManagement/types"/>
    <ds:schemaRef ds:uri="16c05727-aa75-4e4a-9b5f-8a80a1165891"/>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Facet</Template>
  <TotalTime>5843</TotalTime>
  <Words>627</Words>
  <Application>Microsoft Office PowerPoint</Application>
  <PresentationFormat>Widescreen</PresentationFormat>
  <Paragraphs>64</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Algerian</vt:lpstr>
      <vt:lpstr>-apple-system-body</vt:lpstr>
      <vt:lpstr>Aptos</vt: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Microsoft account</cp:lastModifiedBy>
  <cp:revision>105</cp:revision>
  <dcterms:created xsi:type="dcterms:W3CDTF">2021-07-11T13:13:15Z</dcterms:created>
  <dcterms:modified xsi:type="dcterms:W3CDTF">2026-09-10T10:50:33Z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